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2319882ab1da4147" Type="http://schemas.openxmlformats.org/officeDocument/2006/relationships/officeDocument" Target="ppt/presentation.xml"/><Relationship Id="R7646127b406e43a9" Type="http://schemas.openxmlformats.org/officeDocument/2006/relationships/extended-properties" Target="docProps/app.xml"/><Relationship Id="Rc37fba1abc9f40f1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5f03441bfc14ae9"/>
  </p:sldMasterIdLst>
  <p:notesMasterIdLst>
    <p:notesMasterId xmlns:r="http://schemas.openxmlformats.org/officeDocument/2006/relationships" r:id="R2607bfed98df4638"/>
  </p:notesMasterIdLst>
  <p:sldIdLst>
    <p:sldId xmlns:r="http://schemas.openxmlformats.org/officeDocument/2006/relationships" id="256" r:id="R25de3b4010074e5c"/>
    <p:sldId xmlns:r="http://schemas.openxmlformats.org/officeDocument/2006/relationships" id="257" r:id="R9d0da495ec5941ad"/>
    <p:sldId xmlns:r="http://schemas.openxmlformats.org/officeDocument/2006/relationships" id="258" r:id="R6af51a498b574132"/>
    <p:sldId xmlns:r="http://schemas.openxmlformats.org/officeDocument/2006/relationships" id="259" r:id="R1da731649fd64d50"/>
    <p:sldId xmlns:r="http://schemas.openxmlformats.org/officeDocument/2006/relationships" id="260" r:id="Rcf02af13597544fc"/>
    <p:sldId xmlns:r="http://schemas.openxmlformats.org/officeDocument/2006/relationships" id="261" r:id="R282532f688144330"/>
    <p:sldId xmlns:r="http://schemas.openxmlformats.org/officeDocument/2006/relationships" id="262" r:id="R658a2583a4644693"/>
    <p:sldId xmlns:r="http://schemas.openxmlformats.org/officeDocument/2006/relationships" id="263" r:id="R06e5329c4f2f4334"/>
    <p:sldId xmlns:r="http://schemas.openxmlformats.org/officeDocument/2006/relationships" id="264" r:id="R5ee0ab78caf44ba6"/>
    <p:sldId xmlns:r="http://schemas.openxmlformats.org/officeDocument/2006/relationships" id="265" r:id="Red52946f15aa42d8"/>
    <p:sldId xmlns:r="http://schemas.openxmlformats.org/officeDocument/2006/relationships" id="266" r:id="R7706d6a1ec204ba5"/>
    <p:sldId xmlns:r="http://schemas.openxmlformats.org/officeDocument/2006/relationships" id="267" r:id="R4eb713693da24a4a"/>
    <p:sldId xmlns:r="http://schemas.openxmlformats.org/officeDocument/2006/relationships" id="268" r:id="R29ba46deab144b94"/>
    <p:sldId xmlns:r="http://schemas.openxmlformats.org/officeDocument/2006/relationships" id="269" r:id="R8a4f86b69484464a"/>
    <p:sldId xmlns:r="http://schemas.openxmlformats.org/officeDocument/2006/relationships" id="270" r:id="R4955d3bc16ed4172"/>
    <p:sldId xmlns:r="http://schemas.openxmlformats.org/officeDocument/2006/relationships" id="271" r:id="Re1853fea99c344b3"/>
    <p:sldId xmlns:r="http://schemas.openxmlformats.org/officeDocument/2006/relationships" id="272" r:id="Rb511ec614b68478b"/>
    <p:sldId xmlns:r="http://schemas.openxmlformats.org/officeDocument/2006/relationships" id="273" r:id="R24bfb199e3034bf7"/>
    <p:sldId xmlns:r="http://schemas.openxmlformats.org/officeDocument/2006/relationships" id="274" r:id="R2c2d7cd6e3954889"/>
    <p:sldId xmlns:r="http://schemas.openxmlformats.org/officeDocument/2006/relationships" id="275" r:id="Rf94088ce0b374c41"/>
    <p:sldId xmlns:r="http://schemas.openxmlformats.org/officeDocument/2006/relationships" id="276" r:id="Ra866a620e1164585"/>
    <p:sldId xmlns:r="http://schemas.openxmlformats.org/officeDocument/2006/relationships" id="277" r:id="R06ed1e16a506483e"/>
    <p:sldId xmlns:r="http://schemas.openxmlformats.org/officeDocument/2006/relationships" id="278" r:id="R9d11f7d6995a478f"/>
    <p:sldId xmlns:r="http://schemas.openxmlformats.org/officeDocument/2006/relationships" id="279" r:id="R6933a874d2214c02"/>
    <p:sldId xmlns:r="http://schemas.openxmlformats.org/officeDocument/2006/relationships" id="280" r:id="R92f652948aef4de6"/>
    <p:sldId xmlns:r="http://schemas.openxmlformats.org/officeDocument/2006/relationships" id="281" r:id="Rdc2e78c118774bf6"/>
    <p:sldId xmlns:r="http://schemas.openxmlformats.org/officeDocument/2006/relationships" id="282" r:id="Rd544489336cb4100"/>
    <p:sldId xmlns:r="http://schemas.openxmlformats.org/officeDocument/2006/relationships" id="283" r:id="Rfd6d622708cf46a9"/>
    <p:sldId xmlns:r="http://schemas.openxmlformats.org/officeDocument/2006/relationships" id="284" r:id="R0995c01305fd4aa9"/>
    <p:sldId xmlns:r="http://schemas.openxmlformats.org/officeDocument/2006/relationships" id="285" r:id="Rd78062dcf5b143a3"/>
    <p:sldId xmlns:r="http://schemas.openxmlformats.org/officeDocument/2006/relationships" id="286" r:id="Rb96f9ef292c546f9"/>
    <p:sldId xmlns:r="http://schemas.openxmlformats.org/officeDocument/2006/relationships" id="287" r:id="Rb17d6e956e6445ba"/>
    <p:sldId xmlns:r="http://schemas.openxmlformats.org/officeDocument/2006/relationships" id="288" r:id="R7cf0b42a42be4858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06e5329c4f2f4334" Type="http://schemas.openxmlformats.org/officeDocument/2006/relationships/slide" Target="slides/slide8.xml"/><Relationship Id="R06ed1e16a506483e" Type="http://schemas.openxmlformats.org/officeDocument/2006/relationships/slide" Target="slides/slide22.xml"/><Relationship Id="R0995c01305fd4aa9" Type="http://schemas.openxmlformats.org/officeDocument/2006/relationships/slide" Target="slides/slide29.xml"/><Relationship Id="R1da731649fd64d50" Type="http://schemas.openxmlformats.org/officeDocument/2006/relationships/slide" Target="slides/slide4.xml"/><Relationship Id="R24bfb199e3034bf7" Type="http://schemas.openxmlformats.org/officeDocument/2006/relationships/slide" Target="slides/slide18.xml"/><Relationship Id="R25de3b4010074e5c" Type="http://schemas.openxmlformats.org/officeDocument/2006/relationships/slide" Target="slides/slide1.xml"/><Relationship Id="R2607bfed98df4638" Type="http://schemas.openxmlformats.org/officeDocument/2006/relationships/notesMaster" Target="notesMasters/notesMaster1.xml"/><Relationship Id="R282532f688144330" Type="http://schemas.openxmlformats.org/officeDocument/2006/relationships/slide" Target="slides/slide6.xml"/><Relationship Id="R29ba46deab144b94" Type="http://schemas.openxmlformats.org/officeDocument/2006/relationships/slide" Target="slides/slide13.xml"/><Relationship Id="R2c2d7cd6e3954889" Type="http://schemas.openxmlformats.org/officeDocument/2006/relationships/slide" Target="slides/slide19.xml"/><Relationship Id="R4955d3bc16ed4172" Type="http://schemas.openxmlformats.org/officeDocument/2006/relationships/slide" Target="slides/slide15.xml"/><Relationship Id="R4eb713693da24a4a" Type="http://schemas.openxmlformats.org/officeDocument/2006/relationships/slide" Target="slides/slide12.xml"/><Relationship Id="R5ee0ab78caf44ba6" Type="http://schemas.openxmlformats.org/officeDocument/2006/relationships/slide" Target="slides/slide9.xml"/><Relationship Id="R658a2583a4644693" Type="http://schemas.openxmlformats.org/officeDocument/2006/relationships/slide" Target="slides/slide7.xml"/><Relationship Id="R6933a874d2214c02" Type="http://schemas.openxmlformats.org/officeDocument/2006/relationships/slide" Target="slides/slide24.xml"/><Relationship Id="R6a80af0f0ee94b20" Type="http://schemas.openxmlformats.org/officeDocument/2006/relationships/tableStyles" Target="tableStyles.xml"/><Relationship Id="R6af51a498b574132" Type="http://schemas.openxmlformats.org/officeDocument/2006/relationships/slide" Target="slides/slide3.xml"/><Relationship Id="R7706d6a1ec204ba5" Type="http://schemas.openxmlformats.org/officeDocument/2006/relationships/slide" Target="slides/slide11.xml"/><Relationship Id="R7cf0b42a42be4858" Type="http://schemas.openxmlformats.org/officeDocument/2006/relationships/slide" Target="slides/slide33.xml"/><Relationship Id="R7e095d7d7f2c4cec" Type="http://schemas.openxmlformats.org/officeDocument/2006/relationships/theme" Target="theme/theme1.xml"/><Relationship Id="R85f03441bfc14ae9" Type="http://schemas.openxmlformats.org/officeDocument/2006/relationships/slideMaster" Target="slideMasters/slideMaster1.xml"/><Relationship Id="R8a4f86b69484464a" Type="http://schemas.openxmlformats.org/officeDocument/2006/relationships/slide" Target="slides/slide14.xml"/><Relationship Id="R91e04da2a87a488e" Type="http://schemas.openxmlformats.org/officeDocument/2006/relationships/viewProps" Target="viewProps.xml"/><Relationship Id="R92f652948aef4de6" Type="http://schemas.openxmlformats.org/officeDocument/2006/relationships/slide" Target="slides/slide25.xml"/><Relationship Id="R9d0da495ec5941ad" Type="http://schemas.openxmlformats.org/officeDocument/2006/relationships/slide" Target="slides/slide2.xml"/><Relationship Id="R9d11f7d6995a478f" Type="http://schemas.openxmlformats.org/officeDocument/2006/relationships/slide" Target="slides/slide23.xml"/><Relationship Id="Ra866a620e1164585" Type="http://schemas.openxmlformats.org/officeDocument/2006/relationships/slide" Target="slides/slide21.xml"/><Relationship Id="Rb17d6e956e6445ba" Type="http://schemas.openxmlformats.org/officeDocument/2006/relationships/slide" Target="slides/slide32.xml"/><Relationship Id="Rb2d28ff5199c4380" Type="http://schemas.openxmlformats.org/officeDocument/2006/relationships/presProps" Target="presProps.xml"/><Relationship Id="Rb511ec614b68478b" Type="http://schemas.openxmlformats.org/officeDocument/2006/relationships/slide" Target="slides/slide17.xml"/><Relationship Id="Rb96f9ef292c546f9" Type="http://schemas.openxmlformats.org/officeDocument/2006/relationships/slide" Target="slides/slide31.xml"/><Relationship Id="Rcf02af13597544fc" Type="http://schemas.openxmlformats.org/officeDocument/2006/relationships/slide" Target="slides/slide5.xml"/><Relationship Id="Rd544489336cb4100" Type="http://schemas.openxmlformats.org/officeDocument/2006/relationships/slide" Target="slides/slide27.xml"/><Relationship Id="Rd78062dcf5b143a3" Type="http://schemas.openxmlformats.org/officeDocument/2006/relationships/slide" Target="slides/slide30.xml"/><Relationship Id="Rdc2e78c118774bf6" Type="http://schemas.openxmlformats.org/officeDocument/2006/relationships/slide" Target="slides/slide26.xml"/><Relationship Id="Re1853fea99c344b3" Type="http://schemas.openxmlformats.org/officeDocument/2006/relationships/slide" Target="slides/slide16.xml"/><Relationship Id="Red52946f15aa42d8" Type="http://schemas.openxmlformats.org/officeDocument/2006/relationships/slide" Target="slides/slide10.xml"/><Relationship Id="Rf94088ce0b374c41" Type="http://schemas.openxmlformats.org/officeDocument/2006/relationships/slide" Target="slides/slide20.xml"/><Relationship Id="Rfd6d622708cf46a9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11586ea35ab346cb" Type="http://schemas.openxmlformats.org/officeDocument/2006/relationships/theme" Target="theme/theme2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de39b241388d4a47" Type="http://schemas.openxmlformats.org/officeDocument/2006/relationships/slide" Target="../slides/slide1.xml"/><Relationship Id="Rf676acfd64424ccb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37b6029fb1734a1c" Type="http://schemas.openxmlformats.org/officeDocument/2006/relationships/slide" Target="../slides/slide2.xml"/><Relationship Id="R99c70f73e9234d14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185d8289f2274c2a" Type="http://schemas.openxmlformats.org/officeDocument/2006/relationships/slide" Target="../slides/slide3.xml"/><Relationship Id="Rc4b8fe490134498c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9c4ecc0cf9794194" Type="http://schemas.openxmlformats.org/officeDocument/2006/relationships/slide" Target="../slides/slide4.xml"/><Relationship Id="Rf908b9357e9045a3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1c7aac752ac0467e" Type="http://schemas.openxmlformats.org/officeDocument/2006/relationships/slide" Target="../slides/slide5.xml"/><Relationship Id="R7acb5eeefa654ada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4e94c8fcce72401b" Type="http://schemas.openxmlformats.org/officeDocument/2006/relationships/notesMaster" Target="../notesMasters/notesMaster1.xml"/><Relationship Id="Ref4cb45e3ff14163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627e7c43f1224256" Type="http://schemas.openxmlformats.org/officeDocument/2006/relationships/slide" Target="../slides/slide7.xml"/><Relationship Id="Re57b4e54ab774b96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2925707c5fa84f1a" Type="http://schemas.openxmlformats.org/officeDocument/2006/relationships/slide" Target="../slides/slide8.xml"/><Relationship Id="Ree3823e65d994778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c03fd1acb2244783" Type="http://schemas.openxmlformats.org/officeDocument/2006/relationships/notesMaster" Target="../notesMasters/notesMaster1.xml"/><Relationship Id="Re3bc435f19b5417d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4f46022133b44b70" Type="http://schemas.openxmlformats.org/officeDocument/2006/relationships/notesMaster" Target="../notesMasters/notesMaster1.xml"/><Relationship Id="R5e46215bc20b4e66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831bd61f51754fbd" Type="http://schemas.openxmlformats.org/officeDocument/2006/relationships/notesMaster" Target="../notesMasters/notesMaster1.xml"/><Relationship Id="Rca553c2dfabf4ce5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cc69f01ecdc343ad" Type="http://schemas.openxmlformats.org/officeDocument/2006/relationships/slide" Target="../slides/slide12.xml"/><Relationship Id="Rf725dd8d931b47f0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1942ee10ff7f4f16" Type="http://schemas.openxmlformats.org/officeDocument/2006/relationships/notesMaster" Target="../notesMasters/notesMaster1.xml"/><Relationship Id="Rb364b0f04e37447f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1199be30d15d4629" Type="http://schemas.openxmlformats.org/officeDocument/2006/relationships/slide" Target="../slides/slide14.xml"/><Relationship Id="R704824f3913f4f80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13a34feaefc04dbd" Type="http://schemas.openxmlformats.org/officeDocument/2006/relationships/notesMaster" Target="../notesMasters/notesMaster1.xml"/><Relationship Id="R276710befb5e4227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272ab8d7f4c6418d" Type="http://schemas.openxmlformats.org/officeDocument/2006/relationships/slide" Target="../slides/slide16.xml"/><Relationship Id="Rd4230686522f4a1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436dfa6d1a8643bf" Type="http://schemas.openxmlformats.org/officeDocument/2006/relationships/slide" Target="../slides/slide17.xml"/><Relationship Id="Rb6a762673d034d78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13209a3d6f864140" Type="http://schemas.openxmlformats.org/officeDocument/2006/relationships/notesMaster" Target="../notesMasters/notesMaster1.xml"/><Relationship Id="Rcc41c756102d40ab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3e47c9e5702547a2" Type="http://schemas.openxmlformats.org/officeDocument/2006/relationships/slide" Target="../slides/slide19.xml"/><Relationship Id="Rd223f76d2eab4aa9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a6bc1ba7e1444fcb" Type="http://schemas.openxmlformats.org/officeDocument/2006/relationships/notesMaster" Target="../notesMasters/notesMaster1.xml"/><Relationship Id="Rc719ca7b137242cc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6a861bc718b64308" Type="http://schemas.openxmlformats.org/officeDocument/2006/relationships/notesMaster" Target="../notesMasters/notesMaster1.xml"/><Relationship Id="Rb21887a3a7124200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207baf6a50974c1a" Type="http://schemas.openxmlformats.org/officeDocument/2006/relationships/notesMaster" Target="../notesMasters/notesMaster1.xml"/><Relationship Id="R9da72245424943de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794ed1eafe5e41d2" Type="http://schemas.openxmlformats.org/officeDocument/2006/relationships/slide" Target="../slides/slide23.xml"/><Relationship Id="Rc7fae8a6ffe048d3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1e111744a1cc450d" Type="http://schemas.openxmlformats.org/officeDocument/2006/relationships/slide" Target="../slides/slide24.xml"/><Relationship Id="Rb6c9026dd5564ab2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d7448515b84c4bb9" Type="http://schemas.openxmlformats.org/officeDocument/2006/relationships/notesMaster" Target="../notesMasters/notesMaster1.xml"/><Relationship Id="Red8a643d09cd4cb4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468240cfb46c4efd" Type="http://schemas.openxmlformats.org/officeDocument/2006/relationships/notesMaster" Target="../notesMasters/notesMaster1.xml"/><Relationship Id="R60a042a2a06b4a1a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2ee530fe117241aa" Type="http://schemas.openxmlformats.org/officeDocument/2006/relationships/slide" Target="../slides/slide27.xml"/><Relationship Id="R42c8ff29e8ca429d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1eee9ea1c31b41b2" Type="http://schemas.openxmlformats.org/officeDocument/2006/relationships/slide" Target="../slides/slide28.xml"/><Relationship Id="Rd99fbdf954074a45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6cb8faadc8c94c21" Type="http://schemas.openxmlformats.org/officeDocument/2006/relationships/notesMaster" Target="../notesMasters/notesMaster1.xml"/><Relationship Id="Rcd9ec44d15424f51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23083e3a02cd49d2" Type="http://schemas.openxmlformats.org/officeDocument/2006/relationships/slide" Target="../slides/slide30.xml"/><Relationship Id="Rc58c0faeceff4cf3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2ae6d6af99ef418e" Type="http://schemas.openxmlformats.org/officeDocument/2006/relationships/slide" Target="../slides/slide31.xml"/><Relationship Id="R69905ea9296b4588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12da447d9ff74944" Type="http://schemas.openxmlformats.org/officeDocument/2006/relationships/slide" Target="../slides/slide32.xml"/><Relationship Id="R6442222d5f9f4ecc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3b2a33482cb545aa" Type="http://schemas.openxmlformats.org/officeDocument/2006/relationships/slide" Target="../slides/slide33.xml"/><Relationship Id="Rf27f18c1170842e3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<?xml version='1.0' encoding='UTF-8' standalone='yes'?>
<Relationships xmlns="http://schemas.openxmlformats.org/package/2006/relationships"><Relationship Id="R90d91ff9135c406b" Type="http://schemas.openxmlformats.org/officeDocument/2006/relationships/slideMaster" Target="../slideMasters/slideMaster1.xml"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a154355927764e02" Type="http://schemas.openxmlformats.org/officeDocument/2006/relationships/slideLayout" Target="../slideLayouts/slideLayout2.xml"/><Relationship Id="Raa94d436a81349b9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154355927764e0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6e5febe797884a32" Type="http://schemas.openxmlformats.org/officeDocument/2006/relationships/image" Target="../media/image.jpeg"/><Relationship Id="R7e61cb9a13294153" Type="http://schemas.openxmlformats.org/officeDocument/2006/relationships/slideLayout" Target="../slideLayouts/slideLayout2.xml"/><Relationship Id="R9937fd5236a14f01" Type="http://schemas.openxmlformats.org/officeDocument/2006/relationships/notesSlide" Target="../notesSlides/notesSlide1.xml"/><Relationship Id="rId4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6986224b92274f17" Type="http://schemas.openxmlformats.org/officeDocument/2006/relationships/slideLayout" Target="../slideLayouts/slideLayout2.xml"/><Relationship Id="Rb8fbd72e3f734294" Type="http://schemas.openxmlformats.org/officeDocument/2006/relationships/notesSlide" Target="../notesSlides/notesSlide2.xml"/><Relationship Id="rId3" Type="http://schemas.openxmlformats.org/officeDocument/2006/relationships/image" Target="../media/image25.png"/></Relationships>
</file>

<file path=ppt/slides/_rels/slide3.xml.rels><?xml version='1.0' encoding='UTF-8' standalone='yes'?>
<Relationships xmlns="http://schemas.openxmlformats.org/package/2006/relationships"><Relationship Id="R5ea9f7b9e1864e62" Type="http://schemas.openxmlformats.org/officeDocument/2006/relationships/image" Target="../media/image.png"/><Relationship Id="R98c00ee3e8cb423b" Type="http://schemas.openxmlformats.org/officeDocument/2006/relationships/notesSlide" Target="../notesSlides/notesSlide3.xml"/><Relationship Id="Rf738d6af3abb41b7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4.xml.rels><?xml version='1.0' encoding='UTF-8' standalone='yes'?>
<Relationships xmlns="http://schemas.openxmlformats.org/package/2006/relationships"><Relationship Id="R793da785d25047ce" Type="http://schemas.openxmlformats.org/officeDocument/2006/relationships/image" Target="../media/image2.png"/><Relationship Id="Rc9f1df774880457b" Type="http://schemas.openxmlformats.org/officeDocument/2006/relationships/notesSlide" Target="../notesSlides/notesSlide4.xml"/><Relationship Id="Rcc80d2c531864f69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426aa8305d7248df" Type="http://schemas.openxmlformats.org/officeDocument/2006/relationships/slideLayout" Target="../slideLayouts/slideLayout2.xml"/><Relationship Id="Ra9f9a73cca2d495e" Type="http://schemas.openxmlformats.org/officeDocument/2006/relationships/image" Target="../media/image3.png"/><Relationship Id="Rf1f96fcb22fc4f38" Type="http://schemas.openxmlformats.org/officeDocument/2006/relationships/notesSlide" Target="../notesSlides/notesSlide5.xml"/><Relationship Id="rId4" Type="http://schemas.openxmlformats.org/officeDocument/2006/relationships/image" Target="../media/image25.png"/></Relationships>
</file>

<file path=ppt/slides/_rels/slide6.xml.rels><?xml version='1.0' encoding='UTF-8' standalone='yes'?>
<Relationships xmlns="http://schemas.openxmlformats.org/package/2006/relationships"><Relationship Id="R45db87d4cd914efe" Type="http://schemas.openxmlformats.org/officeDocument/2006/relationships/image" Target="../media/image4.png"/><Relationship Id="Rfc0f34fa72cb4318" Type="http://schemas.openxmlformats.org/officeDocument/2006/relationships/slideLayout" Target="../slideLayouts/slideLayout2.xml"/><Relationship Id="Rfc4a2b7422ab4c64" Type="http://schemas.openxmlformats.org/officeDocument/2006/relationships/notesSlide" Target="../notesSlides/notesSlide6.xml"/><Relationship Id="rId4" Type="http://schemas.openxmlformats.org/officeDocument/2006/relationships/image" Target="../media/image26.png"/></Relationships>
</file>

<file path=ppt/slides/_rels/slide7.xml.rels><?xml version='1.0' encoding='UTF-8' standalone='yes'?>
<Relationships xmlns="http://schemas.openxmlformats.org/package/2006/relationships"><Relationship Id="R21f0374a1eb449cd" Type="http://schemas.openxmlformats.org/officeDocument/2006/relationships/notesSlide" Target="../notesSlides/notesSlide7.xml"/><Relationship Id="R6f17cc60f93d4f35" Type="http://schemas.openxmlformats.org/officeDocument/2006/relationships/slideLayout" Target="../slideLayouts/slideLayout2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2fadc37f882f48a4" Type="http://schemas.openxmlformats.org/officeDocument/2006/relationships/notesSlide" Target="../notesSlides/notesSlide8.xml"/><Relationship Id="R6771674b2be049e8" Type="http://schemas.openxmlformats.org/officeDocument/2006/relationships/image" Target="../media/image5.png"/><Relationship Id="R68c5aba4a1454e46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9.xml.rels><?xml version='1.0' encoding='UTF-8' standalone='yes'?>
<Relationships xmlns="http://schemas.openxmlformats.org/package/2006/relationships"><Relationship Id="Ra202ed2a747c4a09" Type="http://schemas.openxmlformats.org/officeDocument/2006/relationships/notesSlide" Target="../notesSlides/notesSlide9.xml"/><Relationship Id="Ra3d10219c58e4ec4" Type="http://schemas.openxmlformats.org/officeDocument/2006/relationships/slideLayout" Target="../slideLayouts/slideLayout2.xml"/><Relationship Id="Rfef64ddc8d164bed" Type="http://schemas.openxmlformats.org/officeDocument/2006/relationships/image" Target="../media/image6.png"/><Relationship Id="rId4" Type="http://schemas.openxmlformats.org/officeDocument/2006/relationships/image" Target="../media/image26.png"/></Relationships>
</file>

<file path=ppt/slides/_rels/slide10.xml.rels><?xml version='1.0' encoding='UTF-8' standalone='yes'?>
<Relationships xmlns="http://schemas.openxmlformats.org/package/2006/relationships"><Relationship Id="R36212da12c76481f" Type="http://schemas.openxmlformats.org/officeDocument/2006/relationships/image" Target="../media/image7.png"/><Relationship Id="Ra2f2ade0c5c343b1" Type="http://schemas.openxmlformats.org/officeDocument/2006/relationships/slideLayout" Target="../slideLayouts/slideLayout2.xml"/><Relationship Id="Re58873dee9944885" Type="http://schemas.openxmlformats.org/officeDocument/2006/relationships/notesSlide" Target="../notesSlides/notesSlide10.xml"/><Relationship Id="rId4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5755ee90cc804607" Type="http://schemas.openxmlformats.org/officeDocument/2006/relationships/notesSlide" Target="../notesSlides/notesSlide11.xml"/><Relationship Id="Ra8c27947cc90495c" Type="http://schemas.openxmlformats.org/officeDocument/2006/relationships/slideLayout" Target="../slideLayouts/slideLayout2.xml"/><Relationship Id="Rf7eeba5047694000" Type="http://schemas.openxmlformats.org/officeDocument/2006/relationships/image" Target="../media/image8.png"/><Relationship Id="rId4" Type="http://schemas.openxmlformats.org/officeDocument/2006/relationships/image" Target="../media/image25.png"/></Relationships>
</file>

<file path=ppt/slides/_rels/slide12.xml.rels><?xml version='1.0' encoding='UTF-8' standalone='yes'?>
<Relationships xmlns="http://schemas.openxmlformats.org/package/2006/relationships"><Relationship Id="R00c93d531cda4702" Type="http://schemas.openxmlformats.org/officeDocument/2006/relationships/slideLayout" Target="../slideLayouts/slideLayout2.xml"/><Relationship Id="R7d8bece7a872482d" Type="http://schemas.openxmlformats.org/officeDocument/2006/relationships/notesSlide" Target="../notesSlides/notesSlide12.xml"/><Relationship Id="rId3" Type="http://schemas.openxmlformats.org/officeDocument/2006/relationships/image" Target="../media/image26.png"/></Relationships>
</file>

<file path=ppt/slides/_rels/slide13.xml.rels><?xml version='1.0' encoding='UTF-8' standalone='yes'?>
<Relationships xmlns="http://schemas.openxmlformats.org/package/2006/relationships"><Relationship Id="R993cef711bbf4f2a" Type="http://schemas.openxmlformats.org/officeDocument/2006/relationships/image" Target="../media/image9.png"/><Relationship Id="Rf0349026592b452b" Type="http://schemas.openxmlformats.org/officeDocument/2006/relationships/notesSlide" Target="../notesSlides/notesSlide13.xml"/><Relationship Id="Rfec38e3bcd2b43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1db7d6b73d56432a" Type="http://schemas.openxmlformats.org/officeDocument/2006/relationships/image" Target="../media/image10.png"/><Relationship Id="R24db4a16dec6477c" Type="http://schemas.openxmlformats.org/officeDocument/2006/relationships/notesSlide" Target="../notesSlides/notesSlide14.xml"/><Relationship Id="Rf8d21f4b1d754b22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5.xml.rels><?xml version='1.0' encoding='UTF-8' standalone='yes'?>
<Relationships xmlns="http://schemas.openxmlformats.org/package/2006/relationships"><Relationship Id="R01cab92618094caa" Type="http://schemas.openxmlformats.org/officeDocument/2006/relationships/image" Target="../media/image11.png"/><Relationship Id="R1d88097e7f7b415b" Type="http://schemas.openxmlformats.org/officeDocument/2006/relationships/notesSlide" Target="../notesSlides/notesSlide15.xml"/><Relationship Id="R2d41faeffa324c4b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6.xml.rels><?xml version='1.0' encoding='UTF-8' standalone='yes'?>
<Relationships xmlns="http://schemas.openxmlformats.org/package/2006/relationships"><Relationship Id="Rbeee727b73e84fa1" Type="http://schemas.openxmlformats.org/officeDocument/2006/relationships/notesSlide" Target="../notesSlides/notesSlide16.xml"/><Relationship Id="Re1022c8376194868" Type="http://schemas.openxmlformats.org/officeDocument/2006/relationships/slideLayout" Target="../slideLayouts/slideLayout2.xml"/><Relationship Id="Read745890a344679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2f3338a7e8fa4fbb" Type="http://schemas.openxmlformats.org/officeDocument/2006/relationships/notesSlide" Target="../notesSlides/notesSlide17.xml"/><Relationship Id="Rf678f0e679e84515" Type="http://schemas.openxmlformats.org/officeDocument/2006/relationships/slideLayout" Target="../slideLayouts/slideLayout2.xml"/><Relationship Id="rId3" Type="http://schemas.openxmlformats.org/officeDocument/2006/relationships/image" Target="../media/image25.png"/></Relationships>
</file>

<file path=ppt/slides/_rels/slide18.xml.rels><?xml version='1.0' encoding='UTF-8' standalone='yes'?>
<Relationships xmlns="http://schemas.openxmlformats.org/package/2006/relationships"><Relationship Id="R17fdf1f0bd964695" Type="http://schemas.openxmlformats.org/officeDocument/2006/relationships/image" Target="../media/image13.png"/><Relationship Id="R9c780ad133104f26" Type="http://schemas.openxmlformats.org/officeDocument/2006/relationships/notesSlide" Target="../notesSlides/notesSlide18.xml"/><Relationship Id="Rdfb4522730864be5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9.xml.rels><?xml version='1.0' encoding='UTF-8' standalone='yes'?>
<Relationships xmlns="http://schemas.openxmlformats.org/package/2006/relationships"><Relationship Id="R8d8710b80c3049ca" Type="http://schemas.openxmlformats.org/officeDocument/2006/relationships/notesSlide" Target="../notesSlides/notesSlide19.xml"/><Relationship Id="R9451b9e759db4f85" Type="http://schemas.openxmlformats.org/officeDocument/2006/relationships/slideLayout" Target="../slideLayouts/slideLayout2.xml"/><Relationship Id="R9d92aa7eeef145fb" Type="http://schemas.openxmlformats.org/officeDocument/2006/relationships/image" Target="../media/image14.png"/><Relationship Id="rId4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74a6ae9658764028" Type="http://schemas.openxmlformats.org/officeDocument/2006/relationships/notesSlide" Target="../notesSlides/notesSlide20.xml"/><Relationship Id="R81c2077bc51048b7" Type="http://schemas.openxmlformats.org/officeDocument/2006/relationships/slideLayout" Target="../slideLayouts/slideLayout2.xml"/><Relationship Id="Rff93edaa510f413d" Type="http://schemas.openxmlformats.org/officeDocument/2006/relationships/image" Target="../media/image15.png"/><Relationship Id="rId4" Type="http://schemas.openxmlformats.org/officeDocument/2006/relationships/image" Target="../media/image25.png"/></Relationships>
</file>

<file path=ppt/slides/_rels/slide21.xml.rels><?xml version='1.0' encoding='UTF-8' standalone='yes'?>
<Relationships xmlns="http://schemas.openxmlformats.org/package/2006/relationships"><Relationship Id="R00d744b9326c49fa" Type="http://schemas.openxmlformats.org/officeDocument/2006/relationships/slideLayout" Target="../slideLayouts/slideLayout2.xml"/><Relationship Id="R4f3554327a634f93" Type="http://schemas.openxmlformats.org/officeDocument/2006/relationships/notesSlide" Target="../notesSlides/notesSlide21.xml"/><Relationship Id="Rf85ee13659a24218" Type="http://schemas.openxmlformats.org/officeDocument/2006/relationships/image" Target="../media/image16.png"/><Relationship Id="rId4" Type="http://schemas.openxmlformats.org/officeDocument/2006/relationships/image" Target="../media/image26.png"/></Relationships>
</file>

<file path=ppt/slides/_rels/slide22.xml.rels><?xml version='1.0' encoding='UTF-8' standalone='yes'?>
<Relationships xmlns="http://schemas.openxmlformats.org/package/2006/relationships"><Relationship Id="R56a050d92b704377" Type="http://schemas.openxmlformats.org/officeDocument/2006/relationships/notesSlide" Target="../notesSlides/notesSlide22.xml"/><Relationship Id="R5fd79edb548c4387" Type="http://schemas.openxmlformats.org/officeDocument/2006/relationships/slideLayout" Target="../slideLayouts/slideLayout2.xml"/><Relationship Id="rId3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6a56a9212e4a4fe5" Type="http://schemas.openxmlformats.org/officeDocument/2006/relationships/notesSlide" Target="../notesSlides/notesSlide23.xml"/><Relationship Id="R761d6a3f279544a6" Type="http://schemas.openxmlformats.org/officeDocument/2006/relationships/slideLayout" Target="../slideLayouts/slideLayout2.xml"/><Relationship Id="Rb995f654602c401a" Type="http://schemas.openxmlformats.org/officeDocument/2006/relationships/image" Target="../media/image17.png"/><Relationship Id="rId4" Type="http://schemas.openxmlformats.org/officeDocument/2006/relationships/image" Target="../media/image25.png"/></Relationships>
</file>

<file path=ppt/slides/_rels/slide24.xml.rels><?xml version='1.0' encoding='UTF-8' standalone='yes'?>
<Relationships xmlns="http://schemas.openxmlformats.org/package/2006/relationships"><Relationship Id="R368f3fbd9acc495f" Type="http://schemas.openxmlformats.org/officeDocument/2006/relationships/image" Target="../media/image18.png"/><Relationship Id="R3d3dcbdc60ce4f5f" Type="http://schemas.openxmlformats.org/officeDocument/2006/relationships/notesSlide" Target="../notesSlides/notesSlide24.xml"/><Relationship Id="Rf9e0dcb9a5dd42b4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5.xml.rels><?xml version='1.0' encoding='UTF-8' standalone='yes'?>
<Relationships xmlns="http://schemas.openxmlformats.org/package/2006/relationships"><Relationship Id="R13c8a90114654504" Type="http://schemas.openxmlformats.org/officeDocument/2006/relationships/slideLayout" Target="../slideLayouts/slideLayout2.xml"/><Relationship Id="R610c1abd05ad41a3" Type="http://schemas.openxmlformats.org/officeDocument/2006/relationships/notesSlide" Target="../notesSlides/notesSlide25.xml"/><Relationship Id="R88cfd3809eb845d7" Type="http://schemas.openxmlformats.org/officeDocument/2006/relationships/image" Target="../media/image19.png"/><Relationship Id="rId4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1080dbdb35b6466f" Type="http://schemas.openxmlformats.org/officeDocument/2006/relationships/image" Target="../media/image20.png"/><Relationship Id="R466c0ad173b040dc" Type="http://schemas.openxmlformats.org/officeDocument/2006/relationships/slideLayout" Target="../slideLayouts/slideLayout2.xml"/><Relationship Id="Ree8dce5f46194e95" Type="http://schemas.openxmlformats.org/officeDocument/2006/relationships/notesSlide" Target="../notesSlides/notesSlide26.xml"/><Relationship Id="rId4" Type="http://schemas.openxmlformats.org/officeDocument/2006/relationships/image" Target="../media/image25.png"/></Relationships>
</file>

<file path=ppt/slides/_rels/slide27.xml.rels><?xml version='1.0' encoding='UTF-8' standalone='yes'?>
<Relationships xmlns="http://schemas.openxmlformats.org/package/2006/relationships"><Relationship Id="R694b4ec2945d4100" Type="http://schemas.openxmlformats.org/officeDocument/2006/relationships/slideLayout" Target="../slideLayouts/slideLayout2.xml"/><Relationship Id="R7c017bd6162e4f91" Type="http://schemas.openxmlformats.org/officeDocument/2006/relationships/notesSlide" Target="../notesSlides/notesSlide27.xml"/><Relationship Id="rId3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4842a4dceba740ff" Type="http://schemas.openxmlformats.org/officeDocument/2006/relationships/slideLayout" Target="../slideLayouts/slideLayout2.xml"/><Relationship Id="R9c859c9b739c467f" Type="http://schemas.openxmlformats.org/officeDocument/2006/relationships/image" Target="../media/image21.png"/><Relationship Id="Ree2298556d3d4171" Type="http://schemas.openxmlformats.org/officeDocument/2006/relationships/notesSlide" Target="../notesSlides/notesSlide28.xml"/><Relationship Id="rId4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13bc97fb8e3246fb" Type="http://schemas.openxmlformats.org/officeDocument/2006/relationships/notesSlide" Target="../notesSlides/notesSlide29.xml"/><Relationship Id="Rd358fb04282844db" Type="http://schemas.openxmlformats.org/officeDocument/2006/relationships/slideLayout" Target="../slideLayouts/slideLayout2.xml"/><Relationship Id="Reac82997f4d246f5" Type="http://schemas.openxmlformats.org/officeDocument/2006/relationships/image" Target="../media/image22.png"/><Relationship Id="rId4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5a3e3be8bece4f3f" Type="http://schemas.openxmlformats.org/officeDocument/2006/relationships/image" Target="../media/image23.png"/><Relationship Id="Ra71e10fd7190494a" Type="http://schemas.openxmlformats.org/officeDocument/2006/relationships/notesSlide" Target="../notesSlides/notesSlide30.xml"/><Relationship Id="Rdbaedbf0e6e648bc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31e95b4ff6a742e4" Type="http://schemas.openxmlformats.org/officeDocument/2006/relationships/slideLayout" Target="../slideLayouts/slideLayout2.xml"/><Relationship Id="R52ae910fe26841e0" Type="http://schemas.openxmlformats.org/officeDocument/2006/relationships/image" Target="../media/image24.png"/><Relationship Id="Reb5994ef91014032" Type="http://schemas.openxmlformats.org/officeDocument/2006/relationships/notesSlide" Target="../notesSlides/notesSlide31.xml"/><Relationship Id="rId4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06b7e8af69fb4b36" Type="http://schemas.openxmlformats.org/officeDocument/2006/relationships/notesSlide" Target="../notesSlides/notesSlide32.xml"/><Relationship Id="Rcea57a14115945fd" Type="http://schemas.openxmlformats.org/officeDocument/2006/relationships/slideLayout" Target="../slideLayouts/slideLayout2.xml"/><Relationship Id="rId3" Type="http://schemas.openxmlformats.org/officeDocument/2006/relationships/image" Target="../media/image25.png"/></Relationships>
</file>

<file path=ppt/slides/_rels/slide33.xml.rels><?xml version='1.0' encoding='UTF-8' standalone='yes'?>
<Relationships xmlns="http://schemas.openxmlformats.org/package/2006/relationships"><Relationship Id="R82280e6faecd4a55" Type="http://schemas.openxmlformats.org/officeDocument/2006/relationships/slideLayout" Target="../slideLayouts/slideLayout2.xml"/><Relationship Id="Rda98b389601d479f" Type="http://schemas.openxmlformats.org/officeDocument/2006/relationships/notesSlide" Target="../notesSlides/notesSlide33.xml"/><Relationship Id="rId3" Type="http://schemas.openxmlformats.org/officeDocument/2006/relationships/image" Target="../media/image26.png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8" name="Picture 7" descr="fluid-background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AC2D47A-E58F-4FCC-A7AA-37D379A47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42950"/>
            <a:ext cx="73342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EC3F6B"/>
                </a:solidFill>
              </a:defRPr>
            </a:pPr>
            <a:r>
              <a:rPr sz="2000" b="1">
                <a:solidFill>
                  <a:srgbClr val="EC3F6B"/>
                </a:solidFill>
                <a:latin typeface="Arial"/>
              </a:rPr>
              <a:t>FOREST CODE · GTA-LINKED WORKED EXAMPLES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A57681-125A-40BC-A41B-B89F2FB65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90650"/>
            <a:ext cx="7334250" cy="3143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950" b="1">
                <a:solidFill>
                  <a:srgbClr val="3D2A87"/>
                </a:solidFill>
              </a:defRPr>
            </a:pPr>
            <a:r>
              <a:rPr sz="4000" b="1">
                <a:solidFill>
                  <a:srgbClr val="3D2A87"/>
                </a:solidFill>
                <a:latin typeface="Arial"/>
              </a:rPr>
              <a:t>Six properties.</a:t>
            </a:r>
          </a:p>
          <a:p xmlns:a="http://schemas.openxmlformats.org/drawingml/2006/main">
            <a:pPr>
              <a:defRPr sz="4950" b="1">
                <a:solidFill>
                  <a:srgbClr val="3D2A87"/>
                </a:solidFill>
              </a:defRPr>
            </a:pPr>
            <a:r>
              <a:rPr sz="4000" b="1">
                <a:solidFill>
                  <a:srgbClr val="3D2A87"/>
                </a:solidFill>
                <a:latin typeface="Arial"/>
              </a:rPr>
              <a:t>Three source bases.</a:t>
            </a:r>
          </a:p>
          <a:p xmlns:a="http://schemas.openxmlformats.org/drawingml/2006/main">
            <a:pPr>
              <a:defRPr sz="4950" b="1">
                <a:solidFill>
                  <a:srgbClr val="3D2A87"/>
                </a:solidFill>
              </a:defRPr>
            </a:pPr>
            <a:r>
              <a:rPr sz="4000" b="1">
                <a:solidFill>
                  <a:srgbClr val="3D2A87"/>
                </a:solidFill>
                <a:latin typeface="Arial"/>
              </a:rPr>
              <a:t>Every vector layer visible.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506270-785B-4487-AEE4-182E822BB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62500"/>
            <a:ext cx="24765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3F6B"/>
          </a:solidFill>
          <a:ln xmlns:a="http://schemas.openxmlformats.org/drawingml/2006/main" w="0">
            <a:solidFill>
              <a:srgbClr val="EC3F6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BBD1D5-D44D-42E1-9720-260184C12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86350"/>
            <a:ext cx="7334250" cy="1571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5D716C"/>
                </a:solidFill>
              </a:defRPr>
            </a:pPr>
            <a:r>
              <a:rPr sz="2025">
                <a:solidFill>
                  <a:srgbClr val="5D716C"/>
                </a:solidFill>
                <a:latin typeface="Arial"/>
              </a:rPr>
              <a:t>Validated, Digital, and Proxy — one property above and one property up to four fiscal modules in each base, all linked to GTA and containing both forest and cerrado.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A36E5B-9A74-48BC-94AF-F7DE8CA9A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896100"/>
            <a:ext cx="7334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Mato Grosso · Final compliance model · 30 September 2026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5febe797884a32"/>
          <a:srcRect xmlns:a="http://schemas.openxmlformats.org/drawingml/2006/main" l="23754" t="0" r="2375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048750" y="0"/>
            <a:ext cx="9239250" cy="9886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456223-6DEE-4CB1-B0E7-14967BA63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9886950"/>
            <a:ext cx="92392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3D2A87"/>
                </a:solidFill>
              </a:defRPr>
            </a:pPr>
            <a:r>
              <a:rPr sz="2000">
                <a:solidFill>
                  <a:srgbClr val="3D2A87"/>
                </a:solidFill>
                <a:latin typeface="Arial"/>
              </a:rPr>
              <a:t>Photo: UN PAGE · Mato Grosso Goes Green</a:t>
            </a:r>
          </a:p>
        </p:txBody>
      </p:sp>
    </p:spTree>
    <p:extLst>
      <p:ext uri="{BB962C8B-B14F-4D97-AF65-F5344CB8AC3E}">
        <p14:creationId xmlns:p14="http://schemas.microsoft.com/office/powerpoint/2010/main" val="90861416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34" name="Picture 33" descr="fluid-background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2">
            <a:extLst xmlns:a="http://schemas.openxmlformats.org/drawingml/2006/main">
              <a:ext uri="{FF2B5EF4-FFF2-40B4-BE49-F238E27FC236}">
                <a16:creationId xmlns:a16="http://schemas.microsoft.com/office/drawing/2014/main" id="{A1A173DA-07ED-476C-AA5B-D9EC7F388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69164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  <a:latin typeface="Arial"/>
              </a:rPr>
              <a:t>The six examples satisfy the same selection rules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EE0BCD-EDC6-4848-998E-5D3E229AD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72390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Every row is GTA-linked, contains forest and cerrado, and represents one source × size branch.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06DB23-2277-437C-AF31-EFC4C0018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3F6B"/>
          </a:solidFill>
          <a:ln xmlns:a="http://schemas.openxmlformats.org/drawingml/2006/main" w="0">
            <a:solidFill>
              <a:srgbClr val="EC3F6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752A05-72DE-4F32-9FBE-167985448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38300"/>
            <a:ext cx="27241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3D2A87"/>
                </a:solidFill>
              </a:defRPr>
            </a:pPr>
            <a:r>
              <a:rPr sz="2000" b="1">
                <a:solidFill>
                  <a:srgbClr val="3D2A87"/>
                </a:solidFill>
                <a:latin typeface="Arial"/>
              </a:rPr>
              <a:t>Source base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CE3986-FFD0-4CBE-A40E-E8DFA1DC4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638300"/>
            <a:ext cx="21145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3D2A87"/>
                </a:solidFill>
              </a:defRPr>
            </a:pPr>
            <a:r>
              <a:rPr sz="2000" b="1">
                <a:solidFill>
                  <a:srgbClr val="3D2A87"/>
                </a:solidFill>
                <a:latin typeface="Arial"/>
              </a:rPr>
              <a:t>Size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1D902D-3C87-4F90-A8B4-BC3296EB2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638300"/>
            <a:ext cx="6343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3D2A87"/>
                </a:solidFill>
              </a:defRPr>
            </a:pPr>
            <a:r>
              <a:rPr sz="2000" b="1">
                <a:solidFill>
                  <a:srgbClr val="3D2A87"/>
                </a:solidFill>
                <a:latin typeface="Arial"/>
              </a:rPr>
              <a:t>CAR record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C7AF9E-5597-4754-835B-BA517D381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9650" y="1638300"/>
            <a:ext cx="499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3D2A87"/>
                </a:solidFill>
              </a:defRPr>
            </a:pPr>
            <a:r>
              <a:rPr sz="2000" b="1">
                <a:solidFill>
                  <a:srgbClr val="3D2A87"/>
                </a:solidFill>
                <a:latin typeface="Arial"/>
              </a:rPr>
              <a:t>Modules · area · cattle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274E5D-7A20-4837-90A6-9DF609539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19350"/>
            <a:ext cx="27241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3D2A87"/>
                </a:solidFill>
              </a:defRPr>
            </a:pPr>
            <a:r>
              <a:rPr sz="2000" b="1">
                <a:solidFill>
                  <a:srgbClr val="3D2A87"/>
                </a:solidFill>
                <a:latin typeface="Arial"/>
              </a:rPr>
              <a:t>SIMCAR Validated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788EAD-9CA4-41A2-B7D1-48F9DBF13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419350"/>
            <a:ext cx="21145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7D72"/>
                </a:solidFill>
              </a:defRPr>
            </a:pPr>
            <a:r>
              <a:rPr sz="2000" b="0">
                <a:solidFill>
                  <a:srgbClr val="147D72"/>
                </a:solidFill>
                <a:latin typeface="Arial"/>
              </a:rPr>
              <a:t>&gt; 4 modules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7498D5-815E-4413-A294-52B6C865E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419350"/>
            <a:ext cx="63436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3D2A87"/>
                </a:solidFill>
              </a:defRPr>
            </a:pPr>
            <a:r>
              <a:rPr sz="2000" b="0">
                <a:solidFill>
                  <a:srgbClr val="3D2A87"/>
                </a:solidFill>
                <a:latin typeface="Arial"/>
              </a:rPr>
              <a:t>MT-5107602-4838366C339B4</a:t>
            </a:r>
          </a:p>
          <a:p xmlns:a="http://schemas.openxmlformats.org/drawingml/2006/main">
            <a:pPr>
              <a:defRPr sz="1500" b="0">
                <a:solidFill>
                  <a:srgbClr val="3D2A87"/>
                </a:solidFill>
              </a:defRPr>
            </a:pPr>
            <a:r>
              <a:rPr sz="2000" b="0">
                <a:solidFill>
                  <a:srgbClr val="3D2A87"/>
                </a:solidFill>
                <a:latin typeface="Arial"/>
              </a:rPr>
              <a:t>9D69077F3DC87A8074C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A0BFBD-4505-472A-AFAE-922C3B4F9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9650" y="2419350"/>
            <a:ext cx="49911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3D2A87"/>
                </a:solidFill>
              </a:defRPr>
            </a:pPr>
            <a:r>
              <a:rPr sz="2000" b="0">
                <a:solidFill>
                  <a:srgbClr val="3D2A87"/>
                </a:solidFill>
                <a:latin typeface="Arial"/>
              </a:rPr>
              <a:t>13.36 modules · 801.37 ha · 939 cattle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6A3579-AFF7-456C-9727-699EC66DF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38550"/>
            <a:ext cx="27241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3D2A87"/>
                </a:solidFill>
              </a:defRPr>
            </a:pPr>
            <a:r>
              <a:rPr sz="2000" b="1">
                <a:solidFill>
                  <a:srgbClr val="3D2A87"/>
                </a:solidFill>
                <a:latin typeface="Arial"/>
              </a:rPr>
              <a:t>SIMCAR Validated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A9D955-A7BF-4C3E-AF17-60C0CCB90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638550"/>
            <a:ext cx="21145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7D72"/>
                </a:solidFill>
              </a:defRPr>
            </a:pPr>
            <a:r>
              <a:rPr sz="2000" b="0">
                <a:solidFill>
                  <a:srgbClr val="147D72"/>
                </a:solidFill>
                <a:latin typeface="Arial"/>
              </a:rPr>
              <a:t>≤ 4 modules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DC94FA-7226-4F40-A507-CC25D2087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638550"/>
            <a:ext cx="63436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3D2A87"/>
                </a:solidFill>
              </a:defRPr>
            </a:pPr>
            <a:r>
              <a:rPr sz="2000" b="0">
                <a:solidFill>
                  <a:srgbClr val="3D2A87"/>
                </a:solidFill>
                <a:latin typeface="Arial"/>
              </a:rPr>
              <a:t>MT-5106257-60F736EB772F4</a:t>
            </a:r>
          </a:p>
          <a:p xmlns:a="http://schemas.openxmlformats.org/drawingml/2006/main">
            <a:pPr>
              <a:defRPr sz="1500" b="0">
                <a:solidFill>
                  <a:srgbClr val="3D2A87"/>
                </a:solidFill>
              </a:defRPr>
            </a:pPr>
            <a:r>
              <a:rPr sz="2000" b="0">
                <a:solidFill>
                  <a:srgbClr val="3D2A87"/>
                </a:solidFill>
                <a:latin typeface="Arial"/>
              </a:rPr>
              <a:t>CF6A460A8D0BE0ADCBB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356D51-4A80-448E-90CD-CDF86659E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9650" y="3638550"/>
            <a:ext cx="49911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3D2A87"/>
                </a:solidFill>
              </a:defRPr>
            </a:pPr>
            <a:r>
              <a:rPr sz="2000" b="0">
                <a:solidFill>
                  <a:srgbClr val="3D2A87"/>
                </a:solidFill>
                <a:latin typeface="Arial"/>
              </a:rPr>
              <a:t>1.39 modules · 111.27 ha · 36 cattle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B30DDE-AABC-4D3B-9B89-ED22FAA9B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38700"/>
            <a:ext cx="27241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3D2A87"/>
                </a:solidFill>
              </a:defRPr>
            </a:pPr>
            <a:r>
              <a:rPr sz="2000" b="1">
                <a:solidFill>
                  <a:srgbClr val="3D2A87"/>
                </a:solidFill>
                <a:latin typeface="Arial"/>
              </a:rPr>
              <a:t>SIMCAR Digital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BF8045-36F2-487D-BA1F-33F71E1D9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38700"/>
            <a:ext cx="21145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7D72"/>
                </a:solidFill>
              </a:defRPr>
            </a:pPr>
            <a:r>
              <a:rPr sz="2000" b="0">
                <a:solidFill>
                  <a:srgbClr val="147D72"/>
                </a:solidFill>
                <a:latin typeface="Arial"/>
              </a:rPr>
              <a:t>&gt; 4 modules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64EB73-9942-4C29-822F-A1F6CE20C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838700"/>
            <a:ext cx="63436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3D2A87"/>
                </a:solidFill>
              </a:defRPr>
            </a:pPr>
            <a:r>
              <a:rPr sz="2000" b="0">
                <a:solidFill>
                  <a:srgbClr val="3D2A87"/>
                </a:solidFill>
                <a:latin typeface="Arial"/>
              </a:rPr>
              <a:t>MT-5107750-3D69A53C7D644</a:t>
            </a:r>
          </a:p>
          <a:p xmlns:a="http://schemas.openxmlformats.org/drawingml/2006/main">
            <a:pPr>
              <a:defRPr sz="1500" b="0">
                <a:solidFill>
                  <a:srgbClr val="3D2A87"/>
                </a:solidFill>
              </a:defRPr>
            </a:pPr>
            <a:r>
              <a:rPr sz="2000" b="0">
                <a:solidFill>
                  <a:srgbClr val="3D2A87"/>
                </a:solidFill>
                <a:latin typeface="Arial"/>
              </a:rPr>
              <a:t>B4098DE759BD0FE2AF1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3A26B7-215B-4F58-B4BE-97C7BBF8F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9650" y="4838700"/>
            <a:ext cx="49911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3D2A87"/>
                </a:solidFill>
              </a:defRPr>
            </a:pPr>
            <a:r>
              <a:rPr sz="2000" b="0">
                <a:solidFill>
                  <a:srgbClr val="3D2A87"/>
                </a:solidFill>
                <a:latin typeface="Arial"/>
              </a:rPr>
              <a:t>19.54 modules · 1,564.00 ha · 2,131 cattle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74B2B8-A840-498D-98EF-371905592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057900"/>
            <a:ext cx="27241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3D2A87"/>
                </a:solidFill>
              </a:defRPr>
            </a:pPr>
            <a:r>
              <a:rPr sz="2000" b="1">
                <a:solidFill>
                  <a:srgbClr val="3D2A87"/>
                </a:solidFill>
                <a:latin typeface="Arial"/>
              </a:rPr>
              <a:t>SIMCAR Digital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3C6DB3-22DC-467C-9909-509169B69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6057900"/>
            <a:ext cx="21145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7D72"/>
                </a:solidFill>
              </a:defRPr>
            </a:pPr>
            <a:r>
              <a:rPr sz="2000" b="0">
                <a:solidFill>
                  <a:srgbClr val="147D72"/>
                </a:solidFill>
                <a:latin typeface="Arial"/>
              </a:rPr>
              <a:t>≤ 4 modules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05C5B5-C62D-4F9F-9A90-5EA4C6DF8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6057900"/>
            <a:ext cx="63436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3D2A87"/>
                </a:solidFill>
              </a:defRPr>
            </a:pPr>
            <a:r>
              <a:rPr sz="2000" b="0">
                <a:solidFill>
                  <a:srgbClr val="3D2A87"/>
                </a:solidFill>
                <a:latin typeface="Arial"/>
              </a:rPr>
              <a:t>MT-5102603-D132829CFF784</a:t>
            </a:r>
          </a:p>
          <a:p xmlns:a="http://schemas.openxmlformats.org/drawingml/2006/main">
            <a:pPr>
              <a:defRPr sz="1500" b="0">
                <a:solidFill>
                  <a:srgbClr val="3D2A87"/>
                </a:solidFill>
              </a:defRPr>
            </a:pPr>
            <a:r>
              <a:rPr sz="2000" b="0">
                <a:solidFill>
                  <a:srgbClr val="3D2A87"/>
                </a:solidFill>
                <a:latin typeface="Arial"/>
              </a:rPr>
              <a:t>C919A4FA35C7A5F32A5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4B04C7-8091-4046-A707-114DA6293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9650" y="6057900"/>
            <a:ext cx="49911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3D2A87"/>
                </a:solidFill>
              </a:defRPr>
            </a:pPr>
            <a:r>
              <a:rPr sz="2000" b="0">
                <a:solidFill>
                  <a:srgbClr val="3D2A87"/>
                </a:solidFill>
                <a:latin typeface="Arial"/>
              </a:rPr>
              <a:t>3.54 modules · 283.08 ha · 588 cattle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524921-BB28-4886-8962-5A64D308C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258050"/>
            <a:ext cx="27241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3D2A87"/>
                </a:solidFill>
              </a:defRPr>
            </a:pPr>
            <a:r>
              <a:rPr sz="2000" b="1">
                <a:solidFill>
                  <a:srgbClr val="3D2A87"/>
                </a:solidFill>
                <a:latin typeface="Arial"/>
              </a:rPr>
              <a:t>SIMCAR Proxy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AE13E0E-9B33-470E-AB92-17DBAE854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7258050"/>
            <a:ext cx="21145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7D72"/>
                </a:solidFill>
              </a:defRPr>
            </a:pPr>
            <a:r>
              <a:rPr sz="2000" b="0">
                <a:solidFill>
                  <a:srgbClr val="147D72"/>
                </a:solidFill>
                <a:latin typeface="Arial"/>
              </a:rPr>
              <a:t>&gt; 4 modules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C44FACD-B97D-4CDA-A560-DAAF65A4A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7258050"/>
            <a:ext cx="63436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3D2A87"/>
                </a:solidFill>
              </a:defRPr>
            </a:pPr>
            <a:r>
              <a:rPr sz="2000" b="0">
                <a:solidFill>
                  <a:srgbClr val="3D2A87"/>
                </a:solidFill>
                <a:latin typeface="Arial"/>
              </a:rPr>
              <a:t>MT-5106828-23ABB407C9334</a:t>
            </a:r>
          </a:p>
          <a:p xmlns:a="http://schemas.openxmlformats.org/drawingml/2006/main">
            <a:pPr>
              <a:defRPr sz="1500" b="0">
                <a:solidFill>
                  <a:srgbClr val="3D2A87"/>
                </a:solidFill>
              </a:defRPr>
            </a:pPr>
            <a:r>
              <a:rPr sz="2000" b="0">
                <a:solidFill>
                  <a:srgbClr val="3D2A87"/>
                </a:solidFill>
                <a:latin typeface="Arial"/>
              </a:rPr>
              <a:t>E9F864BC6C07D00148C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C286026-6DE4-47D0-AC15-072195162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9650" y="7258050"/>
            <a:ext cx="49911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3D2A87"/>
                </a:solidFill>
              </a:defRPr>
            </a:pPr>
            <a:r>
              <a:rPr sz="2000" b="0">
                <a:solidFill>
                  <a:srgbClr val="3D2A87"/>
                </a:solidFill>
                <a:latin typeface="Arial"/>
              </a:rPr>
              <a:t>10.51 modules · 839.84 ha · 591 cattle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96CAEF8-A064-46B0-B249-D87AFD87C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8477250"/>
            <a:ext cx="27241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3D2A87"/>
                </a:solidFill>
              </a:defRPr>
            </a:pPr>
            <a:r>
              <a:rPr sz="2000" b="1">
                <a:solidFill>
                  <a:srgbClr val="3D2A87"/>
                </a:solidFill>
                <a:latin typeface="Arial"/>
              </a:rPr>
              <a:t>SIMCAR Proxy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577D7D-26EF-4F55-8391-B87A11A7F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8477250"/>
            <a:ext cx="21145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7D72"/>
                </a:solidFill>
              </a:defRPr>
            </a:pPr>
            <a:r>
              <a:rPr sz="2000" b="0">
                <a:solidFill>
                  <a:srgbClr val="147D72"/>
                </a:solidFill>
                <a:latin typeface="Arial"/>
              </a:rPr>
              <a:t>≤ 4 modules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ADDE8D9-4D64-477B-801C-E853F53A5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8477250"/>
            <a:ext cx="63436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3D2A87"/>
                </a:solidFill>
              </a:defRPr>
            </a:pPr>
            <a:r>
              <a:rPr sz="2000" b="0">
                <a:solidFill>
                  <a:srgbClr val="3D2A87"/>
                </a:solidFill>
                <a:latin typeface="Arial"/>
              </a:rPr>
              <a:t>MT-5103304-CDD5B177BF434</a:t>
            </a:r>
          </a:p>
          <a:p xmlns:a="http://schemas.openxmlformats.org/drawingml/2006/main">
            <a:pPr>
              <a:defRPr sz="1500" b="0">
                <a:solidFill>
                  <a:srgbClr val="3D2A87"/>
                </a:solidFill>
              </a:defRPr>
            </a:pPr>
            <a:r>
              <a:rPr sz="2000" b="0">
                <a:solidFill>
                  <a:srgbClr val="3D2A87"/>
                </a:solidFill>
                <a:latin typeface="Arial"/>
              </a:rPr>
              <a:t>05FA86B66729E82F424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211B3B4-B3A9-4D82-B15C-97EEF3C55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9650" y="8477250"/>
            <a:ext cx="49911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3D2A87"/>
                </a:solidFill>
              </a:defRPr>
            </a:pPr>
            <a:r>
              <a:rPr sz="2000" b="0">
                <a:solidFill>
                  <a:srgbClr val="3D2A87"/>
                </a:solidFill>
                <a:latin typeface="Arial"/>
              </a:rPr>
              <a:t>1.87 modules · 186.59 ha · 121 cattle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2FCA5B4-0BA1-4120-BD7A-096F0664B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0"/>
            <a:ext cx="3143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Source: final GTA compliance mega table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8D7B757-B9F1-4814-9865-95933A239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35450" y="9525000"/>
            <a:ext cx="666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87908298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0" name="Picture 19" descr="fluid-background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3">
            <a:extLst xmlns:a="http://schemas.openxmlformats.org/drawingml/2006/main">
              <a:ext uri="{FF2B5EF4-FFF2-40B4-BE49-F238E27FC236}">
                <a16:creationId xmlns:a16="http://schemas.microsoft.com/office/drawing/2014/main" id="{35DC9808-7717-43FE-A1F7-DCA6DE089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173736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  <a:latin typeface="Arial"/>
              </a:rPr>
              <a:t>SIMCAR Validated · &gt; 4 modules · property overview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77CAF2-1D94-472E-8217-405961AFE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62000"/>
            <a:ext cx="4838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13.36 fiscal modules · GTA direct supplier · 939 slaughter cattle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E52238-7160-40BB-AD0D-93F832F26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B5"/>
          </a:solidFill>
          <a:ln xmlns:a="http://schemas.openxmlformats.org/drawingml/2006/main" w="0">
            <a:solidFill>
              <a:srgbClr val="11B8B5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a9f7b9e1864e62"/>
          <a:stretch xmlns:a="http://schemas.openxmlformats.org/drawingml/2006/main"/>
        </p:blipFill>
        <p:spPr>
          <a:xfrm xmlns:a="http://schemas.openxmlformats.org/drawingml/2006/main">
            <a:off x="2533050" y="1304925"/>
            <a:ext cx="8176508" cy="78771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0BF86A-C620-455D-8D7B-433B5793E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18097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Property area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7EABE0-924B-4163-B50C-A88EA4EC4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18097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801.37 ha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C4DAD4-382B-4B62-9EFA-374FC296F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31242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Forest formation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574037-5356-42A4-B870-889280DD8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31242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552.09 ha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A804E7-A364-4BEB-BF6B-740B4A1B4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44386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Cerrado formation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5E05E0-5E27-4AA9-B279-C559923D6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44386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247.92 ha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B68F9B-49F9-4C41-BF10-50C5AB94A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57531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Current native vegetation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52ADAB-5CF2-4F07-93BB-2B0D0F210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57531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133.87 ha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37E609-55A8-4E94-B9FD-F7CDD1443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70675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Baseline liability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03D078-B11F-4D11-B557-9D29AD614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70675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395.23 ha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36C3F0-884A-487A-920C-DF2C28337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83820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With secondary vegetation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75E9ED-4DB9-4B18-82CE-F478DE630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83820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301.01 ha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B1B9C2-397F-48D8-AF71-43B269069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277350"/>
            <a:ext cx="173736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CAR: MT-5107602-4838366C339B49D69077F3DC87A8074C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3A9CA2-9B57-496B-90C4-99D269B36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96450"/>
            <a:ext cx="3143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Source: final GTA compliance mega table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420E0A-F2E1-44F9-93EB-6D127E0ED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64050" y="9696450"/>
            <a:ext cx="666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72028359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7" name="Picture 6" descr="fluid-background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4">
            <a:extLst xmlns:a="http://schemas.openxmlformats.org/drawingml/2006/main">
              <a:ext uri="{FF2B5EF4-FFF2-40B4-BE49-F238E27FC236}">
                <a16:creationId xmlns:a16="http://schemas.microsoft.com/office/drawing/2014/main" id="{05ECDFD5-5263-48D7-A71B-17F6D30A6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  <a:latin typeface="Arial"/>
              </a:rPr>
              <a:t>SIMCAR Validated · &gt; 4 modules · Legal Reserve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385D01-92AE-4B14-93C5-0239D6843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47625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RADAM, current native vegetation, and secondary vegetation.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1F51C3-EB37-4989-BA15-8DBE757B0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3F6B"/>
          </a:solidFill>
          <a:ln xmlns:a="http://schemas.openxmlformats.org/drawingml/2006/main" w="0">
            <a:solidFill>
              <a:srgbClr val="EC3F6B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3da785d25047ce"/>
          <a:stretch xmlns:a="http://schemas.openxmlformats.org/drawingml/2006/main"/>
        </p:blipFill>
        <p:spPr>
          <a:xfrm xmlns:a="http://schemas.openxmlformats.org/drawingml/2006/main">
            <a:off x="323850" y="3158103"/>
            <a:ext cx="17640300" cy="4561344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992FBA-77E8-4435-9FC5-10811189E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753600"/>
            <a:ext cx="3086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591D41-E6F7-4852-A842-7E68A1F14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92650" y="9772650"/>
            <a:ext cx="571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8111960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7" name="Picture 6" descr="fluid-background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5">
            <a:extLst xmlns:a="http://schemas.openxmlformats.org/drawingml/2006/main">
              <a:ext uri="{FF2B5EF4-FFF2-40B4-BE49-F238E27FC236}">
                <a16:creationId xmlns:a16="http://schemas.microsoft.com/office/drawing/2014/main" id="{4D394399-4ADD-4061-8770-53F813FC1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  <a:latin typeface="Arial"/>
              </a:rPr>
              <a:t>SIMCAR Validated · &gt; 4 modules · Temporal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5DB41A-9D8D-44A7-A54D-D2DB99BB5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48768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The 2000 and 2008 cut-offs and post-2008 alternative land use.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B5585E-75BF-435A-B1F4-8F0E81C3E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B5"/>
          </a:solidFill>
          <a:ln xmlns:a="http://schemas.openxmlformats.org/drawingml/2006/main" w="0">
            <a:solidFill>
              <a:srgbClr val="11B8B5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f9a73cca2d495e"/>
          <a:stretch xmlns:a="http://schemas.openxmlformats.org/drawingml/2006/main"/>
        </p:blipFill>
        <p:spPr>
          <a:xfrm xmlns:a="http://schemas.openxmlformats.org/drawingml/2006/main">
            <a:off x="323850" y="3226212"/>
            <a:ext cx="17640300" cy="4425126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20133D-2F30-459E-AD6C-3BCE7AC70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753600"/>
            <a:ext cx="3086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9D4622-7865-49CF-BCF5-DD19EAA2A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92650" y="9772650"/>
            <a:ext cx="571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50486019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7" name="Picture 6" descr="fluid-background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6">
            <a:extLst xmlns:a="http://schemas.openxmlformats.org/drawingml/2006/main">
              <a:ext uri="{FF2B5EF4-FFF2-40B4-BE49-F238E27FC236}">
                <a16:creationId xmlns:a16="http://schemas.microsoft.com/office/drawing/2014/main" id="{08AF7708-1E06-4866-8971-481C12024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  <a:latin typeface="Arial"/>
              </a:rPr>
              <a:t>SIMCAR Validated · &gt; 4 modules · APP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6CA501-CD3F-4384-9929-CC2EC7F4E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53340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APP extent, vegetation relevant to APP, and pre-/post-2008 liabilities.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A984A7-B27D-480C-8959-67F02D258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3F6B"/>
          </a:solidFill>
          <a:ln xmlns:a="http://schemas.openxmlformats.org/drawingml/2006/main" w="0">
            <a:solidFill>
              <a:srgbClr val="EC3F6B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db87d4cd914efe"/>
          <a:stretch xmlns:a="http://schemas.openxmlformats.org/drawingml/2006/main"/>
        </p:blipFill>
        <p:spPr>
          <a:xfrm xmlns:a="http://schemas.openxmlformats.org/drawingml/2006/main">
            <a:off x="323850" y="3457873"/>
            <a:ext cx="17640300" cy="396180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E31D6A-7047-4287-BAD9-F8D048B11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753600"/>
            <a:ext cx="3086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F45A8A-2EA2-4659-8D58-73E11B842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92650" y="9772650"/>
            <a:ext cx="571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24325490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0" name="Picture 19" descr="fluid-background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7">
            <a:extLst xmlns:a="http://schemas.openxmlformats.org/drawingml/2006/main">
              <a:ext uri="{FF2B5EF4-FFF2-40B4-BE49-F238E27FC236}">
                <a16:creationId xmlns:a16="http://schemas.microsoft.com/office/drawing/2014/main" id="{48AA6C27-C052-4FC7-9668-17CADE836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7200"/>
            <a:ext cx="167259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  <a:latin typeface="Arial"/>
              </a:rPr>
              <a:t>SIMCAR Validated · &gt; 4 modules · calculation chain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677A53-3658-46AC-A4AF-044C0C697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90600"/>
            <a:ext cx="66294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Article 68 selects the LR requirement; APP and secondary vegetation remain separate.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12C4F8-3831-4708-8B52-3D17CA821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5255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B5"/>
          </a:solidFill>
          <a:ln xmlns:a="http://schemas.openxmlformats.org/drawingml/2006/main" w="0">
            <a:solidFill>
              <a:srgbClr val="11B8B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A74278-F2A7-4C21-99AE-894A4E4A9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771650"/>
            <a:ext cx="7810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Article 68 requirement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91858D-C16B-460A-B58C-169E8B763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33600"/>
            <a:ext cx="7810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D2A87"/>
                </a:solidFill>
              </a:defRPr>
            </a:pPr>
            <a:r>
              <a:rPr sz="2000">
                <a:solidFill>
                  <a:srgbClr val="3D2A87"/>
                </a:solidFill>
                <a:latin typeface="Arial"/>
              </a:rPr>
              <a:t>IF vegetation 2000 ≥ historical floor → floor; ELSE → Article 12 ceiling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755A54-1D27-4A97-9767-CC15A3780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24150"/>
            <a:ext cx="7810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= 528.44 ha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73CE6E-5E90-4FBA-817B-C508B5E2A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1771650"/>
            <a:ext cx="7810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Legal Reserve deficit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128766-B9FA-4A63-ABC8-7F76EFD51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133600"/>
            <a:ext cx="7810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D2A87"/>
                </a:solidFill>
              </a:defRPr>
            </a:pPr>
            <a:r>
              <a:rPr sz="2000">
                <a:solidFill>
                  <a:srgbClr val="3D2A87"/>
                </a:solidFill>
                <a:latin typeface="Arial"/>
              </a:rPr>
              <a:t>528.44 ha − 133.87 ha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1D08CF-B082-4A34-A986-BA2D15488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724150"/>
            <a:ext cx="7810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= 394.57 ha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F35880-E185-4523-BAEE-90F989478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067300"/>
            <a:ext cx="7810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LR pathway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578542-1431-44C8-93D3-A2CBC9967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429250"/>
            <a:ext cx="7810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D2A87"/>
                </a:solidFill>
              </a:defRPr>
            </a:pPr>
            <a:r>
              <a:rPr sz="2000">
                <a:solidFill>
                  <a:srgbClr val="3D2A87"/>
                </a:solidFill>
                <a:latin typeface="Arial"/>
              </a:rPr>
              <a:t>Restore = MIN(post-2008 clearing, LR deficit)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5678AE-D081-4A03-A183-F6A58BA1D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6019800"/>
            <a:ext cx="7810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= 1.82 ha restore · 392.75 ha compensate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AA242A-3BA3-4E4C-928F-1F5BAA638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5067300"/>
            <a:ext cx="7810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APP restoration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009901-E155-455E-A40C-994938552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5429250"/>
            <a:ext cx="7810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D2A87"/>
                </a:solidFill>
              </a:defRPr>
            </a:pPr>
            <a:r>
              <a:rPr sz="2000">
                <a:solidFill>
                  <a:srgbClr val="3D2A87"/>
                </a:solidFill>
                <a:latin typeface="Arial"/>
              </a:rPr>
              <a:t>Pre-2008 component after cap + post-2008 APP clearing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8B9B6C-38CA-4726-9227-AA19ECFAB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6019800"/>
            <a:ext cx="7810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= 0.66 ha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34245F-19F7-46D8-AA97-6557BA9A1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248650"/>
            <a:ext cx="687705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EC3F6B"/>
                </a:solidFill>
              </a:defRPr>
            </a:pPr>
            <a:r>
              <a:rPr sz="2625" b="1">
                <a:solidFill>
                  <a:srgbClr val="EC3F6B"/>
                </a:solidFill>
                <a:latin typeface="Arial"/>
              </a:rPr>
              <a:t>BASELINE  395.23 ha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941D3F-EC1E-484F-BD1F-9F751893E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8248650"/>
            <a:ext cx="962025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47D72"/>
                </a:solidFill>
              </a:defRPr>
            </a:pPr>
            <a:r>
              <a:rPr sz="2400" b="1">
                <a:solidFill>
                  <a:srgbClr val="147D72"/>
                </a:solidFill>
                <a:latin typeface="Arial"/>
              </a:rPr>
              <a:t>WITH SECONDARY  301.01 ha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7C6846-01D0-43FE-83DC-726DCBF74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67850"/>
            <a:ext cx="3143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Source: final GTA compliance mega table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F629D5-2064-4D30-AF6C-181F948D1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0200" y="9467850"/>
            <a:ext cx="666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56860081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0" name="Picture 19" descr="fluid-background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8">
            <a:extLst xmlns:a="http://schemas.openxmlformats.org/drawingml/2006/main">
              <a:ext uri="{FF2B5EF4-FFF2-40B4-BE49-F238E27FC236}">
                <a16:creationId xmlns:a16="http://schemas.microsoft.com/office/drawing/2014/main" id="{B41B1607-AC06-41EE-8F63-57C6C9B95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173736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  <a:latin typeface="Arial"/>
              </a:rPr>
              <a:t>SIMCAR Validated · ≤ 4 modules · property overview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A7BE65-7FCC-4C96-8438-00B9E612E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62000"/>
            <a:ext cx="462915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1.39 fiscal modules · GTA direct supplier · 36 slaughter cattle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2763A5-18E8-4A9A-B403-4E8A23DE4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3F6B"/>
          </a:solidFill>
          <a:ln xmlns:a="http://schemas.openxmlformats.org/drawingml/2006/main" w="0">
            <a:solidFill>
              <a:srgbClr val="EC3F6B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71674b2be049e8"/>
          <a:stretch xmlns:a="http://schemas.openxmlformats.org/drawingml/2006/main"/>
        </p:blipFill>
        <p:spPr>
          <a:xfrm xmlns:a="http://schemas.openxmlformats.org/drawingml/2006/main">
            <a:off x="1897298" y="1304925"/>
            <a:ext cx="9448012" cy="78771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37BE27-B61E-4426-995B-621A222D9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18097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Property area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541884-C500-4181-B26A-1F5099518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18097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2C94C"/>
                </a:solidFill>
              </a:defRPr>
            </a:pPr>
            <a:r>
              <a:rPr sz="2000" b="1">
                <a:solidFill>
                  <a:srgbClr val="F2C94C"/>
                </a:solidFill>
                <a:latin typeface="Arial"/>
              </a:rPr>
              <a:t>111.27 ha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296884-D211-4DF2-8BB1-36CA42DF7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31242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Forest formation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DB4CB8-3E83-4FB5-85FE-525A9B22B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31242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2C94C"/>
                </a:solidFill>
              </a:defRPr>
            </a:pPr>
            <a:r>
              <a:rPr sz="2000" b="1">
                <a:solidFill>
                  <a:srgbClr val="F2C94C"/>
                </a:solidFill>
                <a:latin typeface="Arial"/>
              </a:rPr>
              <a:t>95.53 ha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94E596-435B-4876-A6C2-CFA3545F9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44386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Cerrado formation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A4AE07-30C8-4FDA-B768-63886C7A9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44386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2C94C"/>
                </a:solidFill>
              </a:defRPr>
            </a:pPr>
            <a:r>
              <a:rPr sz="2000" b="1">
                <a:solidFill>
                  <a:srgbClr val="F2C94C"/>
                </a:solidFill>
                <a:latin typeface="Arial"/>
              </a:rPr>
              <a:t>15.73 ha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21644B-7EAB-4B17-8C9A-76F3CB53B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57531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Current native vegetation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B16172-1278-4B3B-869B-0B2CB05B2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57531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2C94C"/>
                </a:solidFill>
              </a:defRPr>
            </a:pPr>
            <a:r>
              <a:rPr sz="2000" b="1">
                <a:solidFill>
                  <a:srgbClr val="F2C94C"/>
                </a:solidFill>
                <a:latin typeface="Arial"/>
              </a:rPr>
              <a:t>16.40 ha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989A2B-14CA-4ED0-AE08-7E1ADEA47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70675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Baseline liability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B47D7A-52F0-4863-92CF-96775EA4A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70675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2C94C"/>
                </a:solidFill>
              </a:defRPr>
            </a:pPr>
            <a:r>
              <a:rPr sz="2000" b="1">
                <a:solidFill>
                  <a:srgbClr val="F2C94C"/>
                </a:solidFill>
                <a:latin typeface="Arial"/>
              </a:rPr>
              <a:t>66.59 ha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86F1BB-A6A6-48CA-8B6D-8F30F1BFE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83820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With secondary vegetation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628E2C-6615-417F-80BA-8195D8F87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83820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2C94C"/>
                </a:solidFill>
              </a:defRPr>
            </a:pPr>
            <a:r>
              <a:rPr sz="2000" b="1">
                <a:solidFill>
                  <a:srgbClr val="F2C94C"/>
                </a:solidFill>
                <a:latin typeface="Arial"/>
              </a:rPr>
              <a:t>65.19 ha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4EAAD9-3F17-4E10-BBEC-E5D0A30BF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277350"/>
            <a:ext cx="173736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CAR: MT-5106257-60F736EB772F4CF6A460A8D0BE0ADCBB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0637A6-64A9-4B90-A2E6-D52F77721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96450"/>
            <a:ext cx="3143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Source: final GTA compliance mega table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9E20DD-3301-495A-B8F7-E4ADCB8B6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64050" y="9696450"/>
            <a:ext cx="666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8280928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7" name="Picture 6" descr="fluid-background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9">
            <a:extLst xmlns:a="http://schemas.openxmlformats.org/drawingml/2006/main">
              <a:ext uri="{FF2B5EF4-FFF2-40B4-BE49-F238E27FC236}">
                <a16:creationId xmlns:a16="http://schemas.microsoft.com/office/drawing/2014/main" id="{8A1A5E68-7452-4D86-90D7-8E8310494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  <a:latin typeface="Arial"/>
              </a:rPr>
              <a:t>SIMCAR Validated · ≤ 4 modules · Legal Reserve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41A7BD-CB43-42EF-84CB-386BA7A7D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47625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RADAM, current native vegetation, and secondary vegetation.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55490E-230F-48AE-BE38-8A6B31D53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B5"/>
          </a:solidFill>
          <a:ln xmlns:a="http://schemas.openxmlformats.org/drawingml/2006/main" w="0">
            <a:solidFill>
              <a:srgbClr val="11B8B5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f64ddc8d164bed"/>
          <a:stretch xmlns:a="http://schemas.openxmlformats.org/drawingml/2006/main"/>
        </p:blipFill>
        <p:spPr>
          <a:xfrm xmlns:a="http://schemas.openxmlformats.org/drawingml/2006/main">
            <a:off x="323850" y="3179692"/>
            <a:ext cx="17640300" cy="451816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3D38C6-5BAD-4C78-BC9C-045DE0BD1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753600"/>
            <a:ext cx="3086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D07B08-A9EC-41D6-8E1F-60BE25288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92650" y="9772650"/>
            <a:ext cx="571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79765709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7" name="Picture 6" descr="fluid-background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10">
            <a:extLst xmlns:a="http://schemas.openxmlformats.org/drawingml/2006/main">
              <a:ext uri="{FF2B5EF4-FFF2-40B4-BE49-F238E27FC236}">
                <a16:creationId xmlns:a16="http://schemas.microsoft.com/office/drawing/2014/main" id="{A69FB373-D0C6-4E02-8681-A1E223B79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  <a:latin typeface="Arial"/>
              </a:rPr>
              <a:t>SIMCAR Validated · ≤ 4 modules · Temporal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97CD5F-5138-4E07-BBAE-68CC4D7CB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48768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The 2000 and 2008 cut-offs and post-2008 alternative land use.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B4B114-DD72-4300-95B9-53F5B3F1A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3F6B"/>
          </a:solidFill>
          <a:ln xmlns:a="http://schemas.openxmlformats.org/drawingml/2006/main" w="0">
            <a:solidFill>
              <a:srgbClr val="EC3F6B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212da12c76481f"/>
          <a:stretch xmlns:a="http://schemas.openxmlformats.org/drawingml/2006/main"/>
        </p:blipFill>
        <p:spPr>
          <a:xfrm xmlns:a="http://schemas.openxmlformats.org/drawingml/2006/main">
            <a:off x="323850" y="3179692"/>
            <a:ext cx="17640300" cy="451816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5B091A-A75C-4166-AB58-3EF2DAF7D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753600"/>
            <a:ext cx="3086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B3F475-1260-43CC-9033-3DDCF9A65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92650" y="9772650"/>
            <a:ext cx="571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866848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7" name="Picture 6" descr="fluid-background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11">
            <a:extLst xmlns:a="http://schemas.openxmlformats.org/drawingml/2006/main">
              <a:ext uri="{FF2B5EF4-FFF2-40B4-BE49-F238E27FC236}">
                <a16:creationId xmlns:a16="http://schemas.microsoft.com/office/drawing/2014/main" id="{F5656E04-FDB6-4F41-96BD-1A2636F56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  <a:latin typeface="Arial"/>
              </a:rPr>
              <a:t>SIMCAR Validated · ≤ 4 modules · APP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49A5C3-B9A1-4B68-8350-2279D8837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53340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APP extent, vegetation relevant to APP, and pre-/post-2008 liabilities.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8F17F2-19A6-4E21-862F-4B287C6E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B5"/>
          </a:solidFill>
          <a:ln xmlns:a="http://schemas.openxmlformats.org/drawingml/2006/main" w="0">
            <a:solidFill>
              <a:srgbClr val="11B8B5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eeba5047694000"/>
          <a:stretch xmlns:a="http://schemas.openxmlformats.org/drawingml/2006/main"/>
        </p:blipFill>
        <p:spPr>
          <a:xfrm xmlns:a="http://schemas.openxmlformats.org/drawingml/2006/main">
            <a:off x="323850" y="3328540"/>
            <a:ext cx="17640300" cy="422047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8107FD-EE57-4F15-BB02-758D82193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753600"/>
            <a:ext cx="3086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66DA0A-5407-4CA3-9538-3DA0A8CE3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92650" y="9772650"/>
            <a:ext cx="571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69023036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0" name="Picture 19" descr="fluid-background-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12">
            <a:extLst xmlns:a="http://schemas.openxmlformats.org/drawingml/2006/main">
              <a:ext uri="{FF2B5EF4-FFF2-40B4-BE49-F238E27FC236}">
                <a16:creationId xmlns:a16="http://schemas.microsoft.com/office/drawing/2014/main" id="{6B679000-1C93-4F5B-AECF-CA092E044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7200"/>
            <a:ext cx="167259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  <a:latin typeface="Arial"/>
              </a:rPr>
              <a:t>SIMCAR Validated · ≤ 4 modules · calculation chain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11F941-4148-4BFD-B6C0-E3E329531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90600"/>
            <a:ext cx="66294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Article 67 selects the LR requirement; APP and secondary vegetation remain separate.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A60C6B-991B-4464-AA5E-BC491FAAC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5255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3F6B"/>
          </a:solidFill>
          <a:ln xmlns:a="http://schemas.openxmlformats.org/drawingml/2006/main" w="0">
            <a:solidFill>
              <a:srgbClr val="EC3F6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226547-C638-44E5-8782-C1F21A291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771650"/>
            <a:ext cx="7810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2C94C"/>
                </a:solidFill>
              </a:defRPr>
            </a:pPr>
            <a:r>
              <a:rPr sz="2000" b="1">
                <a:solidFill>
                  <a:srgbClr val="F2C94C"/>
                </a:solidFill>
                <a:latin typeface="Arial"/>
              </a:rPr>
              <a:t>Article 67 requirement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5CB752-714F-4F3A-856C-ACB238F5C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33600"/>
            <a:ext cx="7810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D2A87"/>
                </a:solidFill>
              </a:defRPr>
            </a:pPr>
            <a:r>
              <a:rPr sz="2000">
                <a:solidFill>
                  <a:srgbClr val="3D2A87"/>
                </a:solidFill>
                <a:latin typeface="Arial"/>
              </a:rPr>
              <a:t>MIN(Article 12 ceiling, vegetation in 2008)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96D2E8-7755-41E5-A523-039C02DA6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24150"/>
            <a:ext cx="7810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2C94C"/>
                </a:solidFill>
              </a:defRPr>
            </a:pPr>
            <a:r>
              <a:rPr sz="2000" b="1">
                <a:solidFill>
                  <a:srgbClr val="F2C94C"/>
                </a:solidFill>
                <a:latin typeface="Arial"/>
              </a:rPr>
              <a:t>= 80.18 ha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9EA303-F228-4025-8D65-D1B9BD362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1771650"/>
            <a:ext cx="7810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2C94C"/>
                </a:solidFill>
              </a:defRPr>
            </a:pPr>
            <a:r>
              <a:rPr sz="2000" b="1">
                <a:solidFill>
                  <a:srgbClr val="F2C94C"/>
                </a:solidFill>
                <a:latin typeface="Arial"/>
              </a:rPr>
              <a:t>Legal Reserve deficit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67EC9D-DFEF-4145-BC71-FBDC26D0D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133600"/>
            <a:ext cx="7810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D2A87"/>
                </a:solidFill>
              </a:defRPr>
            </a:pPr>
            <a:r>
              <a:rPr sz="2000">
                <a:solidFill>
                  <a:srgbClr val="3D2A87"/>
                </a:solidFill>
                <a:latin typeface="Arial"/>
              </a:rPr>
              <a:t>80.18 ha − 16.40 ha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EAF136-0A2C-4111-8787-482F91C9D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724150"/>
            <a:ext cx="7810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2C94C"/>
                </a:solidFill>
              </a:defRPr>
            </a:pPr>
            <a:r>
              <a:rPr sz="2000" b="1">
                <a:solidFill>
                  <a:srgbClr val="F2C94C"/>
                </a:solidFill>
                <a:latin typeface="Arial"/>
              </a:rPr>
              <a:t>= 63.78 ha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2C9FC4-1262-4C64-BB6A-3B22A3BC1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067300"/>
            <a:ext cx="7810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2C94C"/>
                </a:solidFill>
              </a:defRPr>
            </a:pPr>
            <a:r>
              <a:rPr sz="2000" b="1">
                <a:solidFill>
                  <a:srgbClr val="F2C94C"/>
                </a:solidFill>
                <a:latin typeface="Arial"/>
              </a:rPr>
              <a:t>LR pathway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9CE2D1-B7EC-42D0-9B1C-E3A6B1DCF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429250"/>
            <a:ext cx="7810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D2A87"/>
                </a:solidFill>
              </a:defRPr>
            </a:pPr>
            <a:r>
              <a:rPr sz="2000">
                <a:solidFill>
                  <a:srgbClr val="3D2A87"/>
                </a:solidFill>
                <a:latin typeface="Arial"/>
              </a:rPr>
              <a:t>Restore = MIN(post-2008 clearing, LR deficit)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B9956F-A25A-47D4-8257-1BF75AA01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6019800"/>
            <a:ext cx="7810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2C94C"/>
                </a:solidFill>
              </a:defRPr>
            </a:pPr>
            <a:r>
              <a:rPr sz="2000" b="1">
                <a:solidFill>
                  <a:srgbClr val="F2C94C"/>
                </a:solidFill>
                <a:latin typeface="Arial"/>
              </a:rPr>
              <a:t>= 58.79 ha restore · 4.98 ha compensate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F29FA6-BF00-4CFF-876A-183FDF6EA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5067300"/>
            <a:ext cx="7810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2C94C"/>
                </a:solidFill>
              </a:defRPr>
            </a:pPr>
            <a:r>
              <a:rPr sz="2000" b="1">
                <a:solidFill>
                  <a:srgbClr val="F2C94C"/>
                </a:solidFill>
                <a:latin typeface="Arial"/>
              </a:rPr>
              <a:t>APP restoration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92153D-E67A-4C9E-BC93-18A1F0B43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5429250"/>
            <a:ext cx="7810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D2A87"/>
                </a:solidFill>
              </a:defRPr>
            </a:pPr>
            <a:r>
              <a:rPr sz="2000">
                <a:solidFill>
                  <a:srgbClr val="3D2A87"/>
                </a:solidFill>
                <a:latin typeface="Arial"/>
              </a:rPr>
              <a:t>Pre-2008 component after cap + post-2008 APP clearing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E6F5EE-656A-4604-9B15-5561EDF34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6019800"/>
            <a:ext cx="7810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2C94C"/>
                </a:solidFill>
              </a:defRPr>
            </a:pPr>
            <a:r>
              <a:rPr sz="2000" b="1">
                <a:solidFill>
                  <a:srgbClr val="F2C94C"/>
                </a:solidFill>
                <a:latin typeface="Arial"/>
              </a:rPr>
              <a:t>= 2.81 ha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AF370A-EC6E-46E2-AC32-8D2DE3FDF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248650"/>
            <a:ext cx="687705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EC3F6B"/>
                </a:solidFill>
              </a:defRPr>
            </a:pPr>
            <a:r>
              <a:rPr sz="2625" b="1">
                <a:solidFill>
                  <a:srgbClr val="EC3F6B"/>
                </a:solidFill>
                <a:latin typeface="Arial"/>
              </a:rPr>
              <a:t>BASELINE  66.59 ha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4B9271-D1A7-458B-AEAA-8D3CABAFD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8248650"/>
            <a:ext cx="962025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47D72"/>
                </a:solidFill>
              </a:defRPr>
            </a:pPr>
            <a:r>
              <a:rPr sz="2400" b="1">
                <a:solidFill>
                  <a:srgbClr val="147D72"/>
                </a:solidFill>
                <a:latin typeface="Arial"/>
              </a:rPr>
              <a:t>WITH SECONDARY  65.19 ha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491C49-EC6A-43F1-BCCB-37A183248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67850"/>
            <a:ext cx="3143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Source: final GTA compliance mega table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EF66B0-9745-4BA1-A119-009F5809C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0200" y="9467850"/>
            <a:ext cx="666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76549385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0" name="Picture 19" descr="fluid-background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13">
            <a:extLst xmlns:a="http://schemas.openxmlformats.org/drawingml/2006/main">
              <a:ext uri="{FF2B5EF4-FFF2-40B4-BE49-F238E27FC236}">
                <a16:creationId xmlns:a16="http://schemas.microsoft.com/office/drawing/2014/main" id="{A68704E3-1ED5-427F-AE3B-260708B7D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173736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  <a:latin typeface="Arial"/>
              </a:rPr>
              <a:t>SIMCAR Digital · &gt; 4 modules · property overview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076BDE-0887-4882-8211-0393FCF68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62000"/>
            <a:ext cx="497205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19.54 fiscal modules · GTA direct supplier · 2,131 slaughter cattle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4A4CD3-3542-4E88-8995-95703CC69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B5"/>
          </a:solidFill>
          <a:ln xmlns:a="http://schemas.openxmlformats.org/drawingml/2006/main" w="0">
            <a:solidFill>
              <a:srgbClr val="11B8B5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3cef711bbf4f2a"/>
          <a:stretch xmlns:a="http://schemas.openxmlformats.org/drawingml/2006/main"/>
        </p:blipFill>
        <p:spPr>
          <a:xfrm xmlns:a="http://schemas.openxmlformats.org/drawingml/2006/main">
            <a:off x="3068698" y="1304925"/>
            <a:ext cx="7105212" cy="78771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FC33C8-1524-445A-AC93-38893A7B5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18097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Property area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10BC10-6C6D-4702-95C0-9915B74C7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18097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1,564.00 ha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3A613B-B0D1-430C-A93A-561C16D5C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31242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Forest formation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88FCAA-C2C5-4DDF-804C-133331597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31242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1,502.11 ha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836F47-0A3B-4F26-88AB-25FDFE567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44386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Cerrado formation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1DAF42-A288-48F2-A133-0FEBC30F5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44386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61.89 ha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E93770-8164-4EF1-B029-38F96234F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57531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Current native vegetation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1ADFC0-FB63-423B-91D3-B1547C419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57531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162.98 ha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434BB6-E698-4F23-B4F3-94C1A2966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70675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Baseline liability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C6B118-21B9-4B03-9F63-DE99B130E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70675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1,076.81 ha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C4CF4B-97FA-4DAF-A13C-3F4C1E83A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83820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With secondary vegetation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ED38EE-1ED5-496D-947F-F3A616D7F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83820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929.67 ha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B594C4-DF9B-4376-AA03-84690875A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277350"/>
            <a:ext cx="173736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CAR: MT-5107750-3D69A53C7D644B4098DE759BD0FE2AF1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0CDF98-C64D-4A4E-B46A-8E35AC155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96450"/>
            <a:ext cx="3143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Source: final GTA compliance mega table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B32723-BFB4-4F22-A4D5-769AB01B8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64050" y="9696450"/>
            <a:ext cx="666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36956784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7" name="Picture 6" descr="fluid-background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14">
            <a:extLst xmlns:a="http://schemas.openxmlformats.org/drawingml/2006/main">
              <a:ext uri="{FF2B5EF4-FFF2-40B4-BE49-F238E27FC236}">
                <a16:creationId xmlns:a16="http://schemas.microsoft.com/office/drawing/2014/main" id="{89B07D7D-B67F-4568-99B6-E6EA5B21B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  <a:latin typeface="Arial"/>
              </a:rPr>
              <a:t>SIMCAR Digital · &gt; 4 modules · Legal Reserve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D88A5E-FCCD-4D97-A782-7E2D390ED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47625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RADAM, current native vegetation, and secondary vegetation.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DF40E-5B65-4868-B9F8-BB0FFA46F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3F6B"/>
          </a:solidFill>
          <a:ln xmlns:a="http://schemas.openxmlformats.org/drawingml/2006/main" w="0">
            <a:solidFill>
              <a:srgbClr val="EC3F6B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b7d6b73d56432a"/>
          <a:stretch xmlns:a="http://schemas.openxmlformats.org/drawingml/2006/main"/>
        </p:blipFill>
        <p:spPr>
          <a:xfrm xmlns:a="http://schemas.openxmlformats.org/drawingml/2006/main">
            <a:off x="323850" y="3113103"/>
            <a:ext cx="17640300" cy="4651344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92E11E-4393-4473-ABFD-36F9FF708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753600"/>
            <a:ext cx="3086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FAF4AB-CC68-4A9D-BE92-54B4E1F86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92650" y="9772650"/>
            <a:ext cx="571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53965335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7" name="Picture 6" descr="fluid-background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15">
            <a:extLst xmlns:a="http://schemas.openxmlformats.org/drawingml/2006/main">
              <a:ext uri="{FF2B5EF4-FFF2-40B4-BE49-F238E27FC236}">
                <a16:creationId xmlns:a16="http://schemas.microsoft.com/office/drawing/2014/main" id="{E242D123-0F38-4023-883F-8C4648878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  <a:latin typeface="Arial"/>
              </a:rPr>
              <a:t>SIMCAR Digital · &gt; 4 modules · Temporal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9C340C-165F-4920-965E-3399C4488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48768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The 2000 and 2008 cut-offs and post-2008 alternative land use.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DFE36F-1FE9-43E3-899B-5195FE150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B5"/>
          </a:solidFill>
          <a:ln xmlns:a="http://schemas.openxmlformats.org/drawingml/2006/main" w="0">
            <a:solidFill>
              <a:srgbClr val="11B8B5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cab92618094caa"/>
          <a:stretch xmlns:a="http://schemas.openxmlformats.org/drawingml/2006/main"/>
        </p:blipFill>
        <p:spPr>
          <a:xfrm xmlns:a="http://schemas.openxmlformats.org/drawingml/2006/main">
            <a:off x="323850" y="3244002"/>
            <a:ext cx="17640300" cy="4389546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035A1A-0780-4343-BA35-AF9607A4A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753600"/>
            <a:ext cx="3086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7452CC-5885-4D9D-BD28-60624F262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92650" y="9772650"/>
            <a:ext cx="571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352326088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7" name="Picture 6" descr="fluid-background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16">
            <a:extLst xmlns:a="http://schemas.openxmlformats.org/drawingml/2006/main">
              <a:ext uri="{FF2B5EF4-FFF2-40B4-BE49-F238E27FC236}">
                <a16:creationId xmlns:a16="http://schemas.microsoft.com/office/drawing/2014/main" id="{C74C13A2-9286-42E2-9BC6-54E14F362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  <a:latin typeface="Arial"/>
              </a:rPr>
              <a:t>SIMCAR Digital · &gt; 4 modules · APP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207BB1-136C-4EE5-924E-7C8A5AB2A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53340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APP extent, vegetation relevant to APP, and pre-/post-2008 liabilities.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781799-31EB-4009-9561-18F87026B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3F6B"/>
          </a:solidFill>
          <a:ln xmlns:a="http://schemas.openxmlformats.org/drawingml/2006/main" w="0">
            <a:solidFill>
              <a:srgbClr val="EC3F6B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d745890a344679"/>
          <a:stretch xmlns:a="http://schemas.openxmlformats.org/drawingml/2006/main"/>
        </p:blipFill>
        <p:spPr>
          <a:xfrm xmlns:a="http://schemas.openxmlformats.org/drawingml/2006/main">
            <a:off x="323850" y="3483830"/>
            <a:ext cx="17640300" cy="3909891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9E679E-B3FC-4C66-8C77-8CA0B753E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753600"/>
            <a:ext cx="3086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BD7005-6104-45EC-9A12-AF5C84E48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92650" y="9772650"/>
            <a:ext cx="571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06645028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0" name="Picture 19" descr="fluid-background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17">
            <a:extLst xmlns:a="http://schemas.openxmlformats.org/drawingml/2006/main">
              <a:ext uri="{FF2B5EF4-FFF2-40B4-BE49-F238E27FC236}">
                <a16:creationId xmlns:a16="http://schemas.microsoft.com/office/drawing/2014/main" id="{26E040BA-B944-414D-83D0-FB39AA3F5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7200"/>
            <a:ext cx="167259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  <a:latin typeface="Arial"/>
              </a:rPr>
              <a:t>SIMCAR Digital · &gt; 4 modules · calculation chain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CDC241-87BA-4049-8FBA-600153FCC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90600"/>
            <a:ext cx="66294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Article 68 selects the LR requirement; APP and secondary vegetation remain separate.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617771-D2CB-4E1E-8D03-072335377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5255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B5"/>
          </a:solidFill>
          <a:ln xmlns:a="http://schemas.openxmlformats.org/drawingml/2006/main" w="0">
            <a:solidFill>
              <a:srgbClr val="11B8B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F683DC-F72A-4771-86A8-9644E2ABE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771650"/>
            <a:ext cx="7810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Article 68 requirement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9820DC-6C32-4B8E-9C4C-6AEE90D51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33600"/>
            <a:ext cx="7810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D2A87"/>
                </a:solidFill>
              </a:defRPr>
            </a:pPr>
            <a:r>
              <a:rPr sz="2000">
                <a:solidFill>
                  <a:srgbClr val="3D2A87"/>
                </a:solidFill>
                <a:latin typeface="Arial"/>
              </a:rPr>
              <a:t>IF vegetation 2000 ≥ historical floor → floor; ELSE → Article 12 ceiling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C0FE60-930F-4A31-8560-FE009E9D3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24150"/>
            <a:ext cx="7810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= 1,223.35 ha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2AF83E-B1BB-433F-A530-C08065837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1771650"/>
            <a:ext cx="7810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Legal Reserve deficit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5F0649-8B51-4FD8-A055-2A8E286CE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133600"/>
            <a:ext cx="7810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D2A87"/>
                </a:solidFill>
              </a:defRPr>
            </a:pPr>
            <a:r>
              <a:rPr sz="2000">
                <a:solidFill>
                  <a:srgbClr val="3D2A87"/>
                </a:solidFill>
                <a:latin typeface="Arial"/>
              </a:rPr>
              <a:t>1,223.35 ha − 162.98 ha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38EC9D-B366-4D2D-99DE-918277335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724150"/>
            <a:ext cx="7810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= 1,060.36 ha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C9CB57-4CD9-4F86-983F-7AB4DA530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067300"/>
            <a:ext cx="7810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LR pathway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CB1196-F41D-4770-AA18-95ADAF36A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429250"/>
            <a:ext cx="7810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D2A87"/>
                </a:solidFill>
              </a:defRPr>
            </a:pPr>
            <a:r>
              <a:rPr sz="2000">
                <a:solidFill>
                  <a:srgbClr val="3D2A87"/>
                </a:solidFill>
                <a:latin typeface="Arial"/>
              </a:rPr>
              <a:t>Restore = MIN(post-2008 clearing, LR deficit)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784117-DF8A-4171-9440-5D0E14349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6019800"/>
            <a:ext cx="7810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= 0.07 ha restore · 1,060.29 ha compensate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D58D14-0147-478A-A859-056C7A28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5067300"/>
            <a:ext cx="7810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APP restoration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F2CA81-2CC0-41FD-B9D6-F386C573A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5429250"/>
            <a:ext cx="7810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D2A87"/>
                </a:solidFill>
              </a:defRPr>
            </a:pPr>
            <a:r>
              <a:rPr sz="2000">
                <a:solidFill>
                  <a:srgbClr val="3D2A87"/>
                </a:solidFill>
                <a:latin typeface="Arial"/>
              </a:rPr>
              <a:t>Pre-2008 component after cap + post-2008 APP clearing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F4014C-5E9A-4533-AACA-42B680F21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6019800"/>
            <a:ext cx="7810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= 16.44 ha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D53C52-9A07-4ED0-955D-6E54B51D1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248650"/>
            <a:ext cx="687705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EC3F6B"/>
                </a:solidFill>
              </a:defRPr>
            </a:pPr>
            <a:r>
              <a:rPr sz="2625" b="1">
                <a:solidFill>
                  <a:srgbClr val="EC3F6B"/>
                </a:solidFill>
                <a:latin typeface="Arial"/>
              </a:rPr>
              <a:t>BASELINE  1,076.81 ha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180836-3DEE-4BD1-B268-D7C38C5BC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8248650"/>
            <a:ext cx="962025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47D72"/>
                </a:solidFill>
              </a:defRPr>
            </a:pPr>
            <a:r>
              <a:rPr sz="2400" b="1">
                <a:solidFill>
                  <a:srgbClr val="147D72"/>
                </a:solidFill>
                <a:latin typeface="Arial"/>
              </a:rPr>
              <a:t>WITH SECONDARY  929.67 ha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EF9023-1DE3-4FBD-91F7-328616EFB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67850"/>
            <a:ext cx="3143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Source: final GTA compliance mega table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51730B-AA1D-4A7F-8E5C-BF37F7DE6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0200" y="9467850"/>
            <a:ext cx="666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672768765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0" name="Picture 19" descr="fluid-background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18">
            <a:extLst xmlns:a="http://schemas.openxmlformats.org/drawingml/2006/main">
              <a:ext uri="{FF2B5EF4-FFF2-40B4-BE49-F238E27FC236}">
                <a16:creationId xmlns:a16="http://schemas.microsoft.com/office/drawing/2014/main" id="{D33C883B-D637-4322-8C7E-4548C3F38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173736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  <a:latin typeface="Arial"/>
              </a:rPr>
              <a:t>SIMCAR Digital · ≤ 4 modules · property overview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E0A976-57BD-479B-978B-E38CCC242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62000"/>
            <a:ext cx="474345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3.54 fiscal modules · GTA direct supplier · 588 slaughter cattle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00DC45-73E1-43BE-A70D-23DE05FCF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3F6B"/>
          </a:solidFill>
          <a:ln xmlns:a="http://schemas.openxmlformats.org/drawingml/2006/main" w="0">
            <a:solidFill>
              <a:srgbClr val="EC3F6B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fdf1f0bd964695"/>
          <a:stretch xmlns:a="http://schemas.openxmlformats.org/drawingml/2006/main"/>
        </p:blipFill>
        <p:spPr>
          <a:xfrm xmlns:a="http://schemas.openxmlformats.org/drawingml/2006/main">
            <a:off x="2533050" y="1304925"/>
            <a:ext cx="8176508" cy="78771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EC2AA3-A6A6-4226-8901-36465F4F1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18097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Property area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05B48F-E32F-41F0-9D7E-193CA23DF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18097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2C94C"/>
                </a:solidFill>
              </a:defRPr>
            </a:pPr>
            <a:r>
              <a:rPr sz="2000" b="1">
                <a:solidFill>
                  <a:srgbClr val="F2C94C"/>
                </a:solidFill>
                <a:latin typeface="Arial"/>
              </a:rPr>
              <a:t>283.08 ha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02432C-E2EB-4CFE-8D30-98A4594AF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31242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Forest formation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274179-8B4C-4E69-8E67-A76687591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31242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2C94C"/>
                </a:solidFill>
              </a:defRPr>
            </a:pPr>
            <a:r>
              <a:rPr sz="2000" b="1">
                <a:solidFill>
                  <a:srgbClr val="F2C94C"/>
                </a:solidFill>
                <a:latin typeface="Arial"/>
              </a:rPr>
              <a:t>127.12 ha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63B807-2379-460C-8484-0AC337A4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44386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Cerrado formation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2DA221-F620-41C5-B301-EEA037EC7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44386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2C94C"/>
                </a:solidFill>
              </a:defRPr>
            </a:pPr>
            <a:r>
              <a:rPr sz="2000" b="1">
                <a:solidFill>
                  <a:srgbClr val="F2C94C"/>
                </a:solidFill>
                <a:latin typeface="Arial"/>
              </a:rPr>
              <a:t>155.96 ha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0E43B8-C62C-4618-959E-07E911473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57531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Current native vegetation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B98108-1CEC-41B7-A357-E8EBD2242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57531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2C94C"/>
                </a:solidFill>
              </a:defRPr>
            </a:pPr>
            <a:r>
              <a:rPr sz="2000" b="1">
                <a:solidFill>
                  <a:srgbClr val="F2C94C"/>
                </a:solidFill>
                <a:latin typeface="Arial"/>
              </a:rPr>
              <a:t>52.15 ha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71D279-3C66-4772-8DF2-096F11BF4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70675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Baseline liability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67D69D-5285-4229-8247-743833B49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70675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2C94C"/>
                </a:solidFill>
              </a:defRPr>
            </a:pPr>
            <a:r>
              <a:rPr sz="2000" b="1">
                <a:solidFill>
                  <a:srgbClr val="F2C94C"/>
                </a:solidFill>
                <a:latin typeface="Arial"/>
              </a:rPr>
              <a:t>104.30 ha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01B5A6-FB98-40E2-BE35-ECAE78251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83820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With secondary vegetation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7DCE07-2A86-4408-A00C-0E9736399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83820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2C94C"/>
                </a:solidFill>
              </a:defRPr>
            </a:pPr>
            <a:r>
              <a:rPr sz="2000" b="1">
                <a:solidFill>
                  <a:srgbClr val="F2C94C"/>
                </a:solidFill>
                <a:latin typeface="Arial"/>
              </a:rPr>
              <a:t>76.44 ha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87A32B-10BE-42B4-83CD-4510424D1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277350"/>
            <a:ext cx="173736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CAR: MT-5102603-D132829CFF784C919A4FA35C7A5F32A5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6294CB-0C1D-4130-A078-496EF6385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96450"/>
            <a:ext cx="3143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Source: final GTA compliance mega table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81FF90-DD49-4CEF-9D81-89FCA2853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64050" y="9696450"/>
            <a:ext cx="666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806863095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7" name="Picture 6" descr="fluid-background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19">
            <a:extLst xmlns:a="http://schemas.openxmlformats.org/drawingml/2006/main">
              <a:ext uri="{FF2B5EF4-FFF2-40B4-BE49-F238E27FC236}">
                <a16:creationId xmlns:a16="http://schemas.microsoft.com/office/drawing/2014/main" id="{BEBA4B4C-245C-4C15-A772-11258071E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  <a:latin typeface="Arial"/>
              </a:rPr>
              <a:t>SIMCAR Digital · ≤ 4 modules · Legal Reserve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4E14F2-7191-4223-8ECE-A7FD00920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47625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RADAM, current native vegetation, and secondary vegetation.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36AB5C-375D-494F-9755-CB5AEBBE6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B5"/>
          </a:solidFill>
          <a:ln xmlns:a="http://schemas.openxmlformats.org/drawingml/2006/main" w="0">
            <a:solidFill>
              <a:srgbClr val="11B8B5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92aa7eeef145fb"/>
          <a:stretch xmlns:a="http://schemas.openxmlformats.org/drawingml/2006/main"/>
        </p:blipFill>
        <p:spPr>
          <a:xfrm xmlns:a="http://schemas.openxmlformats.org/drawingml/2006/main">
            <a:off x="323850" y="3158103"/>
            <a:ext cx="17640300" cy="4561344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721C6D-5ACF-43EA-88DA-E72799AD2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753600"/>
            <a:ext cx="3086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7731A7-08D3-4CE3-A884-728D43802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92650" y="9772650"/>
            <a:ext cx="571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053292658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7" name="Picture 6" descr="fluid-background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20">
            <a:extLst xmlns:a="http://schemas.openxmlformats.org/drawingml/2006/main">
              <a:ext uri="{FF2B5EF4-FFF2-40B4-BE49-F238E27FC236}">
                <a16:creationId xmlns:a16="http://schemas.microsoft.com/office/drawing/2014/main" id="{044329D1-B68A-4216-AB55-B6AEBD003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  <a:latin typeface="Arial"/>
              </a:rPr>
              <a:t>SIMCAR Digital · ≤ 4 modules · Temporal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160147-8A0C-4C40-9FCE-068833627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48768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The 2000 and 2008 cut-offs and post-2008 alternative land use.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0D13C3-4762-4804-BFC2-46A87C312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3F6B"/>
          </a:solidFill>
          <a:ln xmlns:a="http://schemas.openxmlformats.org/drawingml/2006/main" w="0">
            <a:solidFill>
              <a:srgbClr val="EC3F6B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93edaa510f413d"/>
          <a:stretch xmlns:a="http://schemas.openxmlformats.org/drawingml/2006/main"/>
        </p:blipFill>
        <p:spPr>
          <a:xfrm xmlns:a="http://schemas.openxmlformats.org/drawingml/2006/main">
            <a:off x="323850" y="3226212"/>
            <a:ext cx="17640300" cy="4425126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94D78B-B3F4-4000-9645-0358886B0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753600"/>
            <a:ext cx="3086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D0831C-CE62-40ED-BD42-44FA23F9E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92650" y="9772650"/>
            <a:ext cx="571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750883449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7" name="Picture 6" descr="fluid-background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21">
            <a:extLst xmlns:a="http://schemas.openxmlformats.org/drawingml/2006/main">
              <a:ext uri="{FF2B5EF4-FFF2-40B4-BE49-F238E27FC236}">
                <a16:creationId xmlns:a16="http://schemas.microsoft.com/office/drawing/2014/main" id="{037AD077-6D1A-4B6F-91CA-D6A700D15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  <a:latin typeface="Arial"/>
              </a:rPr>
              <a:t>SIMCAR Digital · ≤ 4 modules · APP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F9DFF6-E0A5-4C81-A651-5BD38E19D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53340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APP extent, vegetation relevant to APP, and pre-/post-2008 liabilities.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CD216C-006B-4786-82EB-BCB3C115D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B5"/>
          </a:solidFill>
          <a:ln xmlns:a="http://schemas.openxmlformats.org/drawingml/2006/main" w="0">
            <a:solidFill>
              <a:srgbClr val="11B8B5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5ee13659a24218"/>
          <a:stretch xmlns:a="http://schemas.openxmlformats.org/drawingml/2006/main"/>
        </p:blipFill>
        <p:spPr>
          <a:xfrm xmlns:a="http://schemas.openxmlformats.org/drawingml/2006/main">
            <a:off x="323850" y="3457873"/>
            <a:ext cx="17640300" cy="396180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2B025A-BF41-468A-AF85-54E9F2BD3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753600"/>
            <a:ext cx="3086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2090C8-4E8E-45D5-8848-4915F49D6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92650" y="9772650"/>
            <a:ext cx="571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612850284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0" name="Picture 19" descr="fluid-background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22">
            <a:extLst xmlns:a="http://schemas.openxmlformats.org/drawingml/2006/main">
              <a:ext uri="{FF2B5EF4-FFF2-40B4-BE49-F238E27FC236}">
                <a16:creationId xmlns:a16="http://schemas.microsoft.com/office/drawing/2014/main" id="{A8DF45A0-5877-4FF4-B673-D15A9C479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7200"/>
            <a:ext cx="167259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  <a:latin typeface="Arial"/>
              </a:rPr>
              <a:t>SIMCAR Digital · ≤ 4 modules · calculation chain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F70527-6D59-4B31-BC63-003B6EDF3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90600"/>
            <a:ext cx="66294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Article 67 selects the LR requirement; APP and secondary vegetation remain separate.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24BAB9-B6BC-464D-92D7-503D81DC1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5255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3F6B"/>
          </a:solidFill>
          <a:ln xmlns:a="http://schemas.openxmlformats.org/drawingml/2006/main" w="0">
            <a:solidFill>
              <a:srgbClr val="EC3F6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FC6EFB-C4EE-4DFA-B6CD-FDC07A1AF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771650"/>
            <a:ext cx="7810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2C94C"/>
                </a:solidFill>
              </a:defRPr>
            </a:pPr>
            <a:r>
              <a:rPr sz="2000" b="1">
                <a:solidFill>
                  <a:srgbClr val="F2C94C"/>
                </a:solidFill>
                <a:latin typeface="Arial"/>
              </a:rPr>
              <a:t>Article 67 requirement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29CE89-BBCB-4BA3-9EB2-FFC2EA23C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33600"/>
            <a:ext cx="7810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D2A87"/>
                </a:solidFill>
              </a:defRPr>
            </a:pPr>
            <a:r>
              <a:rPr sz="2000">
                <a:solidFill>
                  <a:srgbClr val="3D2A87"/>
                </a:solidFill>
                <a:latin typeface="Arial"/>
              </a:rPr>
              <a:t>MIN(Article 12 ceiling, vegetation in 2008)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4EA9C4-5CC4-414A-B373-1864B0BCB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24150"/>
            <a:ext cx="7810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2C94C"/>
                </a:solidFill>
              </a:defRPr>
            </a:pPr>
            <a:r>
              <a:rPr sz="2000" b="1">
                <a:solidFill>
                  <a:srgbClr val="F2C94C"/>
                </a:solidFill>
                <a:latin typeface="Arial"/>
              </a:rPr>
              <a:t>= 154.64 ha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8A0147-D146-4F63-BC16-E9B7ACF1A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1771650"/>
            <a:ext cx="7810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2C94C"/>
                </a:solidFill>
              </a:defRPr>
            </a:pPr>
            <a:r>
              <a:rPr sz="2000" b="1">
                <a:solidFill>
                  <a:srgbClr val="F2C94C"/>
                </a:solidFill>
                <a:latin typeface="Arial"/>
              </a:rPr>
              <a:t>Legal Reserve deficit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E9B5CB-E941-4841-8A05-AAADFCF4E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133600"/>
            <a:ext cx="7810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D2A87"/>
                </a:solidFill>
              </a:defRPr>
            </a:pPr>
            <a:r>
              <a:rPr sz="2000">
                <a:solidFill>
                  <a:srgbClr val="3D2A87"/>
                </a:solidFill>
                <a:latin typeface="Arial"/>
              </a:rPr>
              <a:t>154.64 ha − 52.15 ha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C63423-98BA-4A3A-B088-5F7932073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724150"/>
            <a:ext cx="7810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2C94C"/>
                </a:solidFill>
              </a:defRPr>
            </a:pPr>
            <a:r>
              <a:rPr sz="2000" b="1">
                <a:solidFill>
                  <a:srgbClr val="F2C94C"/>
                </a:solidFill>
                <a:latin typeface="Arial"/>
              </a:rPr>
              <a:t>= 102.50 ha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CCA600-99F4-4473-88C7-00107D288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067300"/>
            <a:ext cx="7810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2C94C"/>
                </a:solidFill>
              </a:defRPr>
            </a:pPr>
            <a:r>
              <a:rPr sz="2000" b="1">
                <a:solidFill>
                  <a:srgbClr val="F2C94C"/>
                </a:solidFill>
                <a:latin typeface="Arial"/>
              </a:rPr>
              <a:t>LR pathway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910A4F-B851-45CA-B36A-5B5534C0A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429250"/>
            <a:ext cx="7810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D2A87"/>
                </a:solidFill>
              </a:defRPr>
            </a:pPr>
            <a:r>
              <a:rPr sz="2000">
                <a:solidFill>
                  <a:srgbClr val="3D2A87"/>
                </a:solidFill>
                <a:latin typeface="Arial"/>
              </a:rPr>
              <a:t>Restore = MIN(post-2008 clearing, LR deficit)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175C79-3ED0-4022-9EF0-216CE2455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6019800"/>
            <a:ext cx="7810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2C94C"/>
                </a:solidFill>
              </a:defRPr>
            </a:pPr>
            <a:r>
              <a:rPr sz="2000" b="1">
                <a:solidFill>
                  <a:srgbClr val="F2C94C"/>
                </a:solidFill>
                <a:latin typeface="Arial"/>
              </a:rPr>
              <a:t>= 18.96 ha restore · 83.54 ha compensate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159EEF-1917-4B34-BC85-73A6DDC24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5067300"/>
            <a:ext cx="7810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2C94C"/>
                </a:solidFill>
              </a:defRPr>
            </a:pPr>
            <a:r>
              <a:rPr sz="2000" b="1">
                <a:solidFill>
                  <a:srgbClr val="F2C94C"/>
                </a:solidFill>
                <a:latin typeface="Arial"/>
              </a:rPr>
              <a:t>APP restoration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DCF30C-342C-40EA-8A83-DA8B7A2DD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5429250"/>
            <a:ext cx="7810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D2A87"/>
                </a:solidFill>
              </a:defRPr>
            </a:pPr>
            <a:r>
              <a:rPr sz="2000">
                <a:solidFill>
                  <a:srgbClr val="3D2A87"/>
                </a:solidFill>
                <a:latin typeface="Arial"/>
              </a:rPr>
              <a:t>Pre-2008 component after cap + post-2008 APP clearing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432789-B4F0-406B-9C95-4ACC66C35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6019800"/>
            <a:ext cx="7810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2C94C"/>
                </a:solidFill>
              </a:defRPr>
            </a:pPr>
            <a:r>
              <a:rPr sz="2000" b="1">
                <a:solidFill>
                  <a:srgbClr val="F2C94C"/>
                </a:solidFill>
                <a:latin typeface="Arial"/>
              </a:rPr>
              <a:t>= 1.80 ha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31C16D-3B23-466D-BEA1-ED29245E1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248650"/>
            <a:ext cx="687705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EC3F6B"/>
                </a:solidFill>
              </a:defRPr>
            </a:pPr>
            <a:r>
              <a:rPr sz="2625" b="1">
                <a:solidFill>
                  <a:srgbClr val="EC3F6B"/>
                </a:solidFill>
                <a:latin typeface="Arial"/>
              </a:rPr>
              <a:t>BASELINE  104.30 ha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7E59DA-534E-490A-8F08-907B5CB03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8248650"/>
            <a:ext cx="962025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47D72"/>
                </a:solidFill>
              </a:defRPr>
            </a:pPr>
            <a:r>
              <a:rPr sz="2400" b="1">
                <a:solidFill>
                  <a:srgbClr val="147D72"/>
                </a:solidFill>
                <a:latin typeface="Arial"/>
              </a:rPr>
              <a:t>WITH SECONDARY  76.44 ha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576F62-48F0-4C5C-ACEA-D85E2998D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67850"/>
            <a:ext cx="3143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Source: final GTA compliance mega table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40B379-2FE8-4144-B8AB-560657985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0200" y="9467850"/>
            <a:ext cx="666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976993393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0" name="Picture 19" descr="fluid-background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23">
            <a:extLst xmlns:a="http://schemas.openxmlformats.org/drawingml/2006/main">
              <a:ext uri="{FF2B5EF4-FFF2-40B4-BE49-F238E27FC236}">
                <a16:creationId xmlns:a16="http://schemas.microsoft.com/office/drawing/2014/main" id="{01D4EC3D-18DA-46C8-845E-81BB1776D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173736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  <a:latin typeface="Arial"/>
              </a:rPr>
              <a:t>SIMCAR Proxy · &gt; 4 modules · property overview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C483FA-06AA-48EC-9E29-202316888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62000"/>
            <a:ext cx="4838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10.51 fiscal modules · GTA direct supplier · 591 slaughter cattle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9EDEB9-1407-4C4A-A63F-D98AC29D3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B5"/>
          </a:solidFill>
          <a:ln xmlns:a="http://schemas.openxmlformats.org/drawingml/2006/main" w="0">
            <a:solidFill>
              <a:srgbClr val="11B8B5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95f654602c401a"/>
          <a:stretch xmlns:a="http://schemas.openxmlformats.org/drawingml/2006/main"/>
        </p:blipFill>
        <p:spPr>
          <a:xfrm xmlns:a="http://schemas.openxmlformats.org/drawingml/2006/main">
            <a:off x="2533050" y="1304925"/>
            <a:ext cx="8176508" cy="78771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180148-0B97-4731-9834-068692DA0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18097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Property area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8DAD31-3180-48B0-A971-00C622719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18097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839.84 ha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95BD75-EFFF-40DE-A92C-5CA27D3E3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31242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Forest formation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C7743F-7656-416E-86BA-59B07183A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31242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721.30 ha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E66E9F-29BC-452F-A93F-5F4708402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44386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Cerrado formation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17028D-70B4-489F-BBD4-C286785A6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44386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118.54 ha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B6DE6D-8065-4075-B8D9-EB97E6BBA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57531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Current native vegetation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8180FD-4B96-4DF6-BC4A-B96F30E26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57531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277.93 ha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5E7F37-434C-4CAD-9611-9396D1361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70675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Baseline liability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A7568C-EB8D-4FDA-9CBB-86CB7D2DB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70675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138.98 ha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AF9970-606D-47B7-B9E6-1205D7CB1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83820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With secondary vegetation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DDE20C-4D2A-4247-BD6E-0B0433DF9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83820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114.19 ha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409EF2-23AE-4D9D-B0B5-CF1B6948A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277350"/>
            <a:ext cx="173736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CAR: MT-5106828-23ABB407C9334E9F864BC6C07D00148C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59B0ED-5B89-408D-AC3A-75CDF6199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96450"/>
            <a:ext cx="3143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Source: final GTA compliance mega table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9BDA96-3573-4896-9CF7-EFBA5E711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64050" y="9696450"/>
            <a:ext cx="666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512044822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7" name="Picture 6" descr="fluid-background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24">
            <a:extLst xmlns:a="http://schemas.openxmlformats.org/drawingml/2006/main">
              <a:ext uri="{FF2B5EF4-FFF2-40B4-BE49-F238E27FC236}">
                <a16:creationId xmlns:a16="http://schemas.microsoft.com/office/drawing/2014/main" id="{E098D678-5F37-4671-857B-5A53F1CE6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  <a:latin typeface="Arial"/>
              </a:rPr>
              <a:t>SIMCAR Proxy · &gt; 4 modules · Legal Reserve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54EDCD-8FFE-41F9-8316-F1B52B928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47625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RADAM, current native vegetation, and secondary vegetation.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EA5E13-6629-4707-AB5E-B266359E0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3F6B"/>
          </a:solidFill>
          <a:ln xmlns:a="http://schemas.openxmlformats.org/drawingml/2006/main" w="0">
            <a:solidFill>
              <a:srgbClr val="EC3F6B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8f3fbd9acc495f"/>
          <a:stretch xmlns:a="http://schemas.openxmlformats.org/drawingml/2006/main"/>
        </p:blipFill>
        <p:spPr>
          <a:xfrm xmlns:a="http://schemas.openxmlformats.org/drawingml/2006/main">
            <a:off x="323850" y="3158103"/>
            <a:ext cx="17640300" cy="4561344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2D0A6F-C349-4BAF-8C83-93FC6F5E9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753600"/>
            <a:ext cx="3086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67C36F-8F4E-4F78-92BB-8D75170CB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92650" y="9772650"/>
            <a:ext cx="571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38621605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7" name="Picture 6" descr="fluid-background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25">
            <a:extLst xmlns:a="http://schemas.openxmlformats.org/drawingml/2006/main">
              <a:ext uri="{FF2B5EF4-FFF2-40B4-BE49-F238E27FC236}">
                <a16:creationId xmlns:a16="http://schemas.microsoft.com/office/drawing/2014/main" id="{A38C48E4-9407-4CF2-ABE3-937141E57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  <a:latin typeface="Arial"/>
              </a:rPr>
              <a:t>SIMCAR Proxy · &gt; 4 modules · Temporal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C4CFCC-39EC-4185-A444-93172935B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48768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The 2000 and 2008 cut-offs and post-2008 alternative land use.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A7F0F0-797A-4E96-BE5A-00D4BA9C0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B5"/>
          </a:solidFill>
          <a:ln xmlns:a="http://schemas.openxmlformats.org/drawingml/2006/main" w="0">
            <a:solidFill>
              <a:srgbClr val="11B8B5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cfd3809eb845d7"/>
          <a:stretch xmlns:a="http://schemas.openxmlformats.org/drawingml/2006/main"/>
        </p:blipFill>
        <p:spPr>
          <a:xfrm xmlns:a="http://schemas.openxmlformats.org/drawingml/2006/main">
            <a:off x="323850" y="3226212"/>
            <a:ext cx="17640300" cy="4425126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8E7CBE-A4C7-4F8A-AD88-404BFEC2F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753600"/>
            <a:ext cx="3086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CFAF63-45B1-45F8-9C34-3F4132031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92650" y="9772650"/>
            <a:ext cx="571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781248587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7" name="Picture 6" descr="fluid-background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26">
            <a:extLst xmlns:a="http://schemas.openxmlformats.org/drawingml/2006/main">
              <a:ext uri="{FF2B5EF4-FFF2-40B4-BE49-F238E27FC236}">
                <a16:creationId xmlns:a16="http://schemas.microsoft.com/office/drawing/2014/main" id="{102C61BD-CC54-4332-8A84-22F04C720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  <a:latin typeface="Arial"/>
              </a:rPr>
              <a:t>SIMCAR Proxy · &gt; 4 modules · APP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E330EB-29C8-48A7-A96A-290D85A51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53340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APP extent, vegetation relevant to APP, and pre-/post-2008 liabilities.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0004F5-DDBA-4972-BF0F-A86278D44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3F6B"/>
          </a:solidFill>
          <a:ln xmlns:a="http://schemas.openxmlformats.org/drawingml/2006/main" w="0">
            <a:solidFill>
              <a:srgbClr val="EC3F6B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80dbdb35b6466f"/>
          <a:stretch xmlns:a="http://schemas.openxmlformats.org/drawingml/2006/main"/>
        </p:blipFill>
        <p:spPr>
          <a:xfrm xmlns:a="http://schemas.openxmlformats.org/drawingml/2006/main">
            <a:off x="323850" y="3457873"/>
            <a:ext cx="17640300" cy="396180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65FA3A-9380-445B-A213-F691596A2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753600"/>
            <a:ext cx="3086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87F2EB-823F-4BF0-AF73-9BE458F41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92650" y="9772650"/>
            <a:ext cx="571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06592617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0" name="Picture 19" descr="fluid-background-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27">
            <a:extLst xmlns:a="http://schemas.openxmlformats.org/drawingml/2006/main">
              <a:ext uri="{FF2B5EF4-FFF2-40B4-BE49-F238E27FC236}">
                <a16:creationId xmlns:a16="http://schemas.microsoft.com/office/drawing/2014/main" id="{4E1DCF4B-5796-4ED8-88A9-EA7854D26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7200"/>
            <a:ext cx="167259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  <a:latin typeface="Arial"/>
              </a:rPr>
              <a:t>SIMCAR Proxy · &gt; 4 modules · calculation chain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2E2D21-B760-4AD5-A8FC-3D5F12DCA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90600"/>
            <a:ext cx="66294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Article 68 selects the LR requirement; APP and secondary vegetation remain separate.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3AAFB2-6CD5-4811-8C80-085EEDDC0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5255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B5"/>
          </a:solidFill>
          <a:ln xmlns:a="http://schemas.openxmlformats.org/drawingml/2006/main" w="0">
            <a:solidFill>
              <a:srgbClr val="11B8B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1C735B-CCE0-42A9-8959-EFDF247E9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771650"/>
            <a:ext cx="7810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Article 68 requirement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402E8E-0BF5-44E7-8042-A87D8A95A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33600"/>
            <a:ext cx="7810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D2A87"/>
                </a:solidFill>
              </a:defRPr>
            </a:pPr>
            <a:r>
              <a:rPr sz="2000">
                <a:solidFill>
                  <a:srgbClr val="3D2A87"/>
                </a:solidFill>
                <a:latin typeface="Arial"/>
              </a:rPr>
              <a:t>IF vegetation 2000 ≥ historical floor → floor; ELSE → Article 12 ceiling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7B9A72-A8DF-4D17-A4F5-993A3872F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24150"/>
            <a:ext cx="7810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= 384.36 ha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E212AF-8DCD-416D-A2B3-12E2374BF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1771650"/>
            <a:ext cx="7810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Legal Reserve deficit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1BCAE2-C25A-449F-9795-8061F6B64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133600"/>
            <a:ext cx="7810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D2A87"/>
                </a:solidFill>
              </a:defRPr>
            </a:pPr>
            <a:r>
              <a:rPr sz="2000">
                <a:solidFill>
                  <a:srgbClr val="3D2A87"/>
                </a:solidFill>
                <a:latin typeface="Arial"/>
              </a:rPr>
              <a:t>384.36 ha − 277.93 ha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B39A20-5F46-4659-ACB7-1847602D4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724150"/>
            <a:ext cx="7810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= 106.43 ha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4D6F1A-0B19-458A-A51D-BCA1803CB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067300"/>
            <a:ext cx="7810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LR pathway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43720D-02D6-4D3A-AD7F-DBE964268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429250"/>
            <a:ext cx="7810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D2A87"/>
                </a:solidFill>
              </a:defRPr>
            </a:pPr>
            <a:r>
              <a:rPr sz="2000">
                <a:solidFill>
                  <a:srgbClr val="3D2A87"/>
                </a:solidFill>
                <a:latin typeface="Arial"/>
              </a:rPr>
              <a:t>Restore = MIN(post-2008 clearing, LR deficit)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47B9FB-C24A-4F8F-992C-EF30125F8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6019800"/>
            <a:ext cx="7810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= 106.43 ha restore · 0.00 ha compensate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257BA5-1B86-403E-9353-5D2B8C1E9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5067300"/>
            <a:ext cx="7810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APP restoration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C80E3C-AEAD-4209-8006-BE2B4F3CC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5429250"/>
            <a:ext cx="7810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D2A87"/>
                </a:solidFill>
              </a:defRPr>
            </a:pPr>
            <a:r>
              <a:rPr sz="2000">
                <a:solidFill>
                  <a:srgbClr val="3D2A87"/>
                </a:solidFill>
                <a:latin typeface="Arial"/>
              </a:rPr>
              <a:t>Pre-2008 component after cap + post-2008 APP clearing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ACB7F4-44C5-4194-B2F8-9C4FE6189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6019800"/>
            <a:ext cx="7810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= 32.55 ha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2B1B32-0040-4622-A294-6CA4BB528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248650"/>
            <a:ext cx="687705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EC3F6B"/>
                </a:solidFill>
              </a:defRPr>
            </a:pPr>
            <a:r>
              <a:rPr sz="2625" b="1">
                <a:solidFill>
                  <a:srgbClr val="EC3F6B"/>
                </a:solidFill>
                <a:latin typeface="Arial"/>
              </a:rPr>
              <a:t>BASELINE  138.98 ha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C74A0B-2D7A-456E-91A7-0AF12D364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8248650"/>
            <a:ext cx="962025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47D72"/>
                </a:solidFill>
              </a:defRPr>
            </a:pPr>
            <a:r>
              <a:rPr sz="2400" b="1">
                <a:solidFill>
                  <a:srgbClr val="147D72"/>
                </a:solidFill>
                <a:latin typeface="Arial"/>
              </a:rPr>
              <a:t>WITH SECONDARY  114.19 ha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48C04A-534B-4AA1-8F07-63BD7129A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67850"/>
            <a:ext cx="3143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Source: final GTA compliance mega table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E3EE37-F7F9-481E-AFEE-21804232D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0200" y="9467850"/>
            <a:ext cx="666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87272490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0" name="Picture 19" descr="fluid-background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28">
            <a:extLst xmlns:a="http://schemas.openxmlformats.org/drawingml/2006/main">
              <a:ext uri="{FF2B5EF4-FFF2-40B4-BE49-F238E27FC236}">
                <a16:creationId xmlns:a16="http://schemas.microsoft.com/office/drawing/2014/main" id="{0044278A-AC7D-4437-91A8-BC6DAFDA8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173736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  <a:latin typeface="Arial"/>
              </a:rPr>
              <a:t>SIMCAR Proxy · ≤ 4 modules · property overview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834D2B-FFE7-471C-80C0-C2BCFC4F8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62000"/>
            <a:ext cx="474345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1.87 fiscal modules · GTA direct supplier · 121 slaughter cattle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CE519D-28BB-4DA6-9932-6E6C1EB82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3F6B"/>
          </a:solidFill>
          <a:ln xmlns:a="http://schemas.openxmlformats.org/drawingml/2006/main" w="0">
            <a:solidFill>
              <a:srgbClr val="EC3F6B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859c9b739c467f"/>
          <a:stretch xmlns:a="http://schemas.openxmlformats.org/drawingml/2006/main"/>
        </p:blipFill>
        <p:spPr>
          <a:xfrm xmlns:a="http://schemas.openxmlformats.org/drawingml/2006/main">
            <a:off x="2049934" y="1304925"/>
            <a:ext cx="9142739" cy="78771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A9A9B3-C67D-4344-87BA-ECC5602C3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18097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Property area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D0459D-661D-4BB2-9A75-E3CB5588F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18097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2C94C"/>
                </a:solidFill>
              </a:defRPr>
            </a:pPr>
            <a:r>
              <a:rPr sz="2000" b="1">
                <a:solidFill>
                  <a:srgbClr val="F2C94C"/>
                </a:solidFill>
                <a:latin typeface="Arial"/>
              </a:rPr>
              <a:t>186.59 ha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4152D1-472A-493D-8794-BB8542E2C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31242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Forest formation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04DA7C-0F7F-4D9A-8961-9076CAF12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31242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2C94C"/>
                </a:solidFill>
              </a:defRPr>
            </a:pPr>
            <a:r>
              <a:rPr sz="2000" b="1">
                <a:solidFill>
                  <a:srgbClr val="F2C94C"/>
                </a:solidFill>
                <a:latin typeface="Arial"/>
              </a:rPr>
              <a:t>183.31 ha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227061-F009-45C9-BEA1-C7A340EAD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44386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Cerrado formation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9D2AB1-E7ED-4352-9B37-52D502288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44386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2C94C"/>
                </a:solidFill>
              </a:defRPr>
            </a:pPr>
            <a:r>
              <a:rPr sz="2000" b="1">
                <a:solidFill>
                  <a:srgbClr val="F2C94C"/>
                </a:solidFill>
                <a:latin typeface="Arial"/>
              </a:rPr>
              <a:t>3.28 ha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D6C1BC-D3E0-4F19-AA26-BDD9C112B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57531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Current native vegetation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5C9278-5244-4631-8BF8-9B10FB704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57531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2C94C"/>
                </a:solidFill>
              </a:defRPr>
            </a:pPr>
            <a:r>
              <a:rPr sz="2000" b="1">
                <a:solidFill>
                  <a:srgbClr val="F2C94C"/>
                </a:solidFill>
                <a:latin typeface="Arial"/>
              </a:rPr>
              <a:t>43.83 ha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E62875-9511-449E-8848-741A6B1FC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70675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Baseline liability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9A0CB3-BAD2-4D3C-8697-856870703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70675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2C94C"/>
                </a:solidFill>
              </a:defRPr>
            </a:pPr>
            <a:r>
              <a:rPr sz="2000" b="1">
                <a:solidFill>
                  <a:srgbClr val="F2C94C"/>
                </a:solidFill>
                <a:latin typeface="Arial"/>
              </a:rPr>
              <a:t>122.74 ha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42FDA3-CBC1-4A9A-8127-D06964AAA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83820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With secondary vegetation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928D26-2777-4FB4-AC28-41E049EBB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83820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2C94C"/>
                </a:solidFill>
              </a:defRPr>
            </a:pPr>
            <a:r>
              <a:rPr sz="2000" b="1">
                <a:solidFill>
                  <a:srgbClr val="F2C94C"/>
                </a:solidFill>
                <a:latin typeface="Arial"/>
              </a:rPr>
              <a:t>107.65 ha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9EE9EC-A6E6-4080-92D9-243F705CD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277350"/>
            <a:ext cx="173736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CAR: MT-5103304-CDD5B177BF43405FA86B66729E82F424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B7D579-F819-4E34-B6C6-51910DED8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96450"/>
            <a:ext cx="3143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Source: final GTA compliance mega table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8C9127-0CC7-45D9-B76D-4FC74204F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64050" y="9696450"/>
            <a:ext cx="666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252064997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7" name="Picture 6" descr="fluid-background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29">
            <a:extLst xmlns:a="http://schemas.openxmlformats.org/drawingml/2006/main">
              <a:ext uri="{FF2B5EF4-FFF2-40B4-BE49-F238E27FC236}">
                <a16:creationId xmlns:a16="http://schemas.microsoft.com/office/drawing/2014/main" id="{708186BF-5051-44CB-8543-03DC26468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  <a:latin typeface="Arial"/>
              </a:rPr>
              <a:t>SIMCAR Proxy · ≤ 4 modules · Legal Reserve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53CF6B-A62C-478C-81DB-AA30BA360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47625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RADAM, current native vegetation, and secondary vegetation.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D1FCDF-4CE3-49E7-AAE0-A8B9F64E4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B5"/>
          </a:solidFill>
          <a:ln xmlns:a="http://schemas.openxmlformats.org/drawingml/2006/main" w="0">
            <a:solidFill>
              <a:srgbClr val="11B8B5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c82997f4d246f5"/>
          <a:stretch xmlns:a="http://schemas.openxmlformats.org/drawingml/2006/main"/>
        </p:blipFill>
        <p:spPr>
          <a:xfrm xmlns:a="http://schemas.openxmlformats.org/drawingml/2006/main">
            <a:off x="323850" y="3216230"/>
            <a:ext cx="17640300" cy="444509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8DCD2A-D70E-425E-8399-DF895FE69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753600"/>
            <a:ext cx="3086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979F5B-B367-46D8-A789-67E0F0A4A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92650" y="9772650"/>
            <a:ext cx="571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01971406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7" name="Picture 6" descr="fluid-background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30">
            <a:extLst xmlns:a="http://schemas.openxmlformats.org/drawingml/2006/main">
              <a:ext uri="{FF2B5EF4-FFF2-40B4-BE49-F238E27FC236}">
                <a16:creationId xmlns:a16="http://schemas.microsoft.com/office/drawing/2014/main" id="{BC6A2B29-7312-4965-881F-0E0048060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  <a:latin typeface="Arial"/>
              </a:rPr>
              <a:t>SIMCAR Proxy · ≤ 4 modules · Temporal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8FECA0-7D34-48EC-805F-9580AFF80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48768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The 2000 and 2008 cut-offs and post-2008 alternative land use.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9ED6C4-02A1-4DAF-8F70-B37269C24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3F6B"/>
          </a:solidFill>
          <a:ln xmlns:a="http://schemas.openxmlformats.org/drawingml/2006/main" w="0">
            <a:solidFill>
              <a:srgbClr val="EC3F6B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3e3be8bece4f3f"/>
          <a:stretch xmlns:a="http://schemas.openxmlformats.org/drawingml/2006/main"/>
        </p:blipFill>
        <p:spPr>
          <a:xfrm xmlns:a="http://schemas.openxmlformats.org/drawingml/2006/main">
            <a:off x="323850" y="3216230"/>
            <a:ext cx="17640300" cy="444509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FDD0CA-F846-46F1-B540-A9F6A2997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753600"/>
            <a:ext cx="3086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3FC4C7-8F08-48BC-9A99-60BED2852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92650" y="9772650"/>
            <a:ext cx="571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610520537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7" name="Picture 6" descr="fluid-background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31">
            <a:extLst xmlns:a="http://schemas.openxmlformats.org/drawingml/2006/main">
              <a:ext uri="{FF2B5EF4-FFF2-40B4-BE49-F238E27FC236}">
                <a16:creationId xmlns:a16="http://schemas.microsoft.com/office/drawing/2014/main" id="{16BB7947-6E53-4454-A948-1745B2E53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  <a:latin typeface="Arial"/>
              </a:rPr>
              <a:t>SIMCAR Proxy · ≤ 4 modules · APP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2FD194-2948-4CF7-B9C0-7A377E717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53340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APP extent, vegetation relevant to APP, and pre-/post-2008 liabilities.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A3D927-5198-43AF-9FBA-23433194D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B5"/>
          </a:solidFill>
          <a:ln xmlns:a="http://schemas.openxmlformats.org/drawingml/2006/main" w="0">
            <a:solidFill>
              <a:srgbClr val="11B8B5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ae910fe26841e0"/>
          <a:stretch xmlns:a="http://schemas.openxmlformats.org/drawingml/2006/main"/>
        </p:blipFill>
        <p:spPr>
          <a:xfrm xmlns:a="http://schemas.openxmlformats.org/drawingml/2006/main">
            <a:off x="323850" y="3281252"/>
            <a:ext cx="17640300" cy="431504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79BD15-24D1-437D-8F48-4566414D6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753600"/>
            <a:ext cx="3086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D3F0D4-8909-4734-996C-6612FA2A1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92650" y="9772650"/>
            <a:ext cx="571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852834602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0" name="Picture 19" descr="fluid-background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32">
            <a:extLst xmlns:a="http://schemas.openxmlformats.org/drawingml/2006/main">
              <a:ext uri="{FF2B5EF4-FFF2-40B4-BE49-F238E27FC236}">
                <a16:creationId xmlns:a16="http://schemas.microsoft.com/office/drawing/2014/main" id="{CBE661E0-5E22-43A5-909C-BAAEC28F4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7200"/>
            <a:ext cx="167259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  <a:latin typeface="Arial"/>
              </a:rPr>
              <a:t>SIMCAR Proxy · ≤ 4 modules · calculation chain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8FD1BF-EE66-40BA-BE18-14330506A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90600"/>
            <a:ext cx="66294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Article 67 selects the LR requirement; APP and secondary vegetation remain separate.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A2AF70-3F3D-48C0-AEAD-4DAB3CBBC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5255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3F6B"/>
          </a:solidFill>
          <a:ln xmlns:a="http://schemas.openxmlformats.org/drawingml/2006/main" w="0">
            <a:solidFill>
              <a:srgbClr val="EC3F6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D39FA9-FECA-4FE0-A25A-FDAEBD89F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771650"/>
            <a:ext cx="7810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2C94C"/>
                </a:solidFill>
              </a:defRPr>
            </a:pPr>
            <a:r>
              <a:rPr sz="2000" b="1">
                <a:solidFill>
                  <a:srgbClr val="F2C94C"/>
                </a:solidFill>
                <a:latin typeface="Arial"/>
              </a:rPr>
              <a:t>Article 67 requirement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E7153E-931D-43F7-BDDD-86B129489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33600"/>
            <a:ext cx="7810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D2A87"/>
                </a:solidFill>
              </a:defRPr>
            </a:pPr>
            <a:r>
              <a:rPr sz="2000">
                <a:solidFill>
                  <a:srgbClr val="3D2A87"/>
                </a:solidFill>
                <a:latin typeface="Arial"/>
              </a:rPr>
              <a:t>MIN(Article 12 ceiling, vegetation in 2008)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ABFEFD-2EF4-43EF-B82D-0D6FD778B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24150"/>
            <a:ext cx="7810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2C94C"/>
                </a:solidFill>
              </a:defRPr>
            </a:pPr>
            <a:r>
              <a:rPr sz="2000" b="1">
                <a:solidFill>
                  <a:srgbClr val="F2C94C"/>
                </a:solidFill>
                <a:latin typeface="Arial"/>
              </a:rPr>
              <a:t>= 147.79 ha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7AE5E4-15F7-45CF-B62D-CDD93D5EA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1771650"/>
            <a:ext cx="7810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2C94C"/>
                </a:solidFill>
              </a:defRPr>
            </a:pPr>
            <a:r>
              <a:rPr sz="2000" b="1">
                <a:solidFill>
                  <a:srgbClr val="F2C94C"/>
                </a:solidFill>
                <a:latin typeface="Arial"/>
              </a:rPr>
              <a:t>Legal Reserve deficit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0AC633-D570-450F-8B58-6D138E12D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133600"/>
            <a:ext cx="7810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D2A87"/>
                </a:solidFill>
              </a:defRPr>
            </a:pPr>
            <a:r>
              <a:rPr sz="2000">
                <a:solidFill>
                  <a:srgbClr val="3D2A87"/>
                </a:solidFill>
                <a:latin typeface="Arial"/>
              </a:rPr>
              <a:t>147.79 ha − 43.83 ha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B0FDEC-9447-4DBF-B2C6-D101B7630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724150"/>
            <a:ext cx="7810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2C94C"/>
                </a:solidFill>
              </a:defRPr>
            </a:pPr>
            <a:r>
              <a:rPr sz="2000" b="1">
                <a:solidFill>
                  <a:srgbClr val="F2C94C"/>
                </a:solidFill>
                <a:latin typeface="Arial"/>
              </a:rPr>
              <a:t>= 103.96 ha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7AB851-6D85-434B-997D-43FE11616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067300"/>
            <a:ext cx="7810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2C94C"/>
                </a:solidFill>
              </a:defRPr>
            </a:pPr>
            <a:r>
              <a:rPr sz="2000" b="1">
                <a:solidFill>
                  <a:srgbClr val="F2C94C"/>
                </a:solidFill>
                <a:latin typeface="Arial"/>
              </a:rPr>
              <a:t>LR pathway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2B28D6-9F76-4ADB-A2B6-523705BC4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429250"/>
            <a:ext cx="7810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D2A87"/>
                </a:solidFill>
              </a:defRPr>
            </a:pPr>
            <a:r>
              <a:rPr sz="2000">
                <a:solidFill>
                  <a:srgbClr val="3D2A87"/>
                </a:solidFill>
                <a:latin typeface="Arial"/>
              </a:rPr>
              <a:t>Restore = MIN(post-2008 clearing, LR deficit)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D4C46E-A37E-4D1F-865F-CD5AC8FE2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6019800"/>
            <a:ext cx="7810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2C94C"/>
                </a:solidFill>
              </a:defRPr>
            </a:pPr>
            <a:r>
              <a:rPr sz="2000" b="1">
                <a:solidFill>
                  <a:srgbClr val="F2C94C"/>
                </a:solidFill>
                <a:latin typeface="Arial"/>
              </a:rPr>
              <a:t>= 103.96 ha restore · 0.00 ha compensate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1FD249-A320-469E-8DE6-5C5F3E642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5067300"/>
            <a:ext cx="7810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2C94C"/>
                </a:solidFill>
              </a:defRPr>
            </a:pPr>
            <a:r>
              <a:rPr sz="2000" b="1">
                <a:solidFill>
                  <a:srgbClr val="F2C94C"/>
                </a:solidFill>
                <a:latin typeface="Arial"/>
              </a:rPr>
              <a:t>APP restoration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AC9A74-3F0E-4AE5-92A9-89E6C9A4F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5429250"/>
            <a:ext cx="7810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D2A87"/>
                </a:solidFill>
              </a:defRPr>
            </a:pPr>
            <a:r>
              <a:rPr sz="2000">
                <a:solidFill>
                  <a:srgbClr val="3D2A87"/>
                </a:solidFill>
                <a:latin typeface="Arial"/>
              </a:rPr>
              <a:t>Pre-2008 component after cap + post-2008 APP clearing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5AB64F-66D5-4730-83FA-4602C4234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6019800"/>
            <a:ext cx="7810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2C94C"/>
                </a:solidFill>
              </a:defRPr>
            </a:pPr>
            <a:r>
              <a:rPr sz="2000" b="1">
                <a:solidFill>
                  <a:srgbClr val="F2C94C"/>
                </a:solidFill>
                <a:latin typeface="Arial"/>
              </a:rPr>
              <a:t>= 18.78 ha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77132A-E5B8-4AE1-9CAE-F41AF771F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248650"/>
            <a:ext cx="687705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EC3F6B"/>
                </a:solidFill>
              </a:defRPr>
            </a:pPr>
            <a:r>
              <a:rPr sz="2625" b="1">
                <a:solidFill>
                  <a:srgbClr val="EC3F6B"/>
                </a:solidFill>
                <a:latin typeface="Arial"/>
              </a:rPr>
              <a:t>BASELINE  122.74 ha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63881B-0936-48B0-9AA5-C6946D825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8248650"/>
            <a:ext cx="962025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47D72"/>
                </a:solidFill>
              </a:defRPr>
            </a:pPr>
            <a:r>
              <a:rPr sz="2400" b="1">
                <a:solidFill>
                  <a:srgbClr val="147D72"/>
                </a:solidFill>
                <a:latin typeface="Arial"/>
              </a:rPr>
              <a:t>WITH SECONDARY  107.65 ha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5E4607-218E-406B-B426-5E4C233B5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67850"/>
            <a:ext cx="3143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Source: final GTA compliance mega table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62F773-1584-456E-8A08-E125EE53F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0200" y="9467850"/>
            <a:ext cx="666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1304520769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41" name="Picture 40" descr="fluid-background-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33">
            <a:extLst xmlns:a="http://schemas.openxmlformats.org/drawingml/2006/main">
              <a:ext uri="{FF2B5EF4-FFF2-40B4-BE49-F238E27FC236}">
                <a16:creationId xmlns:a16="http://schemas.microsoft.com/office/drawing/2014/main" id="{15F237E3-005C-4F39-93CB-EDBB991E4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69164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  <a:latin typeface="Arial"/>
              </a:rPr>
              <a:t>What the six examples make visible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3639EC-DE0A-4E24-B633-00E46093A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64389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The same calculation structure turns source-specific inputs into comparable results.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6D368A-1369-4CCA-B7D5-B3CBE5398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B5"/>
          </a:solidFill>
          <a:ln xmlns:a="http://schemas.openxmlformats.org/drawingml/2006/main" w="0">
            <a:solidFill>
              <a:srgbClr val="11B8B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9480A6-FD91-4FB2-BDFD-8092B65F5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38300"/>
            <a:ext cx="25527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3D2A87"/>
                </a:solidFill>
              </a:defRPr>
            </a:pPr>
            <a:r>
              <a:rPr sz="2000" b="1">
                <a:solidFill>
                  <a:srgbClr val="3D2A87"/>
                </a:solidFill>
                <a:latin typeface="Arial"/>
              </a:rPr>
              <a:t>Source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376B2E-0131-4E62-9311-A6B26D2F0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1638300"/>
            <a:ext cx="1943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3D2A87"/>
                </a:solidFill>
              </a:defRPr>
            </a:pPr>
            <a:r>
              <a:rPr sz="2000" b="1">
                <a:solidFill>
                  <a:srgbClr val="3D2A87"/>
                </a:solidFill>
                <a:latin typeface="Arial"/>
              </a:rPr>
              <a:t>Size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108444-EE12-4BDA-892E-9DF789C03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638300"/>
            <a:ext cx="53911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3D2A87"/>
                </a:solidFill>
              </a:defRPr>
            </a:pPr>
            <a:r>
              <a:rPr sz="2000" b="1">
                <a:solidFill>
                  <a:srgbClr val="3D2A87"/>
                </a:solidFill>
                <a:latin typeface="Arial"/>
              </a:rPr>
              <a:t>CAR record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A9F1BA-08FF-4CFD-BC8E-C2412856B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1638300"/>
            <a:ext cx="2705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3D2A87"/>
                </a:solidFill>
              </a:defRPr>
            </a:pPr>
            <a:r>
              <a:rPr sz="2000" b="1">
                <a:solidFill>
                  <a:srgbClr val="3D2A87"/>
                </a:solidFill>
                <a:latin typeface="Arial"/>
              </a:rPr>
              <a:t>Baseline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9E4E28-0528-41C2-88CC-3B990B7C3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82700" y="1638300"/>
            <a:ext cx="34480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3D2A87"/>
                </a:solidFill>
              </a:defRPr>
            </a:pPr>
            <a:r>
              <a:rPr sz="2000" b="1">
                <a:solidFill>
                  <a:srgbClr val="3D2A87"/>
                </a:solidFill>
                <a:latin typeface="Arial"/>
              </a:rPr>
              <a:t>With secondary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48EB15-AB69-49AC-8051-EE87F27B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19350"/>
            <a:ext cx="25527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3D2A87"/>
                </a:solidFill>
              </a:defRPr>
            </a:pPr>
            <a:r>
              <a:rPr sz="2000" b="1">
                <a:solidFill>
                  <a:srgbClr val="3D2A87"/>
                </a:solidFill>
                <a:latin typeface="Arial"/>
              </a:rPr>
              <a:t>SIMCAR Validated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869E23-5463-494D-98BD-EBD9B2345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419350"/>
            <a:ext cx="19431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3D2A87"/>
                </a:solidFill>
              </a:defRPr>
            </a:pPr>
            <a:r>
              <a:rPr sz="2000" b="0">
                <a:solidFill>
                  <a:srgbClr val="3D2A87"/>
                </a:solidFill>
                <a:latin typeface="Arial"/>
              </a:rPr>
              <a:t>&gt; 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63DC34-1626-4269-B553-3ADB957A2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419350"/>
            <a:ext cx="53911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3D2A87"/>
                </a:solidFill>
              </a:defRPr>
            </a:pPr>
            <a:r>
              <a:rPr sz="2000" b="0">
                <a:solidFill>
                  <a:srgbClr val="3D2A87"/>
                </a:solidFill>
                <a:latin typeface="Arial"/>
              </a:rPr>
              <a:t>MT-5107602-4838366C339B4</a:t>
            </a:r>
          </a:p>
          <a:p xmlns:a="http://schemas.openxmlformats.org/drawingml/2006/main">
            <a:pPr>
              <a:defRPr sz="1500" b="0">
                <a:solidFill>
                  <a:srgbClr val="3D2A87"/>
                </a:solidFill>
              </a:defRPr>
            </a:pPr>
            <a:r>
              <a:rPr sz="2000" b="0">
                <a:solidFill>
                  <a:srgbClr val="3D2A87"/>
                </a:solidFill>
                <a:latin typeface="Arial"/>
              </a:rPr>
              <a:t>9D69077F3DC87A8074C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E08227-F0BB-46BE-83F9-965A9CB42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419350"/>
            <a:ext cx="27051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3D2A87"/>
                </a:solidFill>
              </a:defRPr>
            </a:pPr>
            <a:r>
              <a:rPr sz="2000" b="0">
                <a:solidFill>
                  <a:srgbClr val="3D2A87"/>
                </a:solidFill>
                <a:latin typeface="Arial"/>
              </a:rPr>
              <a:t>395.23 ha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DE5A4D-FD1D-4927-8F9E-06737B133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82700" y="2419350"/>
            <a:ext cx="34480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7D72"/>
                </a:solidFill>
              </a:defRPr>
            </a:pPr>
            <a:r>
              <a:rPr sz="2000" b="0">
                <a:solidFill>
                  <a:srgbClr val="147D72"/>
                </a:solidFill>
                <a:latin typeface="Arial"/>
              </a:rPr>
              <a:t>301.01 ha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FE0AA4-794E-4358-B493-DD223BCFA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38550"/>
            <a:ext cx="25527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3D2A87"/>
                </a:solidFill>
              </a:defRPr>
            </a:pPr>
            <a:r>
              <a:rPr sz="2000" b="1">
                <a:solidFill>
                  <a:srgbClr val="3D2A87"/>
                </a:solidFill>
                <a:latin typeface="Arial"/>
              </a:rPr>
              <a:t>SIMCAR Validated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69F23D-0B17-4CF9-A193-8A076AAD2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638550"/>
            <a:ext cx="19431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3D2A87"/>
                </a:solidFill>
              </a:defRPr>
            </a:pPr>
            <a:r>
              <a:rPr sz="2000" b="0">
                <a:solidFill>
                  <a:srgbClr val="3D2A87"/>
                </a:solidFill>
                <a:latin typeface="Arial"/>
              </a:rPr>
              <a:t>≤ 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CA6576-292C-43FD-B09B-980370958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638550"/>
            <a:ext cx="53911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3D2A87"/>
                </a:solidFill>
              </a:defRPr>
            </a:pPr>
            <a:r>
              <a:rPr sz="2000" b="0">
                <a:solidFill>
                  <a:srgbClr val="3D2A87"/>
                </a:solidFill>
                <a:latin typeface="Arial"/>
              </a:rPr>
              <a:t>MT-5106257-60F736EB772F4</a:t>
            </a:r>
          </a:p>
          <a:p xmlns:a="http://schemas.openxmlformats.org/drawingml/2006/main">
            <a:pPr>
              <a:defRPr sz="1500" b="0">
                <a:solidFill>
                  <a:srgbClr val="3D2A87"/>
                </a:solidFill>
              </a:defRPr>
            </a:pPr>
            <a:r>
              <a:rPr sz="2000" b="0">
                <a:solidFill>
                  <a:srgbClr val="3D2A87"/>
                </a:solidFill>
                <a:latin typeface="Arial"/>
              </a:rPr>
              <a:t>CF6A460A8D0BE0ADCBB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F61C47-8B81-43A8-B860-B6D79AD64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638550"/>
            <a:ext cx="27051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3D2A87"/>
                </a:solidFill>
              </a:defRPr>
            </a:pPr>
            <a:r>
              <a:rPr sz="2000" b="0">
                <a:solidFill>
                  <a:srgbClr val="3D2A87"/>
                </a:solidFill>
                <a:latin typeface="Arial"/>
              </a:rPr>
              <a:t>66.59 ha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5B3C88-8111-4976-9E26-4C1F286B6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82700" y="3638550"/>
            <a:ext cx="34480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7D72"/>
                </a:solidFill>
              </a:defRPr>
            </a:pPr>
            <a:r>
              <a:rPr sz="2000" b="0">
                <a:solidFill>
                  <a:srgbClr val="147D72"/>
                </a:solidFill>
                <a:latin typeface="Arial"/>
              </a:rPr>
              <a:t>65.19 ha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8F3C3A-6A97-4CA0-8C1E-5551361B9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38700"/>
            <a:ext cx="25527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3D2A87"/>
                </a:solidFill>
              </a:defRPr>
            </a:pPr>
            <a:r>
              <a:rPr sz="2000" b="1">
                <a:solidFill>
                  <a:srgbClr val="3D2A87"/>
                </a:solidFill>
                <a:latin typeface="Arial"/>
              </a:rPr>
              <a:t>SIMCAR Digital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C5D02E-DBE0-4AE3-84D7-91772AA4B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838700"/>
            <a:ext cx="19431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3D2A87"/>
                </a:solidFill>
              </a:defRPr>
            </a:pPr>
            <a:r>
              <a:rPr sz="2000" b="0">
                <a:solidFill>
                  <a:srgbClr val="3D2A87"/>
                </a:solidFill>
                <a:latin typeface="Arial"/>
              </a:rPr>
              <a:t>&gt; 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DD8F9B-C712-4751-9510-B458AB091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838700"/>
            <a:ext cx="53911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3D2A87"/>
                </a:solidFill>
              </a:defRPr>
            </a:pPr>
            <a:r>
              <a:rPr sz="2000" b="0">
                <a:solidFill>
                  <a:srgbClr val="3D2A87"/>
                </a:solidFill>
                <a:latin typeface="Arial"/>
              </a:rPr>
              <a:t>MT-5107750-3D69A53C7D644</a:t>
            </a:r>
          </a:p>
          <a:p xmlns:a="http://schemas.openxmlformats.org/drawingml/2006/main">
            <a:pPr>
              <a:defRPr sz="1500" b="0">
                <a:solidFill>
                  <a:srgbClr val="3D2A87"/>
                </a:solidFill>
              </a:defRPr>
            </a:pPr>
            <a:r>
              <a:rPr sz="2000" b="0">
                <a:solidFill>
                  <a:srgbClr val="3D2A87"/>
                </a:solidFill>
                <a:latin typeface="Arial"/>
              </a:rPr>
              <a:t>B4098DE759BD0FE2AF1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62EE57-13E2-4601-8A4F-370D25F7E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838700"/>
            <a:ext cx="27051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3D2A87"/>
                </a:solidFill>
              </a:defRPr>
            </a:pPr>
            <a:r>
              <a:rPr sz="2000" b="0">
                <a:solidFill>
                  <a:srgbClr val="3D2A87"/>
                </a:solidFill>
                <a:latin typeface="Arial"/>
              </a:rPr>
              <a:t>1,076.81 ha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CDD281-7D93-4CA2-8391-F63573EF2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82700" y="4838700"/>
            <a:ext cx="34480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7D72"/>
                </a:solidFill>
              </a:defRPr>
            </a:pPr>
            <a:r>
              <a:rPr sz="2000" b="0">
                <a:solidFill>
                  <a:srgbClr val="147D72"/>
                </a:solidFill>
                <a:latin typeface="Arial"/>
              </a:rPr>
              <a:t>929.67 ha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644A11-43E3-4502-88D0-8D56432F9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057900"/>
            <a:ext cx="25527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3D2A87"/>
                </a:solidFill>
              </a:defRPr>
            </a:pPr>
            <a:r>
              <a:rPr sz="2000" b="1">
                <a:solidFill>
                  <a:srgbClr val="3D2A87"/>
                </a:solidFill>
                <a:latin typeface="Arial"/>
              </a:rPr>
              <a:t>SIMCAR Digital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4FC03E2-3011-4944-A842-CCE8CE151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6057900"/>
            <a:ext cx="19431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3D2A87"/>
                </a:solidFill>
              </a:defRPr>
            </a:pPr>
            <a:r>
              <a:rPr sz="2000" b="0">
                <a:solidFill>
                  <a:srgbClr val="3D2A87"/>
                </a:solidFill>
                <a:latin typeface="Arial"/>
              </a:rPr>
              <a:t>≤ 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C2CDA91-14E5-495C-9A23-78DEA1A7D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6057900"/>
            <a:ext cx="53911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3D2A87"/>
                </a:solidFill>
              </a:defRPr>
            </a:pPr>
            <a:r>
              <a:rPr sz="2000" b="0">
                <a:solidFill>
                  <a:srgbClr val="3D2A87"/>
                </a:solidFill>
                <a:latin typeface="Arial"/>
              </a:rPr>
              <a:t>MT-5102603-D132829CFF784</a:t>
            </a:r>
          </a:p>
          <a:p xmlns:a="http://schemas.openxmlformats.org/drawingml/2006/main">
            <a:pPr>
              <a:defRPr sz="1500" b="0">
                <a:solidFill>
                  <a:srgbClr val="3D2A87"/>
                </a:solidFill>
              </a:defRPr>
            </a:pPr>
            <a:r>
              <a:rPr sz="2000" b="0">
                <a:solidFill>
                  <a:srgbClr val="3D2A87"/>
                </a:solidFill>
                <a:latin typeface="Arial"/>
              </a:rPr>
              <a:t>C919A4FA35C7A5F32A5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724BA23-BEBE-428C-A199-457EC7A7D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057900"/>
            <a:ext cx="27051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3D2A87"/>
                </a:solidFill>
              </a:defRPr>
            </a:pPr>
            <a:r>
              <a:rPr sz="2000" b="0">
                <a:solidFill>
                  <a:srgbClr val="3D2A87"/>
                </a:solidFill>
                <a:latin typeface="Arial"/>
              </a:rPr>
              <a:t>104.30 ha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E647EDC-B188-435C-B507-872444691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82700" y="6057900"/>
            <a:ext cx="34480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7D72"/>
                </a:solidFill>
              </a:defRPr>
            </a:pPr>
            <a:r>
              <a:rPr sz="2000" b="0">
                <a:solidFill>
                  <a:srgbClr val="147D72"/>
                </a:solidFill>
                <a:latin typeface="Arial"/>
              </a:rPr>
              <a:t>76.44 ha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36BCFA2-7367-46B0-AD13-C8FC6C094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258050"/>
            <a:ext cx="25527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3D2A87"/>
                </a:solidFill>
              </a:defRPr>
            </a:pPr>
            <a:r>
              <a:rPr sz="2000" b="1">
                <a:solidFill>
                  <a:srgbClr val="3D2A87"/>
                </a:solidFill>
                <a:latin typeface="Arial"/>
              </a:rPr>
              <a:t>SIMCAR Proxy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0B25BA4-468E-43CD-9A7A-A60073DA8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7258050"/>
            <a:ext cx="19431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3D2A87"/>
                </a:solidFill>
              </a:defRPr>
            </a:pPr>
            <a:r>
              <a:rPr sz="2000" b="0">
                <a:solidFill>
                  <a:srgbClr val="3D2A87"/>
                </a:solidFill>
                <a:latin typeface="Arial"/>
              </a:rPr>
              <a:t>&gt; 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984042F-8C85-4CE1-BDAB-88DCA48FE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7258050"/>
            <a:ext cx="53911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3D2A87"/>
                </a:solidFill>
              </a:defRPr>
            </a:pPr>
            <a:r>
              <a:rPr sz="2000" b="0">
                <a:solidFill>
                  <a:srgbClr val="3D2A87"/>
                </a:solidFill>
                <a:latin typeface="Arial"/>
              </a:rPr>
              <a:t>MT-5106828-23ABB407C9334</a:t>
            </a:r>
          </a:p>
          <a:p xmlns:a="http://schemas.openxmlformats.org/drawingml/2006/main">
            <a:pPr>
              <a:defRPr sz="1500" b="0">
                <a:solidFill>
                  <a:srgbClr val="3D2A87"/>
                </a:solidFill>
              </a:defRPr>
            </a:pPr>
            <a:r>
              <a:rPr sz="2000" b="0">
                <a:solidFill>
                  <a:srgbClr val="3D2A87"/>
                </a:solidFill>
                <a:latin typeface="Arial"/>
              </a:rPr>
              <a:t>E9F864BC6C07D00148C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CFEC03E-B095-4FE0-BDC8-02BACDFF6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7258050"/>
            <a:ext cx="27051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3D2A87"/>
                </a:solidFill>
              </a:defRPr>
            </a:pPr>
            <a:r>
              <a:rPr sz="2000" b="0">
                <a:solidFill>
                  <a:srgbClr val="3D2A87"/>
                </a:solidFill>
                <a:latin typeface="Arial"/>
              </a:rPr>
              <a:t>138.98 ha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60FF453-67BB-41CB-934E-9C5BF845A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82700" y="7258050"/>
            <a:ext cx="34480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7D72"/>
                </a:solidFill>
              </a:defRPr>
            </a:pPr>
            <a:r>
              <a:rPr sz="2000" b="0">
                <a:solidFill>
                  <a:srgbClr val="147D72"/>
                </a:solidFill>
                <a:latin typeface="Arial"/>
              </a:rPr>
              <a:t>114.19 ha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E248BA0-408F-4C73-A37F-49001E269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8477250"/>
            <a:ext cx="25527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3D2A87"/>
                </a:solidFill>
              </a:defRPr>
            </a:pPr>
            <a:r>
              <a:rPr sz="2000" b="1">
                <a:solidFill>
                  <a:srgbClr val="3D2A87"/>
                </a:solidFill>
                <a:latin typeface="Arial"/>
              </a:rPr>
              <a:t>SIMCAR Proxy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0CDB1E3-FE75-4DC2-B805-C72B09F3A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8477250"/>
            <a:ext cx="19431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3D2A87"/>
                </a:solidFill>
              </a:defRPr>
            </a:pPr>
            <a:r>
              <a:rPr sz="2000" b="0">
                <a:solidFill>
                  <a:srgbClr val="3D2A87"/>
                </a:solidFill>
                <a:latin typeface="Arial"/>
              </a:rPr>
              <a:t>≤ 4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C974D26-5A63-4D52-8F68-EDAA32FA9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8477250"/>
            <a:ext cx="53911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3D2A87"/>
                </a:solidFill>
              </a:defRPr>
            </a:pPr>
            <a:r>
              <a:rPr sz="2000" b="0">
                <a:solidFill>
                  <a:srgbClr val="3D2A87"/>
                </a:solidFill>
                <a:latin typeface="Arial"/>
              </a:rPr>
              <a:t>MT-5103304-CDD5B177BF434</a:t>
            </a:r>
          </a:p>
          <a:p xmlns:a="http://schemas.openxmlformats.org/drawingml/2006/main">
            <a:pPr>
              <a:defRPr sz="1500" b="0">
                <a:solidFill>
                  <a:srgbClr val="3D2A87"/>
                </a:solidFill>
              </a:defRPr>
            </a:pPr>
            <a:r>
              <a:rPr sz="2000" b="0">
                <a:solidFill>
                  <a:srgbClr val="3D2A87"/>
                </a:solidFill>
                <a:latin typeface="Arial"/>
              </a:rPr>
              <a:t>05FA86B66729E82F424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5D79040-3830-4DD1-AD95-E0C26104A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8477250"/>
            <a:ext cx="27051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3D2A87"/>
                </a:solidFill>
              </a:defRPr>
            </a:pPr>
            <a:r>
              <a:rPr sz="2000" b="0">
                <a:solidFill>
                  <a:srgbClr val="3D2A87"/>
                </a:solidFill>
                <a:latin typeface="Arial"/>
              </a:rPr>
              <a:t>122.74 ha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9DC8BB8-1CB3-4C18-B491-EAC85674A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82700" y="8477250"/>
            <a:ext cx="34480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7D72"/>
                </a:solidFill>
              </a:defRPr>
            </a:pPr>
            <a:r>
              <a:rPr sz="2000" b="0">
                <a:solidFill>
                  <a:srgbClr val="147D72"/>
                </a:solidFill>
                <a:latin typeface="Arial"/>
              </a:rPr>
              <a:t>107.65 ha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78270B2-3419-44E8-AB4E-8EC64D11B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0"/>
            <a:ext cx="3143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2000">
                <a:solidFill>
                  <a:srgbClr val="5D716C"/>
                </a:solidFill>
                <a:latin typeface="Arial"/>
              </a:rPr>
              <a:t>Source: final GTA compliance mega table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5C29E6D-F6AA-48A6-8EC2-4EACAD818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35450" y="9525000"/>
            <a:ext cx="666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47D72"/>
                </a:solidFill>
              </a:defRPr>
            </a:pPr>
            <a:r>
              <a:rPr sz="2000" b="1">
                <a:solidFill>
                  <a:srgbClr val="147D72"/>
                </a:solidFill>
                <a:latin typeface="Arial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114820466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2026-10-01T12:09:47.2590000Z</dcterms:created>
  <dcterms:modified xsi:type="dcterms:W3CDTF">2026-10-01T12:09:47.2590000Z</dcterms:modified>
</coreProperties>
</file>