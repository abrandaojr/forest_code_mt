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f9043e7835481e" /><Relationship Type="http://schemas.openxmlformats.org/officeDocument/2006/relationships/extended-properties" Target="/docProps/app.xml" Id="Ra9cd6501050b4992" /><Relationship Type="http://schemas.openxmlformats.org/officeDocument/2006/relationships/officeDocument" Target="/ppt/presentation.xml" Id="R42bbd8521e3b4d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cbba2e0ac3473f"/>
  </p:sldMasterIdLst>
  <p:notesMasterIdLst>
    <p:notesMasterId xmlns:r="http://schemas.openxmlformats.org/officeDocument/2006/relationships" r:id="R10b2762d7c5e48d1"/>
  </p:notesMasterIdLst>
  <p:sldIdLst>
    <p:sldId xmlns:r="http://schemas.openxmlformats.org/officeDocument/2006/relationships" id="256" r:id="R37f1f3dfe3424300"/>
    <p:sldId xmlns:r="http://schemas.openxmlformats.org/officeDocument/2006/relationships" id="257" r:id="R32811426b79640ed"/>
    <p:sldId xmlns:r="http://schemas.openxmlformats.org/officeDocument/2006/relationships" id="258" r:id="R44c2cebe6fec4df8"/>
    <p:sldId xmlns:r="http://schemas.openxmlformats.org/officeDocument/2006/relationships" id="259" r:id="R2ad2fa82263d48dc"/>
    <p:sldId xmlns:r="http://schemas.openxmlformats.org/officeDocument/2006/relationships" id="260" r:id="Ra026b70cee504706"/>
    <p:sldId xmlns:r="http://schemas.openxmlformats.org/officeDocument/2006/relationships" id="261" r:id="R03fbee11c8e846df"/>
    <p:sldId xmlns:r="http://schemas.openxmlformats.org/officeDocument/2006/relationships" id="262" r:id="R11e89f04a17843eb"/>
    <p:sldId xmlns:r="http://schemas.openxmlformats.org/officeDocument/2006/relationships" id="263" r:id="Rb0997838bc6f4098"/>
    <p:sldId xmlns:r="http://schemas.openxmlformats.org/officeDocument/2006/relationships" id="264" r:id="Rcbc171c769fc4a0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cbba2e0ac3473f" /><Relationship Type="http://schemas.openxmlformats.org/officeDocument/2006/relationships/theme" Target="/ppt/theme/theme1.xml" Id="R3db48454289548a2" /><Relationship Type="http://schemas.openxmlformats.org/officeDocument/2006/relationships/notesMaster" Target="/ppt/notesMasters/notesMaster1.xml" Id="R10b2762d7c5e48d1" /><Relationship Type="http://schemas.openxmlformats.org/officeDocument/2006/relationships/presProps" Target="/ppt/presProps.xml" Id="Rc2dec419cdce43ad" /><Relationship Type="http://schemas.openxmlformats.org/officeDocument/2006/relationships/viewProps" Target="/ppt/viewProps.xml" Id="Rb68b05e3b64e4173" /><Relationship Type="http://schemas.openxmlformats.org/officeDocument/2006/relationships/tableStyles" Target="/ppt/tableStyles.xml" Id="Rea77b057af2e4570" /><Relationship Type="http://schemas.openxmlformats.org/officeDocument/2006/relationships/slide" Target="/ppt/slides/slide1.xml" Id="R37f1f3dfe3424300" /><Relationship Type="http://schemas.openxmlformats.org/officeDocument/2006/relationships/slide" Target="/ppt/slides/slide2.xml" Id="R32811426b79640ed" /><Relationship Type="http://schemas.openxmlformats.org/officeDocument/2006/relationships/slide" Target="/ppt/slides/slide3.xml" Id="R44c2cebe6fec4df8" /><Relationship Type="http://schemas.openxmlformats.org/officeDocument/2006/relationships/slide" Target="/ppt/slides/slide4.xml" Id="R2ad2fa82263d48dc" /><Relationship Type="http://schemas.openxmlformats.org/officeDocument/2006/relationships/slide" Target="/ppt/slides/slide5.xml" Id="Ra026b70cee504706" /><Relationship Type="http://schemas.openxmlformats.org/officeDocument/2006/relationships/slide" Target="/ppt/slides/slide6.xml" Id="R03fbee11c8e846df" /><Relationship Type="http://schemas.openxmlformats.org/officeDocument/2006/relationships/slide" Target="/ppt/slides/slide7.xml" Id="R11e89f04a17843eb" /><Relationship Type="http://schemas.openxmlformats.org/officeDocument/2006/relationships/slide" Target="/ppt/slides/slide8.xml" Id="Rb0997838bc6f4098" /><Relationship Type="http://schemas.openxmlformats.org/officeDocument/2006/relationships/slide" Target="/ppt/slides/slide9.xml" Id="Rcbc171c769fc4a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68bd7bdc9f148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7160e836b04644" /><Relationship Type="http://schemas.openxmlformats.org/officeDocument/2006/relationships/notesMaster" Target="/ppt/notesMasters/notesMaster1.xml" Id="R406b480120a94d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80a036310f4b1c" /><Relationship Type="http://schemas.openxmlformats.org/officeDocument/2006/relationships/notesMaster" Target="/ppt/notesMasters/notesMaster1.xml" Id="R9c22dacd745c4b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cbe0a244e54762" /><Relationship Type="http://schemas.openxmlformats.org/officeDocument/2006/relationships/notesMaster" Target="/ppt/notesMasters/notesMaster1.xml" Id="Rda0509dca1f14a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40d2a3408a4065" /><Relationship Type="http://schemas.openxmlformats.org/officeDocument/2006/relationships/notesMaster" Target="/ppt/notesMasters/notesMaster1.xml" Id="R3b340acf6b354b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668ae1dc3d4ff7" /><Relationship Type="http://schemas.openxmlformats.org/officeDocument/2006/relationships/notesMaster" Target="/ppt/notesMasters/notesMaster1.xml" Id="R8e8bca68854d4e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0555d2ef5042a9" /><Relationship Type="http://schemas.openxmlformats.org/officeDocument/2006/relationships/notesMaster" Target="/ppt/notesMasters/notesMaster1.xml" Id="R7e2e2a4bf11b4f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d400af5d4b4e74" /><Relationship Type="http://schemas.openxmlformats.org/officeDocument/2006/relationships/notesMaster" Target="/ppt/notesMasters/notesMaster1.xml" Id="R72fc83043e384a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22011ffc8c4f64" /><Relationship Type="http://schemas.openxmlformats.org/officeDocument/2006/relationships/notesMaster" Target="/ppt/notesMasters/notesMaster1.xml" Id="Rbff878a4eb3946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ff564ca4ca4605" /><Relationship Type="http://schemas.openxmlformats.org/officeDocument/2006/relationships/notesMaster" Target="/ppt/notesMasters/notesMaster1.xml" Id="R6cec1fec27634f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446d4f236443e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04b8aefb53c442b" /><Relationship Type="http://schemas.openxmlformats.org/officeDocument/2006/relationships/slideLayout" Target="/ppt/slideLayouts/slideLayout2.xml" Id="R778834c6e69647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8834c6e69647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7c467c7ba742bf" /><Relationship Type="http://schemas.openxmlformats.org/officeDocument/2006/relationships/notesSlide" Target="/ppt/notesSlides/notesSlide1.xml" Id="Rbc60f8f04ac842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fd71a4609e4f3c" /><Relationship Type="http://schemas.openxmlformats.org/officeDocument/2006/relationships/notesSlide" Target="/ppt/notesSlides/notesSlide2.xml" Id="R66acf7c3c5e94e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c37f3dac0649a7" /><Relationship Type="http://schemas.openxmlformats.org/officeDocument/2006/relationships/notesSlide" Target="/ppt/notesSlides/notesSlide3.xml" Id="R4220c22fb38347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56986faf434b3c" /><Relationship Type="http://schemas.openxmlformats.org/officeDocument/2006/relationships/image" Target="/ppt/media/image.png" Id="Rfcaa60d7097043a5" /><Relationship Type="http://schemas.openxmlformats.org/officeDocument/2006/relationships/notesSlide" Target="/ppt/notesSlides/notesSlide4.xml" Id="R6d3f5051dccb4d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72390a7f4142f2" /><Relationship Type="http://schemas.openxmlformats.org/officeDocument/2006/relationships/notesSlide" Target="/ppt/notesSlides/notesSlide5.xml" Id="R7c085bdfa3b143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a183dd8c004c97" /><Relationship Type="http://schemas.openxmlformats.org/officeDocument/2006/relationships/notesSlide" Target="/ppt/notesSlides/notesSlide6.xml" Id="R0fa696a9971043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bd707ccc884461" /><Relationship Type="http://schemas.openxmlformats.org/officeDocument/2006/relationships/image" Target="/ppt/media/image2.png" Id="R4368ad692ca84454" /><Relationship Type="http://schemas.openxmlformats.org/officeDocument/2006/relationships/notesSlide" Target="/ppt/notesSlides/notesSlide7.xml" Id="R90cb6f7b397748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74ac5719274aad" /><Relationship Type="http://schemas.openxmlformats.org/officeDocument/2006/relationships/notesSlide" Target="/ppt/notesSlides/notesSlide8.xml" Id="Rac4d41759f1142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e84161defc4871" /><Relationship Type="http://schemas.openxmlformats.org/officeDocument/2006/relationships/notesSlide" Target="/ppt/notesSlides/notesSlide9.xml" Id="R4baad6bfbadb42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E4276E5-E613-467B-B1C9-E2A1A7EA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9FC65B"/>
                </a:solidFill>
              </a:defRPr>
            </a:pPr>
            <a:r>
              <a:rPr sz="1500" b="1">
                <a:solidFill>
                  <a:srgbClr val="9FC65B"/>
                </a:solidFill>
              </a:rPr>
              <a:t>FOREST CODE · WORKED EXAMPLES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93999C3-4559-4EC3-975F-13C5E1C4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04950"/>
            <a:ext cx="161925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7312B"/>
                </a:solidFill>
              </a:defRPr>
            </a:pPr>
            <a:r>
              <a:rPr sz="5400" b="1">
                <a:solidFill>
                  <a:srgbClr val="17312B"/>
                </a:solidFill>
              </a:rPr>
              <a:t>Two properties.</a:t>
            </a:r>
          </a:p>
          <a:p xmlns:a="http://schemas.openxmlformats.org/drawingml/2006/main">
            <a:pPr>
              <a:defRPr sz="5400" b="1">
                <a:solidFill>
                  <a:srgbClr val="17312B"/>
                </a:solidFill>
              </a:defRPr>
            </a:pPr>
            <a:r>
              <a:rPr sz="5400" b="1">
                <a:solidFill>
                  <a:srgbClr val="17312B"/>
                </a:solidFill>
              </a:rPr>
              <a:t>One transparent calculation chain.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22597D26-0EF7-4761-B8D9-CA5E7BD4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A45"/>
          </a:solidFill>
          <a:ln xmlns:a="http://schemas.openxmlformats.org/drawingml/2006/main" w="0">
            <a:solidFill>
              <a:srgbClr val="D49A45"/>
            </a:solidFill>
            <a:prstDash val="solid"/>
          </a:ln>
        </p:spPr>
      </p:sp>
      <p:sp>
        <p:nvSpPr>
          <p:cNvPr id="4" name="cover-promise">
            <a:extLst xmlns:a="http://schemas.openxmlformats.org/drawingml/2006/main">
              <a:ext uri="{FF2B5EF4-FFF2-40B4-BE49-F238E27FC236}">
                <a16:creationId xmlns:a16="http://schemas.microsoft.com/office/drawing/2014/main" id="{879119F7-9A7A-484C-941A-20B35F0B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11430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5D716C"/>
                </a:solidFill>
              </a:defRPr>
            </a:pPr>
            <a:r>
              <a:rPr sz="2250">
                <a:solidFill>
                  <a:srgbClr val="5D716C"/>
                </a:solidFill>
              </a:rPr>
              <a:t>A field-by-field walkthrough for properties above and below four fiscal modules — both with forest and cerrado areas greater than zero.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4D62F-D72C-467F-8A9C-BBB9AF7A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15050"/>
            <a:ext cx="1333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16C"/>
                </a:solidFill>
              </a:defRPr>
            </a:pPr>
            <a:r>
              <a:rPr sz="1200">
                <a:solidFill>
                  <a:srgbClr val="5D716C"/>
                </a:solidFill>
              </a:rPr>
              <a:t>Mato Grosso · Final compliance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96C73-5A62-4308-84C2-B282297E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1150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716C"/>
                </a:solidFill>
              </a:defRPr>
            </a:pPr>
            <a:r>
              <a:rPr sz="1200">
                <a:solidFill>
                  <a:srgbClr val="5D716C"/>
                </a:solidFill>
              </a:rPr>
              <a:t>30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82264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D8E933A0-E0C2-434C-8514-4FDD4BEA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"/>
            <a:ext cx="1657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12B"/>
                </a:solidFill>
              </a:defRPr>
            </a:pPr>
            <a:r>
              <a:rPr sz="3450" b="1">
                <a:solidFill>
                  <a:srgbClr val="17312B"/>
                </a:solidFill>
              </a:rPr>
              <a:t>The four-module threshold changes the legal requirement</a:t>
            </a:r>
          </a:p>
        </p:txBody>
      </p:sp>
      <p:sp>
        <p:nvSpPr>
          <p:cNvPr id="2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A82B9491-D041-4730-95C7-A7A0D854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6515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716C"/>
                </a:solidFill>
              </a:defRPr>
            </a:pPr>
            <a:r>
              <a:rPr sz="1875">
                <a:solidFill>
                  <a:srgbClr val="5D716C"/>
                </a:solidFill>
              </a:rPr>
              <a:t>The same harmonized inputs feed two different statutory branches.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83A58-C302-4A42-A6BE-67739D34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0"/>
            <a:ext cx="7410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E6B52"/>
                </a:solidFill>
              </a:defRPr>
            </a:pPr>
            <a:r>
              <a:rPr sz="2700" b="1">
                <a:solidFill>
                  <a:srgbClr val="1E6B52"/>
                </a:solidFill>
              </a:rPr>
              <a:t>&gt; 4 fiscal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11044-AF04-4262-8652-86713A2B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24200"/>
            <a:ext cx="7410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12B"/>
                </a:solidFill>
              </a:defRPr>
            </a:pPr>
            <a:r>
              <a:rPr sz="1875" b="1">
                <a:solidFill>
                  <a:srgbClr val="17312B"/>
                </a:solidFill>
              </a:rPr>
              <a:t>Article 68 binary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15761-0D54-43FA-95FC-271094DF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57600"/>
            <a:ext cx="7410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12B"/>
                </a:solidFill>
              </a:defRPr>
            </a:pPr>
            <a:r>
              <a:rPr sz="1650">
                <a:solidFill>
                  <a:srgbClr val="17312B"/>
                </a:solidFill>
              </a:rPr>
              <a:t>If vegetation in 2000 met the historical floor, the floor applies. Otherwise, the full Article 12 ceiling applies.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C7344-F7EA-414C-88A5-79166BC1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05400"/>
            <a:ext cx="699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6B52"/>
                </a:solidFill>
              </a:defRPr>
            </a:pPr>
            <a:r>
              <a:rPr sz="1275" b="1">
                <a:solidFill>
                  <a:srgbClr val="1E6B52"/>
                </a:solidFill>
              </a:rPr>
              <a:t>Requirement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82D90-0B64-4E26-90D9-2D3785FF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410200"/>
            <a:ext cx="6991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2B"/>
                </a:solidFill>
              </a:defRPr>
            </a:pPr>
            <a:r>
              <a:rPr sz="1425">
                <a:solidFill>
                  <a:srgbClr val="17312B"/>
                </a:solidFill>
              </a:rPr>
              <a:t>IF veg_2000 ≥ historical floor → floor; ELSE → current ceiling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E58D0-9F9F-4A2B-B361-4C829999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91200"/>
            <a:ext cx="6991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6B52"/>
                </a:solidFill>
              </a:defRPr>
            </a:pPr>
            <a:r>
              <a:rPr sz="1800" b="1">
                <a:solidFill>
                  <a:srgbClr val="1E6B52"/>
                </a:solidFill>
              </a:rPr>
              <a:t>= rl_req_art68_ha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963B1-889B-4FCC-803F-E900C8E5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8553450"/>
            <a:ext cx="7410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Worked case: 6.00 modules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0DC7C-8710-43EB-A21D-80E784A9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74104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D49A45"/>
                </a:solidFill>
              </a:defRPr>
            </a:pPr>
            <a:r>
              <a:rPr sz="2700" b="1">
                <a:solidFill>
                  <a:srgbClr val="D49A45"/>
                </a:solidFill>
              </a:rPr>
              <a:t>&lt; 4 fiscal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63386-642E-484D-A6BF-21FA1D70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24200"/>
            <a:ext cx="7410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12B"/>
                </a:solidFill>
              </a:defRPr>
            </a:pPr>
            <a:r>
              <a:rPr sz="1875" b="1">
                <a:solidFill>
                  <a:srgbClr val="17312B"/>
                </a:solidFill>
              </a:rPr>
              <a:t>Article 67 cut-off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EAA14-06BB-4202-8152-1DCAE89B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57600"/>
            <a:ext cx="74104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12B"/>
                </a:solidFill>
              </a:defRPr>
            </a:pPr>
            <a:r>
              <a:rPr sz="1650">
                <a:solidFill>
                  <a:srgbClr val="17312B"/>
                </a:solidFill>
              </a:rPr>
              <a:t>The requirement is the lower of the current Article 12 ceiling and native vegetation that existed in 2008.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3573E-6989-4AC1-952F-376776C6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05400"/>
            <a:ext cx="699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49A45"/>
                </a:solidFill>
              </a:defRPr>
            </a:pPr>
            <a:r>
              <a:rPr sz="1275" b="1">
                <a:solidFill>
                  <a:srgbClr val="D49A45"/>
                </a:solidFill>
              </a:rPr>
              <a:t>Requirement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194758-8133-4278-87DD-C1722333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10200"/>
            <a:ext cx="6991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2B"/>
                </a:solidFill>
              </a:defRPr>
            </a:pPr>
            <a:r>
              <a:rPr sz="1425">
                <a:solidFill>
                  <a:srgbClr val="17312B"/>
                </a:solidFill>
              </a:rPr>
              <a:t>MIN(current ceiling, vegetation in 2008)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9C644-ACE8-4F4E-B565-8596DA3C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791200"/>
            <a:ext cx="6991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9A45"/>
                </a:solidFill>
              </a:defRPr>
            </a:pPr>
            <a:r>
              <a:rPr sz="1800" b="1">
                <a:solidFill>
                  <a:srgbClr val="D49A45"/>
                </a:solidFill>
              </a:rPr>
              <a:t>= rl_req_art67_ha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5B4588-C6FA-4541-A07A-516AB2E9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553450"/>
            <a:ext cx="7410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Worked case: 2.41 modules</a:t>
            </a:r>
          </a:p>
        </p:txBody>
      </p:sp>
      <p:sp>
        <p:nvSpPr>
          <p:cNvPr id="17" name="source-2">
            <a:extLst xmlns:a="http://schemas.openxmlformats.org/drawingml/2006/main">
              <a:ext uri="{FF2B5EF4-FFF2-40B4-BE49-F238E27FC236}">
                <a16:creationId xmlns:a16="http://schemas.microsoft.com/office/drawing/2014/main" id="{DEF29105-064C-40E2-A737-E9F51B51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678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716C"/>
                </a:solidFill>
              </a:defRPr>
            </a:pPr>
            <a:r>
              <a:rPr sz="975">
                <a:solidFill>
                  <a:srgbClr val="5D716C"/>
                </a:solidFill>
              </a:rPr>
              <a:t>Source: MT Forest Code compliance mega table · final 2026-09-30</a:t>
            </a:r>
          </a:p>
        </p:txBody>
      </p:sp>
      <p:sp>
        <p:nvSpPr>
          <p:cNvPr id="18" name="page-2">
            <a:extLst xmlns:a="http://schemas.openxmlformats.org/drawingml/2006/main">
              <a:ext uri="{FF2B5EF4-FFF2-40B4-BE49-F238E27FC236}">
                <a16:creationId xmlns:a16="http://schemas.microsoft.com/office/drawing/2014/main" id="{42B29973-1A15-49AB-BF44-FA0D4BC6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6785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6B52"/>
                </a:solidFill>
              </a:defRPr>
            </a:pPr>
            <a:r>
              <a:rPr sz="1050" b="1">
                <a:solidFill>
                  <a:srgbClr val="1E6B5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7221179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07B5498C-EBE3-4879-9D26-276E1B5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"/>
            <a:ext cx="1657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12B"/>
                </a:solidFill>
              </a:defRPr>
            </a:pPr>
            <a:r>
              <a:rPr sz="3450" b="1">
                <a:solidFill>
                  <a:srgbClr val="17312B"/>
                </a:solidFill>
              </a:rPr>
              <a:t>Large property · inputs and cut-off tests</a:t>
            </a:r>
          </a:p>
        </p:txBody>
      </p:sp>
      <p:sp>
        <p:nvSpPr>
          <p:cNvPr id="2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90994DF5-A98C-4F4E-9A21-C82F74D6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6553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716C"/>
                </a:solidFill>
              </a:defRPr>
            </a:pPr>
            <a:r>
              <a:rPr sz="1875">
                <a:solidFill>
                  <a:srgbClr val="5D716C"/>
                </a:solidFill>
              </a:rPr>
              <a:t>6.00 fiscal modules · SIMCAR Digital · forest and cerrado both &gt; 0 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390E1-0866-4911-8AD0-639F3A74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8DF1B-6D36-46FC-9DCF-5A1FACF2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599.92 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A24A2-5087-40EB-A6FA-74C95F50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Fiscal modules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B8B82-A25C-4477-AE60-50A1C3C9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577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6.00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6E330-A756-4897-9DA3-42C08E84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Forest 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62964-1094-4DB4-89AB-295BE97A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1150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169.21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48C2C-F5FB-4C24-A12B-211130B7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Cerrado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93D0F-8384-42E8-B71F-B4F151D1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77533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430.71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BB8C3E-A332-47EC-9CBE-33B2C839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Consolidated area 2000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86C6C-2964-4E49-93CD-3C55E548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194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273.13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2D7452-9D29-4A5C-B468-C255ECD5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Vegetation in 2000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E37E9-6B0F-4553-8A01-C52C6C9C0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326.79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8191D-75FF-43B6-BFCF-A8139A06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1150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Consolidated area 2008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AFA15-CBDD-4103-B9F9-B3B3CBE6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150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0.00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FA13AB-A41D-4500-AE89-855AA347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7533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Vegetation in 2008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7D1CF-77B7-458E-9FD4-75EECF4A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7533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599.92 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591F54-5E7D-4089-8023-BCA60BF7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8384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Article 12 ceiling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0613B-7366-4E27-BFFE-771C359B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28194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286.12 ha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FCAD3-5FC4-47E6-B2AD-9A74F709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4767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Article 68 floor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FF9757-6A48-474A-AF7B-88BC4437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44577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170.75 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E0BFBC-B6CE-4922-9F26-3321DE93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1150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Article 68 requirement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08896-62C7-406B-8631-FB8F92FE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61150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170.75 ha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89D13E-F53A-40A7-BC9B-BE5A3FB8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77533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9F77F-0F43-4733-92F0-084ADD5B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77533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118.13 ha</a:t>
            </a:r>
          </a:p>
        </p:txBody>
      </p:sp>
      <p:sp>
        <p:nvSpPr>
          <p:cNvPr id="27" name="property-key-3">
            <a:extLst xmlns:a="http://schemas.openxmlformats.org/drawingml/2006/main">
              <a:ext uri="{FF2B5EF4-FFF2-40B4-BE49-F238E27FC236}">
                <a16:creationId xmlns:a16="http://schemas.microsoft.com/office/drawing/2014/main" id="{1337453D-04EB-49AD-B749-07500BFA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0"/>
            <a:ext cx="1657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716C"/>
                </a:solidFill>
              </a:defRPr>
            </a:pPr>
            <a:r>
              <a:rPr sz="1050">
                <a:solidFill>
                  <a:srgbClr val="5D716C"/>
                </a:solidFill>
              </a:rPr>
              <a:t>Property key: MT-5107875-FCDC7412E5B04C10A7B5B8FA8CE4B049</a:t>
            </a:r>
          </a:p>
        </p:txBody>
      </p:sp>
      <p:sp>
        <p:nvSpPr>
          <p:cNvPr id="28" name="source-3">
            <a:extLst xmlns:a="http://schemas.openxmlformats.org/drawingml/2006/main">
              <a:ext uri="{FF2B5EF4-FFF2-40B4-BE49-F238E27FC236}">
                <a16:creationId xmlns:a16="http://schemas.microsoft.com/office/drawing/2014/main" id="{F5A9331C-D5FE-4AC1-A740-7079DB79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678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716C"/>
                </a:solidFill>
              </a:defRPr>
            </a:pPr>
            <a:r>
              <a:rPr sz="975">
                <a:solidFill>
                  <a:srgbClr val="5D716C"/>
                </a:solidFill>
              </a:rPr>
              <a:t>Source: MT Forest Code compliance mega table · final 2026-09-30</a:t>
            </a:r>
          </a:p>
        </p:txBody>
      </p:sp>
      <p:sp>
        <p:nvSpPr>
          <p:cNvPr id="29" name="page-3">
            <a:extLst xmlns:a="http://schemas.openxmlformats.org/drawingml/2006/main">
              <a:ext uri="{FF2B5EF4-FFF2-40B4-BE49-F238E27FC236}">
                <a16:creationId xmlns:a16="http://schemas.microsoft.com/office/drawing/2014/main" id="{C66B28E6-7B54-4B19-B7DB-EBC90D33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6785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6B52"/>
                </a:solidFill>
              </a:defRPr>
            </a:pPr>
            <a:r>
              <a:rPr sz="1050" b="1">
                <a:solidFill>
                  <a:srgbClr val="1E6B5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41021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2D3C04FC-1886-486B-A958-FFFAF4EE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"/>
            <a:ext cx="1657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12B"/>
                </a:solidFill>
              </a:defRPr>
            </a:pPr>
            <a:r>
              <a:rPr sz="3450" b="1">
                <a:solidFill>
                  <a:srgbClr val="17312B"/>
                </a:solidFill>
              </a:rPr>
              <a:t>Large property · satellite context</a:t>
            </a:r>
          </a:p>
        </p:txBody>
      </p:sp>
      <p:sp>
        <p:nvSpPr>
          <p:cNvPr id="2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25C01EFA-49DE-487B-90AA-E6BA939F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579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716C"/>
                </a:solidFill>
              </a:defRPr>
            </a:pPr>
            <a:r>
              <a:rPr sz="1875">
                <a:solidFill>
                  <a:srgbClr val="5D716C"/>
                </a:solidFill>
              </a:rPr>
              <a:t>The CAR property polygon is overlaid on Esri World Imagery.</a:t>
            </a:r>
          </a:p>
        </p:txBody>
      </p:sp>
      <p:pic>
        <p:nvPicPr>
          <p:cNvPr id="3" name="property-map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a60d7097043a5"/>
          <a:stretch xmlns:a="http://schemas.openxmlformats.org/drawingml/2006/main"/>
        </p:blipFill>
        <p:spPr>
          <a:xfrm xmlns:a="http://schemas.openxmlformats.org/drawingml/2006/main">
            <a:off x="2558168" y="2143125"/>
            <a:ext cx="8828264" cy="6667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1A436-52FB-4F5A-98A3-609FBE2E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667000"/>
            <a:ext cx="215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EEC7E-2C4E-45E1-B0D5-A17BE347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26479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599.92 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8411E-9246-461F-A06E-3CC5B951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000500"/>
            <a:ext cx="215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Forest 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9C3EE-D9BF-4A24-944C-9BA7D2A5F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9814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169.21 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45F0EC-767D-45D8-AC39-0F8E9DDC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334000"/>
            <a:ext cx="215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Cerrado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B08BC-D11B-4FEF-B9E1-8ED6AEA6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53149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430.71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BCA03B-C1A1-4F33-964F-6DCD2001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667500"/>
            <a:ext cx="215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Fiscal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3697B-4ADC-474B-B8EE-A5B4BEA3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66484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6.00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624DFC-2D4D-4720-9675-86F26577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001000"/>
            <a:ext cx="215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1B490-08C0-4962-8B53-10028A85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79819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52.61 ha</a:t>
            </a:r>
          </a:p>
        </p:txBody>
      </p:sp>
      <p:sp>
        <p:nvSpPr>
          <p:cNvPr id="14" name="map-property-key-4">
            <a:extLst xmlns:a="http://schemas.openxmlformats.org/drawingml/2006/main">
              <a:ext uri="{FF2B5EF4-FFF2-40B4-BE49-F238E27FC236}">
                <a16:creationId xmlns:a16="http://schemas.microsoft.com/office/drawing/2014/main" id="{8CA43CE4-1905-4ACB-816E-F65CFADC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10650"/>
            <a:ext cx="1657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716C"/>
                </a:solidFill>
              </a:defRPr>
            </a:pPr>
            <a:r>
              <a:rPr sz="975">
                <a:solidFill>
                  <a:srgbClr val="5D716C"/>
                </a:solidFill>
              </a:rPr>
              <a:t>CAR boundary: MT-5107875-FCDC7412E5B04C10A7B5B8FA8CE4B049</a:t>
            </a:r>
          </a:p>
        </p:txBody>
      </p:sp>
      <p:sp>
        <p:nvSpPr>
          <p:cNvPr id="15" name="source-4">
            <a:extLst xmlns:a="http://schemas.openxmlformats.org/drawingml/2006/main">
              <a:ext uri="{FF2B5EF4-FFF2-40B4-BE49-F238E27FC236}">
                <a16:creationId xmlns:a16="http://schemas.microsoft.com/office/drawing/2014/main" id="{83BBB11A-7E10-42F6-B4B0-05DEAEDC7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678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716C"/>
                </a:solidFill>
              </a:defRPr>
            </a:pPr>
            <a:r>
              <a:rPr sz="975">
                <a:solidFill>
                  <a:srgbClr val="5D716C"/>
                </a:solidFill>
              </a:rPr>
              <a:t>Source: MT Forest Code compliance mega table · final 2026-09-30</a:t>
            </a:r>
          </a:p>
        </p:txBody>
      </p:sp>
      <p:sp>
        <p:nvSpPr>
          <p:cNvPr id="16" name="page-4">
            <a:extLst xmlns:a="http://schemas.openxmlformats.org/drawingml/2006/main">
              <a:ext uri="{FF2B5EF4-FFF2-40B4-BE49-F238E27FC236}">
                <a16:creationId xmlns:a16="http://schemas.microsoft.com/office/drawing/2014/main" id="{7FA51B12-BC20-4358-A8D2-DD0A94BF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6785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6B52"/>
                </a:solidFill>
              </a:defRPr>
            </a:pPr>
            <a:r>
              <a:rPr sz="1050" b="1">
                <a:solidFill>
                  <a:srgbClr val="1E6B5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85262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8AB4E243-5E86-4B80-ABC9-B54B52AF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"/>
            <a:ext cx="1657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12B"/>
                </a:solidFill>
              </a:defRPr>
            </a:pPr>
            <a:r>
              <a:rPr sz="3450" b="1">
                <a:solidFill>
                  <a:srgbClr val="17312B"/>
                </a:solidFill>
              </a:rPr>
              <a:t>Large-property calculation chain</a:t>
            </a:r>
          </a:p>
        </p:txBody>
      </p:sp>
      <p:sp>
        <p:nvSpPr>
          <p:cNvPr id="2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50D3F0C2-1625-46D5-81C8-F8272D3E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7905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716C"/>
                </a:solidFill>
              </a:defRPr>
            </a:pPr>
            <a:r>
              <a:rPr sz="1875">
                <a:solidFill>
                  <a:srgbClr val="5D716C"/>
                </a:solidFill>
              </a:rPr>
              <a:t>Article 68 determines LR; APP and secondary vegetation are calculated separately.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3E34B-DD44-4F05-A5C8-61B83FB7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6B52"/>
                </a:solidFill>
              </a:defRPr>
            </a:pPr>
            <a:r>
              <a:rPr sz="1275" b="1">
                <a:solidFill>
                  <a:srgbClr val="1E6B52"/>
                </a:solidFill>
              </a:rPr>
              <a:t>2000 legal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F73B1-AC18-4F6B-B14E-F6505315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2B"/>
                </a:solidFill>
              </a:defRPr>
            </a:pPr>
            <a:r>
              <a:rPr sz="1425">
                <a:solidFill>
                  <a:srgbClr val="17312B"/>
                </a:solidFill>
              </a:rPr>
              <a:t>326.79 ha ≥ 170.75 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E5852-B7C8-4F5F-A11A-294B1E19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6B52"/>
                </a:solidFill>
              </a:defRPr>
            </a:pPr>
            <a:r>
              <a:rPr sz="1800" b="1">
                <a:solidFill>
                  <a:srgbClr val="1E6B52"/>
                </a:solidFill>
              </a:rPr>
              <a:t>= Historical floor applies: 170.75 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17332-F922-472F-BE6C-A13A0D51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050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6B52"/>
                </a:solidFill>
              </a:defRPr>
            </a:pPr>
            <a:r>
              <a:rPr sz="1275" b="1">
                <a:solidFill>
                  <a:srgbClr val="1E6B52"/>
                </a:solidFill>
              </a:rPr>
              <a:t>Legal Reserve deficit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4F5DF-6974-438D-BB99-037DA89E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098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2B"/>
                </a:solidFill>
              </a:defRPr>
            </a:pPr>
            <a:r>
              <a:rPr sz="1425">
                <a:solidFill>
                  <a:srgbClr val="17312B"/>
                </a:solidFill>
              </a:rPr>
              <a:t>170.75 ha − 118.13 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FF6C6-3828-4EB6-908E-358A48CC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6B52"/>
                </a:solidFill>
              </a:defRPr>
            </a:pPr>
            <a:r>
              <a:rPr sz="1800" b="1">
                <a:solidFill>
                  <a:srgbClr val="1E6B52"/>
                </a:solidFill>
              </a:rPr>
              <a:t>= 52.61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1FB53-5567-401D-981D-9267C539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6B52"/>
                </a:solidFill>
              </a:defRPr>
            </a:pPr>
            <a:r>
              <a:rPr sz="1275" b="1">
                <a:solidFill>
                  <a:srgbClr val="1E6B52"/>
                </a:solidFill>
              </a:rPr>
              <a:t>LR pathway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6FB89C-0D5D-4E49-A5C5-956D9ACD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2B"/>
                </a:solidFill>
              </a:defRPr>
            </a:pPr>
            <a:r>
              <a:rPr sz="1425">
                <a:solidFill>
                  <a:srgbClr val="17312B"/>
                </a:solidFill>
              </a:rPr>
              <a:t>Restore = MIN(post-2008 clearing, LR deficit)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DD76A-1AC0-4FEA-96BD-CEFC6BA5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6B52"/>
                </a:solidFill>
              </a:defRPr>
            </a:pPr>
            <a:r>
              <a:rPr sz="1800" b="1">
                <a:solidFill>
                  <a:srgbClr val="1E6B52"/>
                </a:solidFill>
              </a:rPr>
              <a:t>= 0.00 ha restore · 52.61 ha compensate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4E101-92B2-4C99-A6F1-14434C5C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244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E6B52"/>
                </a:solidFill>
              </a:defRPr>
            </a:pPr>
            <a:r>
              <a:rPr sz="1275" b="1">
                <a:solidFill>
                  <a:srgbClr val="1E6B52"/>
                </a:solidFill>
              </a:rPr>
              <a:t>APP restoration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64367-9F74-44DD-A001-28E15D42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292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2B"/>
                </a:solidFill>
              </a:defRPr>
            </a:pPr>
            <a:r>
              <a:rPr sz="1425">
                <a:solidFill>
                  <a:srgbClr val="17312B"/>
                </a:solidFill>
              </a:rPr>
              <a:t>Pre-2008 component after cap + post-2008 APP clearing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A0928-6FA8-4530-97F9-3638C216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81025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E6B52"/>
                </a:solidFill>
              </a:defRPr>
            </a:pPr>
            <a:r>
              <a:rPr sz="1800" b="1">
                <a:solidFill>
                  <a:srgbClr val="1E6B52"/>
                </a:solidFill>
              </a:rPr>
              <a:t>= 0.00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5A19A-E265-4620-B80D-FD38E121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48600"/>
            <a:ext cx="6800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716C"/>
                </a:solidFill>
              </a:defRPr>
            </a:pPr>
            <a:r>
              <a:rPr sz="1275" b="1">
                <a:solidFill>
                  <a:srgbClr val="5D716C"/>
                </a:solidFill>
              </a:rPr>
              <a:t>BASELINE TOTAL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A431D-404D-461A-A4E8-208F49A4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0"/>
            <a:ext cx="6800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5B4C"/>
                </a:solidFill>
              </a:defRPr>
            </a:pPr>
            <a:r>
              <a:rPr sz="3300" b="1">
                <a:solidFill>
                  <a:srgbClr val="B95B4C"/>
                </a:solidFill>
              </a:rPr>
              <a:t>52.61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A13541-7A1A-4CA3-929B-78ED16B2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7848600"/>
            <a:ext cx="950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716C"/>
                </a:solidFill>
              </a:defRPr>
            </a:pPr>
            <a:r>
              <a:rPr sz="1275" b="1">
                <a:solidFill>
                  <a:srgbClr val="5D716C"/>
                </a:solidFill>
              </a:rPr>
              <a:t>SECONDARY VEGETATION SCENARIO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4738D4-A6C7-488C-A416-646BCD30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191500"/>
            <a:ext cx="9505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E6B52"/>
                </a:solidFill>
              </a:defRPr>
            </a:pPr>
            <a:r>
              <a:rPr sz="2625" b="1">
                <a:solidFill>
                  <a:srgbClr val="1E6B52"/>
                </a:solidFill>
              </a:rPr>
              <a:t>79.11 ha added → 0.00 ha remaining</a:t>
            </a:r>
          </a:p>
        </p:txBody>
      </p:sp>
      <p:sp>
        <p:nvSpPr>
          <p:cNvPr id="19" name="source-5">
            <a:extLst xmlns:a="http://schemas.openxmlformats.org/drawingml/2006/main">
              <a:ext uri="{FF2B5EF4-FFF2-40B4-BE49-F238E27FC236}">
                <a16:creationId xmlns:a16="http://schemas.microsoft.com/office/drawing/2014/main" id="{A4D49B8C-17B1-4381-84B9-6D985875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678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716C"/>
                </a:solidFill>
              </a:defRPr>
            </a:pPr>
            <a:r>
              <a:rPr sz="975">
                <a:solidFill>
                  <a:srgbClr val="5D716C"/>
                </a:solidFill>
              </a:rPr>
              <a:t>Source: MT Forest Code compliance mega table · final 2026-09-30</a:t>
            </a:r>
          </a:p>
        </p:txBody>
      </p:sp>
      <p:sp>
        <p:nvSpPr>
          <p:cNvPr id="20" name="page-5">
            <a:extLst xmlns:a="http://schemas.openxmlformats.org/drawingml/2006/main">
              <a:ext uri="{FF2B5EF4-FFF2-40B4-BE49-F238E27FC236}">
                <a16:creationId xmlns:a16="http://schemas.microsoft.com/office/drawing/2014/main" id="{D4CFE375-EBF2-4017-BFEF-5DE436C5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6785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6B52"/>
                </a:solidFill>
              </a:defRPr>
            </a:pPr>
            <a:r>
              <a:rPr sz="1050" b="1">
                <a:solidFill>
                  <a:srgbClr val="1E6B5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567567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F35878E0-45F1-4C16-A324-6293CFD0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"/>
            <a:ext cx="1657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12B"/>
                </a:solidFill>
              </a:defRPr>
            </a:pPr>
            <a:r>
              <a:rPr sz="3450" b="1">
                <a:solidFill>
                  <a:srgbClr val="17312B"/>
                </a:solidFill>
              </a:rPr>
              <a:t>Small property · inputs and cut-off tests</a:t>
            </a:r>
          </a:p>
        </p:txBody>
      </p:sp>
      <p:sp>
        <p:nvSpPr>
          <p:cNvPr id="2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91E3B448-5FFA-406C-8297-B0DA3E73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6838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716C"/>
                </a:solidFill>
              </a:defRPr>
            </a:pPr>
            <a:r>
              <a:rPr sz="1875">
                <a:solidFill>
                  <a:srgbClr val="5D716C"/>
                </a:solidFill>
              </a:rPr>
              <a:t>2.41 fiscal modules · SIMCAR Validated · forest and cerrado both &gt; 0 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493DF-7630-465E-9A52-38BB49CF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29C7E-F29D-45C1-8924-1246F053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194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193.20 ha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EEFFB-0AC0-439B-946C-7E048FA7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Fiscal modules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6D0B7-9923-49A9-A636-CD15FF34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4577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2.41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2AC2AB-2E3D-4F4E-BB4E-52DB6FBE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150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Forest area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7A070-DF63-490E-B92E-20BF585E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1150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108.66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4D0DC-FAD3-4885-8756-3A7841A6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7533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Cerrado 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A393D-5DD5-4240-BB82-C37A19B4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77533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80.90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CB863-6BC6-45A9-BF91-BC4B9C20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384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Consolidated area 2000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41BC7E-85C6-4258-B62F-73A05EE1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194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140.02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D71143-5C9B-4437-9DAF-E779B857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767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Vegetation in 2000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25789-CD3D-41F8-9AC3-C0FDBFF6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53.18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95B64-E61C-49A0-984A-4888640A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1150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Consolidated area 2008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8CE83D-4D7C-4361-B32F-894C19E9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1150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64.85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7F6100-A1CC-4078-9033-9F4E79DA2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77533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Vegetation in 2008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DFED06-D353-4EB5-9027-87E0C730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7533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128.34 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F75485-5320-4FFB-BE27-D917730A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28384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Article 12 ceiling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DB045-F6CF-42B7-9771-C6FE09AE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28194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115.24 ha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5B256-BE31-4EB6-88CF-9A60EAC6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44767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Article 68 floor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23616-942A-4150-AB47-C45918F0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445770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70.51 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7392E-C59F-44DA-A15C-C7757A3C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61150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Article 67 requirement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0E5444-073D-4EB0-9A7C-EB6779FD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61150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115.24 ha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7BBE6-9F12-480B-B0F7-26E351BE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7753350"/>
            <a:ext cx="2895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Current native vegetation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A4623-E6BF-48B5-9C9E-EF61F836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25700" y="77533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61.34 ha</a:t>
            </a:r>
          </a:p>
        </p:txBody>
      </p:sp>
      <p:sp>
        <p:nvSpPr>
          <p:cNvPr id="27" name="property-key-6">
            <a:extLst xmlns:a="http://schemas.openxmlformats.org/drawingml/2006/main">
              <a:ext uri="{FF2B5EF4-FFF2-40B4-BE49-F238E27FC236}">
                <a16:creationId xmlns:a16="http://schemas.microsoft.com/office/drawing/2014/main" id="{ABB226FF-DA6E-4E7C-9D0A-DF276965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0"/>
            <a:ext cx="16573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D716C"/>
                </a:solidFill>
              </a:defRPr>
            </a:pPr>
            <a:r>
              <a:rPr sz="1050">
                <a:solidFill>
                  <a:srgbClr val="5D716C"/>
                </a:solidFill>
              </a:rPr>
              <a:t>Property key: MT-5103437-3035138E282C4E6686B61959CF506B0D</a:t>
            </a:r>
          </a:p>
        </p:txBody>
      </p:sp>
      <p:sp>
        <p:nvSpPr>
          <p:cNvPr id="28" name="source-6">
            <a:extLst xmlns:a="http://schemas.openxmlformats.org/drawingml/2006/main">
              <a:ext uri="{FF2B5EF4-FFF2-40B4-BE49-F238E27FC236}">
                <a16:creationId xmlns:a16="http://schemas.microsoft.com/office/drawing/2014/main" id="{4B5597F6-1B6D-45E9-AE6E-4BE25A49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678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716C"/>
                </a:solidFill>
              </a:defRPr>
            </a:pPr>
            <a:r>
              <a:rPr sz="975">
                <a:solidFill>
                  <a:srgbClr val="5D716C"/>
                </a:solidFill>
              </a:rPr>
              <a:t>Source: MT Forest Code compliance mega table · final 2026-09-30</a:t>
            </a:r>
          </a:p>
        </p:txBody>
      </p:sp>
      <p:sp>
        <p:nvSpPr>
          <p:cNvPr id="29" name="page-6">
            <a:extLst xmlns:a="http://schemas.openxmlformats.org/drawingml/2006/main">
              <a:ext uri="{FF2B5EF4-FFF2-40B4-BE49-F238E27FC236}">
                <a16:creationId xmlns:a16="http://schemas.microsoft.com/office/drawing/2014/main" id="{15F0A604-208F-4334-8EBC-2C0B2C5A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6785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6B52"/>
                </a:solidFill>
              </a:defRPr>
            </a:pPr>
            <a:r>
              <a:rPr sz="1050" b="1">
                <a:solidFill>
                  <a:srgbClr val="1E6B5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2538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6C329003-AB4E-4AA8-B54A-BBD63EB9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"/>
            <a:ext cx="1657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12B"/>
                </a:solidFill>
              </a:defRPr>
            </a:pPr>
            <a:r>
              <a:rPr sz="3450" b="1">
                <a:solidFill>
                  <a:srgbClr val="17312B"/>
                </a:solidFill>
              </a:rPr>
              <a:t>Small property · satellite context</a:t>
            </a:r>
          </a:p>
        </p:txBody>
      </p:sp>
      <p:sp>
        <p:nvSpPr>
          <p:cNvPr id="2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668C79FC-FD63-4259-8BE1-B402A2A4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579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716C"/>
                </a:solidFill>
              </a:defRPr>
            </a:pPr>
            <a:r>
              <a:rPr sz="1875">
                <a:solidFill>
                  <a:srgbClr val="5D716C"/>
                </a:solidFill>
              </a:rPr>
              <a:t>The CAR property polygon is overlaid on Esri World Imagery.</a:t>
            </a:r>
          </a:p>
        </p:txBody>
      </p:sp>
      <p:pic>
        <p:nvPicPr>
          <p:cNvPr id="3" name="property-map-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68ad692ca84454"/>
          <a:stretch xmlns:a="http://schemas.openxmlformats.org/drawingml/2006/main"/>
        </p:blipFill>
        <p:spPr>
          <a:xfrm xmlns:a="http://schemas.openxmlformats.org/drawingml/2006/main">
            <a:off x="857250" y="2618332"/>
            <a:ext cx="12230100" cy="571708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8E800-C92B-4366-A3A2-3A6119CF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667000"/>
            <a:ext cx="215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Property 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75BFC-1578-471F-BA04-10778021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26479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193.20 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E5E23F-6D0C-4FF0-96B7-211B1752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000500"/>
            <a:ext cx="215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Forest 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111B5-A1D0-4192-82C2-495CC4E1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39814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108.66 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47C3E-ED34-4697-B49D-CE0B859B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334000"/>
            <a:ext cx="215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Cerrado 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A4117-121B-4217-899A-BBE789B6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53149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80.90 ha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4C74A4-3771-4CCD-BFFA-AECACBF5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667500"/>
            <a:ext cx="215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Fiscal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D4597-A2D4-49B1-A6FE-3455F2FD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66484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2.41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9B321-19D1-42A8-8484-33F59AB8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001000"/>
            <a:ext cx="215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Baseline liability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15D543-1E76-45FA-AC71-45CF2BC9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7981950"/>
            <a:ext cx="1581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57.07 ha</a:t>
            </a:r>
          </a:p>
        </p:txBody>
      </p:sp>
      <p:sp>
        <p:nvSpPr>
          <p:cNvPr id="14" name="map-property-key-7">
            <a:extLst xmlns:a="http://schemas.openxmlformats.org/drawingml/2006/main">
              <a:ext uri="{FF2B5EF4-FFF2-40B4-BE49-F238E27FC236}">
                <a16:creationId xmlns:a16="http://schemas.microsoft.com/office/drawing/2014/main" id="{70A29B68-3DC1-4B4F-8E4C-F347BFE9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010650"/>
            <a:ext cx="16573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716C"/>
                </a:solidFill>
              </a:defRPr>
            </a:pPr>
            <a:r>
              <a:rPr sz="975">
                <a:solidFill>
                  <a:srgbClr val="5D716C"/>
                </a:solidFill>
              </a:rPr>
              <a:t>CAR boundary: MT-5103437-3035138E282C4E6686B61959CF506B0D</a:t>
            </a:r>
          </a:p>
        </p:txBody>
      </p:sp>
      <p:sp>
        <p:nvSpPr>
          <p:cNvPr id="15" name="source-7">
            <a:extLst xmlns:a="http://schemas.openxmlformats.org/drawingml/2006/main">
              <a:ext uri="{FF2B5EF4-FFF2-40B4-BE49-F238E27FC236}">
                <a16:creationId xmlns:a16="http://schemas.microsoft.com/office/drawing/2014/main" id="{368E8951-3CCB-4E53-A908-FBBF0AC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678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716C"/>
                </a:solidFill>
              </a:defRPr>
            </a:pPr>
            <a:r>
              <a:rPr sz="975">
                <a:solidFill>
                  <a:srgbClr val="5D716C"/>
                </a:solidFill>
              </a:rPr>
              <a:t>Source: MT Forest Code compliance mega table · final 2026-09-30</a:t>
            </a:r>
          </a:p>
        </p:txBody>
      </p:sp>
      <p:sp>
        <p:nvSpPr>
          <p:cNvPr id="16" name="page-7">
            <a:extLst xmlns:a="http://schemas.openxmlformats.org/drawingml/2006/main">
              <a:ext uri="{FF2B5EF4-FFF2-40B4-BE49-F238E27FC236}">
                <a16:creationId xmlns:a16="http://schemas.microsoft.com/office/drawing/2014/main" id="{B6C742B7-F9D4-476B-81E2-15D2D078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6785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6B52"/>
                </a:solidFill>
              </a:defRPr>
            </a:pPr>
            <a:r>
              <a:rPr sz="1050" b="1">
                <a:solidFill>
                  <a:srgbClr val="1E6B5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41417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341E4D22-4C65-4299-AEDC-D5917234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"/>
            <a:ext cx="1657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12B"/>
                </a:solidFill>
              </a:defRPr>
            </a:pPr>
            <a:r>
              <a:rPr sz="3450" b="1">
                <a:solidFill>
                  <a:srgbClr val="17312B"/>
                </a:solidFill>
              </a:rPr>
              <a:t>Small-property calculation chain</a:t>
            </a:r>
          </a:p>
        </p:txBody>
      </p:sp>
      <p:sp>
        <p:nvSpPr>
          <p:cNvPr id="2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9DCA7629-7DF1-45F8-B5EA-63A454F1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7905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716C"/>
                </a:solidFill>
              </a:defRPr>
            </a:pPr>
            <a:r>
              <a:rPr sz="1875">
                <a:solidFill>
                  <a:srgbClr val="5D716C"/>
                </a:solidFill>
              </a:rPr>
              <a:t>Article 67 determines LR; APP and secondary vegetation are calculated separately.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77F28-D483-4F33-9BFF-7DC0985CD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49A45"/>
                </a:solidFill>
              </a:defRPr>
            </a:pPr>
            <a:r>
              <a:rPr sz="1275" b="1">
                <a:solidFill>
                  <a:srgbClr val="D49A45"/>
                </a:solidFill>
              </a:rPr>
              <a:t>2008 cut-off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AED0C-1288-47A6-86EA-922E9880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2B"/>
                </a:solidFill>
              </a:defRPr>
            </a:pPr>
            <a:r>
              <a:rPr sz="1425">
                <a:solidFill>
                  <a:srgbClr val="17312B"/>
                </a:solidFill>
              </a:rPr>
              <a:t>MIN(115.24 ha, 128.34 ha)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B2F22-56A0-48BE-9C2D-27F0A340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9085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9A45"/>
                </a:solidFill>
              </a:defRPr>
            </a:pPr>
            <a:r>
              <a:rPr sz="1800" b="1">
                <a:solidFill>
                  <a:srgbClr val="D49A45"/>
                </a:solidFill>
              </a:rPr>
              <a:t>= Article 67 requirement: 115.24 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9A859-C866-435B-B9F8-11E16D27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050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49A45"/>
                </a:solidFill>
              </a:defRPr>
            </a:pPr>
            <a:r>
              <a:rPr sz="1275" b="1">
                <a:solidFill>
                  <a:srgbClr val="D49A45"/>
                </a:solidFill>
              </a:rPr>
              <a:t>Legal Reserve deficit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8B55D6-239D-4737-ABAA-513F0FD3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098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2B"/>
                </a:solidFill>
              </a:defRPr>
            </a:pPr>
            <a:r>
              <a:rPr sz="1425">
                <a:solidFill>
                  <a:srgbClr val="17312B"/>
                </a:solidFill>
              </a:rPr>
              <a:t>115.24 ha − 61.34 ha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3AC2B-DD3E-43EA-9938-13E604DB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9A45"/>
                </a:solidFill>
              </a:defRPr>
            </a:pPr>
            <a:r>
              <a:rPr sz="1800" b="1">
                <a:solidFill>
                  <a:srgbClr val="D49A45"/>
                </a:solidFill>
              </a:rPr>
              <a:t>= 53.90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D98D6-5F3F-4E54-A4AF-DACDF36DB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49A45"/>
                </a:solidFill>
              </a:defRPr>
            </a:pPr>
            <a:r>
              <a:rPr sz="1275" b="1">
                <a:solidFill>
                  <a:srgbClr val="D49A45"/>
                </a:solidFill>
              </a:rPr>
              <a:t>LR pathway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22FAB-7B02-4337-A44C-77003799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2B"/>
                </a:solidFill>
              </a:defRPr>
            </a:pPr>
            <a:r>
              <a:rPr sz="1425">
                <a:solidFill>
                  <a:srgbClr val="17312B"/>
                </a:solidFill>
              </a:rPr>
              <a:t>Restore = MIN(post-2008 clearing, LR deficit)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573A7-2F9A-472F-A5EC-C4098EDB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9A45"/>
                </a:solidFill>
              </a:defRPr>
            </a:pPr>
            <a:r>
              <a:rPr sz="1800" b="1">
                <a:solidFill>
                  <a:srgbClr val="D49A45"/>
                </a:solidFill>
              </a:rPr>
              <a:t>= 0.00 ha restore · 53.90 ha compensate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28587-61C8-4746-A9C9-081BB7E9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1244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49A45"/>
                </a:solidFill>
              </a:defRPr>
            </a:pPr>
            <a:r>
              <a:rPr sz="1275" b="1">
                <a:solidFill>
                  <a:srgbClr val="D49A45"/>
                </a:solidFill>
              </a:rPr>
              <a:t>APP restoration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1111E6-760A-4B7C-87B7-D0FCFE39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29250"/>
            <a:ext cx="7753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2B"/>
                </a:solidFill>
              </a:defRPr>
            </a:pPr>
            <a:r>
              <a:rPr sz="1425">
                <a:solidFill>
                  <a:srgbClr val="17312B"/>
                </a:solidFill>
              </a:rPr>
              <a:t>Pre-2008 component after cap + post-2008 APP clearing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4531E-8AC0-4173-AD56-0E72F38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81025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49A45"/>
                </a:solidFill>
              </a:defRPr>
            </a:pPr>
            <a:r>
              <a:rPr sz="1800" b="1">
                <a:solidFill>
                  <a:srgbClr val="D49A45"/>
                </a:solidFill>
              </a:rPr>
              <a:t>= 3.17 ha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DE4C3-E84F-422F-9B2C-FE55DEDE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48600"/>
            <a:ext cx="6800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716C"/>
                </a:solidFill>
              </a:defRPr>
            </a:pPr>
            <a:r>
              <a:rPr sz="1275" b="1">
                <a:solidFill>
                  <a:srgbClr val="5D716C"/>
                </a:solidFill>
              </a:rPr>
              <a:t>BASELINE TOTAL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56DC4-3EC1-4D18-B3E3-EB009ABB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191500"/>
            <a:ext cx="68008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95B4C"/>
                </a:solidFill>
              </a:defRPr>
            </a:pPr>
            <a:r>
              <a:rPr sz="3300" b="1">
                <a:solidFill>
                  <a:srgbClr val="B95B4C"/>
                </a:solidFill>
              </a:rPr>
              <a:t>57.07 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9B4AA-D6E8-429F-A99A-3844F805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7848600"/>
            <a:ext cx="9505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716C"/>
                </a:solidFill>
              </a:defRPr>
            </a:pPr>
            <a:r>
              <a:rPr sz="1275" b="1">
                <a:solidFill>
                  <a:srgbClr val="5D716C"/>
                </a:solidFill>
              </a:rPr>
              <a:t>SECONDARY VEGETATION SCENARIO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384067-78A1-4764-9F5D-A1667436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8191500"/>
            <a:ext cx="9505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E6B52"/>
                </a:solidFill>
              </a:defRPr>
            </a:pPr>
            <a:r>
              <a:rPr sz="2625" b="1">
                <a:solidFill>
                  <a:srgbClr val="1E6B52"/>
                </a:solidFill>
              </a:rPr>
              <a:t>48.40 ha added → 8.67 ha remaining</a:t>
            </a:r>
          </a:p>
        </p:txBody>
      </p:sp>
      <p:sp>
        <p:nvSpPr>
          <p:cNvPr id="19" name="source-8">
            <a:extLst xmlns:a="http://schemas.openxmlformats.org/drawingml/2006/main">
              <a:ext uri="{FF2B5EF4-FFF2-40B4-BE49-F238E27FC236}">
                <a16:creationId xmlns:a16="http://schemas.microsoft.com/office/drawing/2014/main" id="{D075FDAC-0563-4D15-BA8E-4994DE7B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678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716C"/>
                </a:solidFill>
              </a:defRPr>
            </a:pPr>
            <a:r>
              <a:rPr sz="975">
                <a:solidFill>
                  <a:srgbClr val="5D716C"/>
                </a:solidFill>
              </a:rPr>
              <a:t>Source: MT Forest Code compliance mega table · final 2026-09-30</a:t>
            </a:r>
          </a:p>
        </p:txBody>
      </p:sp>
      <p:sp>
        <p:nvSpPr>
          <p:cNvPr id="20" name="page-8">
            <a:extLst xmlns:a="http://schemas.openxmlformats.org/drawingml/2006/main">
              <a:ext uri="{FF2B5EF4-FFF2-40B4-BE49-F238E27FC236}">
                <a16:creationId xmlns:a16="http://schemas.microsoft.com/office/drawing/2014/main" id="{F893B9BA-72FF-47DC-919D-90CAB489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6785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6B52"/>
                </a:solidFill>
              </a:defRPr>
            </a:pPr>
            <a:r>
              <a:rPr sz="1050" b="1">
                <a:solidFill>
                  <a:srgbClr val="1E6B5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931968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FF075B3F-9F56-4BF1-B827-7189DCA1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"/>
            <a:ext cx="1657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12B"/>
                </a:solidFill>
              </a:defRPr>
            </a:pPr>
            <a:r>
              <a:rPr sz="3450" b="1">
                <a:solidFill>
                  <a:srgbClr val="17312B"/>
                </a:solidFill>
              </a:rPr>
              <a:t>What the two examples make visible</a:t>
            </a:r>
          </a:p>
        </p:txBody>
      </p:sp>
      <p:sp>
        <p:nvSpPr>
          <p:cNvPr id="2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0F228F9B-4551-446C-88A6-BEE4BDF0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76350"/>
            <a:ext cx="979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716C"/>
                </a:solidFill>
              </a:defRPr>
            </a:pPr>
            <a:r>
              <a:rPr sz="1875">
                <a:solidFill>
                  <a:srgbClr val="5D716C"/>
                </a:solidFill>
              </a:rPr>
              <a:t>The threshold changes the requirement—not the need for transparent inputs and reconciled outputs.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D1C13-F768-4286-BADE-31480291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3105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Property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51C8C-5974-47B3-9836-66CF4989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24150"/>
            <a:ext cx="2305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&gt; 4 modules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3C350-BD13-4020-8E85-A8333C37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33850"/>
            <a:ext cx="3105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Legal branch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785F8-D86D-446F-B1C2-2F2B9A62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33850"/>
            <a:ext cx="2305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Article 68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2D452-8B67-43C0-BEDC-52B6A9B1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3105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Requirement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D8D05-F56D-404A-A1CA-D5F03DE7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543550"/>
            <a:ext cx="2305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170.75 ha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D2764-D405-4EBB-B3F0-81C9A5EE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953250"/>
            <a:ext cx="3105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Baseline 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2A391-4922-4147-832A-B115DFCB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934200"/>
            <a:ext cx="2305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52.61 ha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4770E-E7CC-4333-8610-17AF99AD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8362950"/>
            <a:ext cx="3105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With secondary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B4C2A-37E8-4264-977B-DFF1422D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8343900"/>
            <a:ext cx="2305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E6B52"/>
                </a:solidFill>
              </a:defRPr>
            </a:pPr>
            <a:r>
              <a:rPr sz="1650" b="1">
                <a:solidFill>
                  <a:srgbClr val="1E6B52"/>
                </a:solidFill>
              </a:rPr>
              <a:t>0.00 ha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BF053-6BF3-42CB-9362-4E944534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281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Property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45DC24-7192-41C6-8B9D-5F7909CE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724150"/>
            <a:ext cx="207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&lt; 4 modules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6081F-C686-4444-9D23-35639CA6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281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Legal branch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6202B-8100-495F-AC77-9A5C91AA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33850"/>
            <a:ext cx="207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Article 67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EDC25C-75FB-426C-B380-E6A4B229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43550"/>
            <a:ext cx="281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Requirement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B18228-3CE8-4148-8A9A-FD28730F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543550"/>
            <a:ext cx="207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115.24 ha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22DA4-95FB-484D-96FA-FD6BA29E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6953250"/>
            <a:ext cx="281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Baseline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B8863-F7D6-4D50-A489-56C2376D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934200"/>
            <a:ext cx="207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57.07 ha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7D654F-C384-4DE3-8215-54044065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8362950"/>
            <a:ext cx="2819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D716C"/>
                </a:solidFill>
              </a:defRPr>
            </a:pPr>
            <a:r>
              <a:rPr sz="1275">
                <a:solidFill>
                  <a:srgbClr val="5D716C"/>
                </a:solidFill>
              </a:rPr>
              <a:t>With secondary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1ADE8B-7A76-4598-B9B7-D4D64F56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8343900"/>
            <a:ext cx="20764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49A45"/>
                </a:solidFill>
              </a:defRPr>
            </a:pPr>
            <a:r>
              <a:rPr sz="1650" b="1">
                <a:solidFill>
                  <a:srgbClr val="D49A45"/>
                </a:solidFill>
              </a:rPr>
              <a:t>8.67 ha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484528-7DEE-4E73-A882-C42AF614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2419350"/>
            <a:ext cx="4705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12B"/>
                </a:solidFill>
              </a:defRPr>
            </a:pPr>
            <a:r>
              <a:rPr sz="2400" b="1">
                <a:solidFill>
                  <a:srgbClr val="17312B"/>
                </a:solidFill>
              </a:rPr>
              <a:t>Audit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FE63B5-B953-42EA-A1EE-9C59258A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048000"/>
            <a:ext cx="4705350" cy="3714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D716C"/>
                </a:solidFill>
              </a:defRPr>
            </a:pPr>
            <a:r>
              <a:rPr sz="1725">
                <a:solidFill>
                  <a:srgbClr val="5D716C"/>
                </a:solidFill>
              </a:rPr>
              <a:t>1. Inputs retain their source-specific columns.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5D716C"/>
                </a:solidFill>
              </a:defRPr>
            </a:pPr>
            <a:r>
              <a:rPr sz="1725">
                <a:solidFill>
                  <a:srgbClr val="5D716C"/>
                </a:solidFill>
              </a:rPr>
              <a:t>2. 2000 and 2008 remain separate cut-offs.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5D716C"/>
                </a:solidFill>
              </a:defRPr>
            </a:pPr>
            <a:r>
              <a:rPr sz="1725">
                <a:solidFill>
                  <a:srgbClr val="5D716C"/>
                </a:solidFill>
              </a:rPr>
              <a:t>3. Restore + compensate = LR deficit.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>
                <a:solidFill>
                  <a:srgbClr val="5D716C"/>
                </a:solidFill>
              </a:defRPr>
            </a:pPr>
            <a:r>
              <a:rPr sz="1725">
                <a:solidFill>
                  <a:srgbClr val="5D716C"/>
                </a:solidFill>
              </a:rPr>
              <a:t>4. Secondary vegetation cannot push vegetation above property area.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B298A2-50E7-4755-B47B-49FEA26C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972300"/>
            <a:ext cx="47053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FC65B"/>
                </a:solidFill>
              </a:defRPr>
            </a:pPr>
            <a:r>
              <a:rPr sz="1650" b="1">
                <a:solidFill>
                  <a:srgbClr val="9FC65B"/>
                </a:solidFill>
              </a:rPr>
              <a:t>Every number shown here is traceable to the 638-column mega table.</a:t>
            </a:r>
          </a:p>
        </p:txBody>
      </p:sp>
      <p:sp>
        <p:nvSpPr>
          <p:cNvPr id="26" name="source-9">
            <a:extLst xmlns:a="http://schemas.openxmlformats.org/drawingml/2006/main">
              <a:ext uri="{FF2B5EF4-FFF2-40B4-BE49-F238E27FC236}">
                <a16:creationId xmlns:a16="http://schemas.microsoft.com/office/drawing/2014/main" id="{34B98853-EF0C-408F-BD83-9908CFC5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467850"/>
            <a:ext cx="3295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D716C"/>
                </a:solidFill>
              </a:defRPr>
            </a:pPr>
            <a:r>
              <a:rPr sz="975">
                <a:solidFill>
                  <a:srgbClr val="5D716C"/>
                </a:solidFill>
              </a:rPr>
              <a:t>Source: MT Forest Code compliance mega table · final 2026-09-30</a:t>
            </a:r>
          </a:p>
        </p:txBody>
      </p:sp>
      <p:sp>
        <p:nvSpPr>
          <p:cNvPr id="27" name="page-9">
            <a:extLst xmlns:a="http://schemas.openxmlformats.org/drawingml/2006/main">
              <a:ext uri="{FF2B5EF4-FFF2-40B4-BE49-F238E27FC236}">
                <a16:creationId xmlns:a16="http://schemas.microsoft.com/office/drawing/2014/main" id="{1037BE4C-7D68-4EE0-AE25-232AB51B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0" y="946785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6B52"/>
                </a:solidFill>
              </a:defRPr>
            </a:pPr>
            <a:r>
              <a:rPr sz="1050" b="1">
                <a:solidFill>
                  <a:srgbClr val="1E6B5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78637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2026-09-30T18:31:30.9090000Z</dcterms:created>
  <dcterms:modified xsi:type="dcterms:W3CDTF">2026-09-30T18:31:30.9090000Z</dcterms:modified>
</coreProperties>
</file>