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56beb8b9e144f3" /><Relationship Type="http://schemas.openxmlformats.org/officeDocument/2006/relationships/extended-properties" Target="/docProps/app.xml" Id="R5b9bf0f7f5d5471d" /><Relationship Type="http://schemas.openxmlformats.org/officeDocument/2006/relationships/officeDocument" Target="/ppt/presentation.xml" Id="R0f588b0710e045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10184f98c24d1e"/>
  </p:sldMasterIdLst>
  <p:notesMasterIdLst>
    <p:notesMasterId xmlns:r="http://schemas.openxmlformats.org/officeDocument/2006/relationships" r:id="R5e9192950d0440b5"/>
  </p:notesMasterIdLst>
  <p:sldIdLst>
    <p:sldId xmlns:r="http://schemas.openxmlformats.org/officeDocument/2006/relationships" id="256" r:id="Ra1d66a24af9942ea"/>
    <p:sldId xmlns:r="http://schemas.openxmlformats.org/officeDocument/2006/relationships" id="257" r:id="R3140e8d9c4b642eb"/>
    <p:sldId xmlns:r="http://schemas.openxmlformats.org/officeDocument/2006/relationships" id="258" r:id="R52c957bdb41f40cf"/>
    <p:sldId xmlns:r="http://schemas.openxmlformats.org/officeDocument/2006/relationships" id="259" r:id="Rebdf27241ddc4de6"/>
    <p:sldId xmlns:r="http://schemas.openxmlformats.org/officeDocument/2006/relationships" id="260" r:id="Rcd433ef5c80c4cf5"/>
    <p:sldId xmlns:r="http://schemas.openxmlformats.org/officeDocument/2006/relationships" id="261" r:id="R9d1fe6579b774e7e"/>
    <p:sldId xmlns:r="http://schemas.openxmlformats.org/officeDocument/2006/relationships" id="262" r:id="Re09a3f583ab0406e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10184f98c24d1e" /><Relationship Type="http://schemas.openxmlformats.org/officeDocument/2006/relationships/theme" Target="/ppt/theme/theme1.xml" Id="R06ef76e88dea4f5d" /><Relationship Type="http://schemas.openxmlformats.org/officeDocument/2006/relationships/notesMaster" Target="/ppt/notesMasters/notesMaster1.xml" Id="R5e9192950d0440b5" /><Relationship Type="http://schemas.openxmlformats.org/officeDocument/2006/relationships/presProps" Target="/ppt/presProps.xml" Id="R12e12412bfc248ff" /><Relationship Type="http://schemas.openxmlformats.org/officeDocument/2006/relationships/viewProps" Target="/ppt/viewProps.xml" Id="R190adf37c068442b" /><Relationship Type="http://schemas.openxmlformats.org/officeDocument/2006/relationships/tableStyles" Target="/ppt/tableStyles.xml" Id="Rdde6c3b467a845a6" /><Relationship Type="http://schemas.openxmlformats.org/officeDocument/2006/relationships/slide" Target="/ppt/slides/slide1.xml" Id="Ra1d66a24af9942ea" /><Relationship Type="http://schemas.openxmlformats.org/officeDocument/2006/relationships/slide" Target="/ppt/slides/slide2.xml" Id="R3140e8d9c4b642eb" /><Relationship Type="http://schemas.openxmlformats.org/officeDocument/2006/relationships/slide" Target="/ppt/slides/slide3.xml" Id="R52c957bdb41f40cf" /><Relationship Type="http://schemas.openxmlformats.org/officeDocument/2006/relationships/slide" Target="/ppt/slides/slide4.xml" Id="Rebdf27241ddc4de6" /><Relationship Type="http://schemas.openxmlformats.org/officeDocument/2006/relationships/slide" Target="/ppt/slides/slide5.xml" Id="Rcd433ef5c80c4cf5" /><Relationship Type="http://schemas.openxmlformats.org/officeDocument/2006/relationships/slide" Target="/ppt/slides/slide6.xml" Id="R9d1fe6579b774e7e" /><Relationship Type="http://schemas.openxmlformats.org/officeDocument/2006/relationships/slide" Target="/ppt/slides/slide7.xml" Id="Re09a3f583ab040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7efca66ca6d40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4a86ef20db443d" /><Relationship Type="http://schemas.openxmlformats.org/officeDocument/2006/relationships/notesMaster" Target="/ppt/notesMasters/notesMaster1.xml" Id="R2d1d3fbf431647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68d037379049e0" /><Relationship Type="http://schemas.openxmlformats.org/officeDocument/2006/relationships/notesMaster" Target="/ppt/notesMasters/notesMaster1.xml" Id="R5df45bd97bdd43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507b633d76423d" /><Relationship Type="http://schemas.openxmlformats.org/officeDocument/2006/relationships/notesMaster" Target="/ppt/notesMasters/notesMaster1.xml" Id="R04dae4c1322541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d5ed325b1b44b7" /><Relationship Type="http://schemas.openxmlformats.org/officeDocument/2006/relationships/notesMaster" Target="/ppt/notesMasters/notesMaster1.xml" Id="R199dd416121940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5ce12c8e314fe3" /><Relationship Type="http://schemas.openxmlformats.org/officeDocument/2006/relationships/notesMaster" Target="/ppt/notesMasters/notesMaster1.xml" Id="R682e8a728bce4e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0a97d8c123447e" /><Relationship Type="http://schemas.openxmlformats.org/officeDocument/2006/relationships/notesMaster" Target="/ppt/notesMasters/notesMaster1.xml" Id="R869cc0cabd2841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f8d20766a94236" /><Relationship Type="http://schemas.openxmlformats.org/officeDocument/2006/relationships/notesMaster" Target="/ppt/notesMasters/notesMaster1.xml" Id="Rdff28f5f39bc41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eb9778e5ef4cf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318ad47893e4ae4" /><Relationship Type="http://schemas.openxmlformats.org/officeDocument/2006/relationships/slideLayout" Target="/ppt/slideLayouts/slideLayout2.xml" Id="R213b1f8f37b94a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3b1f8f37b94a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2057f2bcf14923" /><Relationship Type="http://schemas.openxmlformats.org/officeDocument/2006/relationships/notesSlide" Target="/ppt/notesSlides/notesSlide1.xml" Id="R24461540225249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f21a309bc74293" /><Relationship Type="http://schemas.openxmlformats.org/officeDocument/2006/relationships/notesSlide" Target="/ppt/notesSlides/notesSlide2.xml" Id="R6d56d2cc99b641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36bd7d4d6c4ed0" /><Relationship Type="http://schemas.openxmlformats.org/officeDocument/2006/relationships/notesSlide" Target="/ppt/notesSlides/notesSlide3.xml" Id="Rdd9222618bbb4f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720c23af774b11" /><Relationship Type="http://schemas.openxmlformats.org/officeDocument/2006/relationships/notesSlide" Target="/ppt/notesSlides/notesSlide4.xml" Id="R4edf4716678f44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b82a844a34602" /><Relationship Type="http://schemas.openxmlformats.org/officeDocument/2006/relationships/notesSlide" Target="/ppt/notesSlides/notesSlide5.xml" Id="Re7e6bc10cce148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dd06e1c735499d" /><Relationship Type="http://schemas.openxmlformats.org/officeDocument/2006/relationships/notesSlide" Target="/ppt/notesSlides/notesSlide6.xml" Id="R177675dcfa2148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8cbda9cf6c4420" /><Relationship Type="http://schemas.openxmlformats.org/officeDocument/2006/relationships/notesSlide" Target="/ppt/notesSlides/notesSlide7.xml" Id="Rdd0589068246427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C1FF82AF-EB73-4897-8514-7026DCD1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57250"/>
            <a:ext cx="16192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9FC65B"/>
                </a:solidFill>
              </a:defRPr>
            </a:pPr>
            <a:r>
              <a:rPr sz="1500" b="1">
                <a:solidFill>
                  <a:srgbClr val="9FC65B"/>
                </a:solidFill>
              </a:rPr>
              <a:t>FOREST CODE · WORKED EXAMPLES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58E4862-B04A-4946-B69A-4A8B4BE6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16192500" cy="2381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7312B"/>
                </a:solidFill>
              </a:defRPr>
            </a:pPr>
            <a:r>
              <a:rPr sz="5400" b="1">
                <a:solidFill>
                  <a:srgbClr val="17312B"/>
                </a:solidFill>
              </a:rPr>
              <a:t>Two properties.</a:t>
            </a:r>
          </a:p>
          <a:p xmlns:a="http://schemas.openxmlformats.org/drawingml/2006/main">
            <a:pPr>
              <a:defRPr sz="5400" b="1">
                <a:solidFill>
                  <a:srgbClr val="17312B"/>
                </a:solidFill>
              </a:defRPr>
            </a:pPr>
            <a:r>
              <a:rPr sz="5400" b="1">
                <a:solidFill>
                  <a:srgbClr val="17312B"/>
                </a:solidFill>
              </a:rPr>
              <a:t>One transparent calculation chain.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89F58FC6-2F98-4256-9277-406C5D5F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529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9A45"/>
          </a:solidFill>
          <a:ln xmlns:a="http://schemas.openxmlformats.org/drawingml/2006/main" w="0">
            <a:solidFill>
              <a:srgbClr val="D49A45"/>
            </a:solidFill>
            <a:prstDash val="solid"/>
          </a:ln>
        </p:spPr>
      </p:sp>
      <p:sp>
        <p:nvSpPr>
          <p:cNvPr id="4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2EEA85DD-0316-44D2-9872-BBA9C319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95800"/>
            <a:ext cx="11430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5D716C"/>
                </a:solidFill>
              </a:defRPr>
            </a:pPr>
            <a:r>
              <a:rPr sz="2250">
                <a:solidFill>
                  <a:srgbClr val="5D716C"/>
                </a:solidFill>
              </a:rPr>
              <a:t>A field-by-field walkthrough for properties above and below four fiscal modules — both with forest and cerrado areas greater than zero.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DC93C9-D5FE-45F7-8F6F-1EAABD52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115050"/>
            <a:ext cx="13335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Mato Grosso · Final compliance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2760E3-5373-47E0-84D9-02AB1CEF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0" y="6115050"/>
            <a:ext cx="285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200">
                <a:solidFill>
                  <a:srgbClr val="5D716C"/>
                </a:solidFill>
              </a:rPr>
              <a:t>30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89730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4B452F6C-08B4-411C-8B42-567FB766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"/>
            <a:ext cx="16573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12B"/>
                </a:solidFill>
              </a:defRPr>
            </a:pPr>
            <a:r>
              <a:rPr sz="3450" b="1">
                <a:solidFill>
                  <a:srgbClr val="17312B"/>
                </a:solidFill>
              </a:rPr>
              <a:t>The four-module threshold changes the legal requirement</a:t>
            </a:r>
          </a:p>
        </p:txBody>
      </p:sp>
      <p:sp>
        <p:nvSpPr>
          <p:cNvPr id="2" name="slide-subtitle-2">
            <a:extLst xmlns:a="http://schemas.openxmlformats.org/drawingml/2006/main">
              <a:ext uri="{FF2B5EF4-FFF2-40B4-BE49-F238E27FC236}">
                <a16:creationId xmlns:a16="http://schemas.microsoft.com/office/drawing/2014/main" id="{EDED5141-F9E9-4A0B-B798-DBB0751D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76350"/>
            <a:ext cx="6515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D716C"/>
                </a:solidFill>
              </a:defRPr>
            </a:pPr>
            <a:r>
              <a:rPr sz="1875">
                <a:solidFill>
                  <a:srgbClr val="5D716C"/>
                </a:solidFill>
              </a:rPr>
              <a:t>The same harmonized inputs feed two different statutory branches.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208C6-73AC-47D4-AB43-DB9BDA20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76500"/>
            <a:ext cx="74104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E6B52"/>
                </a:solidFill>
              </a:defRPr>
            </a:pPr>
            <a:r>
              <a:rPr sz="2700" b="1">
                <a:solidFill>
                  <a:srgbClr val="1E6B52"/>
                </a:solidFill>
              </a:rPr>
              <a:t>&gt; 4 fiscal modules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70D8A-FDA8-4B76-B02B-2DA2EBED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74104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12B"/>
                </a:solidFill>
              </a:defRPr>
            </a:pPr>
            <a:r>
              <a:rPr sz="1875" b="1">
                <a:solidFill>
                  <a:srgbClr val="17312B"/>
                </a:solidFill>
              </a:rPr>
              <a:t>Article 68 binary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07E0E0-9F87-454B-87F9-98BEE07B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57600"/>
            <a:ext cx="74104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312B"/>
                </a:solidFill>
              </a:defRPr>
            </a:pPr>
            <a:r>
              <a:rPr sz="1650">
                <a:solidFill>
                  <a:srgbClr val="17312B"/>
                </a:solidFill>
              </a:rPr>
              <a:t>If vegetation in 2000 met the historical floor, the floor applies. Otherwise, the full Article 12 ceiling applies.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2C677A-EC75-4FD0-A0F2-CBC0A615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05400"/>
            <a:ext cx="6991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E6B52"/>
                </a:solidFill>
              </a:defRPr>
            </a:pPr>
            <a:r>
              <a:rPr sz="1275" b="1">
                <a:solidFill>
                  <a:srgbClr val="1E6B52"/>
                </a:solidFill>
              </a:rPr>
              <a:t>Requirement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A32F67-7D4D-4623-AC30-87159013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410200"/>
            <a:ext cx="6991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IF veg_2000 ≥ historical floor → floor; ELSE → current ceiling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F3384-A9C3-4055-A9B2-497779D9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791200"/>
            <a:ext cx="6991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E6B52"/>
                </a:solidFill>
              </a:defRPr>
            </a:pPr>
            <a:r>
              <a:rPr sz="1800" b="1">
                <a:solidFill>
                  <a:srgbClr val="1E6B52"/>
                </a:solidFill>
              </a:rPr>
              <a:t>= rl_req_art68_ha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7FB65-5F88-4D58-85F5-87745BF9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8553450"/>
            <a:ext cx="74104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Worked case: 6.00 modules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DF4FB5-D752-4968-8876-A0BC4D22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76500"/>
            <a:ext cx="74104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D49A45"/>
                </a:solidFill>
              </a:defRPr>
            </a:pPr>
            <a:r>
              <a:rPr sz="2700" b="1">
                <a:solidFill>
                  <a:srgbClr val="D49A45"/>
                </a:solidFill>
              </a:rPr>
              <a:t>&lt; 4 fiscal modules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7D4A17-0074-4800-9F20-60778A2C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24200"/>
            <a:ext cx="74104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312B"/>
                </a:solidFill>
              </a:defRPr>
            </a:pPr>
            <a:r>
              <a:rPr sz="1875" b="1">
                <a:solidFill>
                  <a:srgbClr val="17312B"/>
                </a:solidFill>
              </a:rPr>
              <a:t>Article 67 cut-off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22CBF2-1ACE-4F6D-958F-822F5BDD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57600"/>
            <a:ext cx="74104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312B"/>
                </a:solidFill>
              </a:defRPr>
            </a:pPr>
            <a:r>
              <a:rPr sz="1650">
                <a:solidFill>
                  <a:srgbClr val="17312B"/>
                </a:solidFill>
              </a:rPr>
              <a:t>The requirement is the lower of the current Article 12 ceiling and native vegetation that existed in 2008.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55C5F0-2431-4702-AB59-6CA9B9F0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105400"/>
            <a:ext cx="6991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A45"/>
                </a:solidFill>
              </a:defRPr>
            </a:pPr>
            <a:r>
              <a:rPr sz="1275" b="1">
                <a:solidFill>
                  <a:srgbClr val="D49A45"/>
                </a:solidFill>
              </a:rPr>
              <a:t>Requirement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93E95D-B27D-49CB-9D2C-73366D0D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410200"/>
            <a:ext cx="6991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MIN(current ceiling, vegetation in 2008)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A8DAC8-D3EC-4691-A25D-46B30256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791200"/>
            <a:ext cx="6991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49A45"/>
                </a:solidFill>
              </a:defRPr>
            </a:pPr>
            <a:r>
              <a:rPr sz="1800" b="1">
                <a:solidFill>
                  <a:srgbClr val="D49A45"/>
                </a:solidFill>
              </a:rPr>
              <a:t>= rl_req_art67_ha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3F39CB-B191-4E41-9006-71716F9C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553450"/>
            <a:ext cx="74104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Worked case: 2.41 modules</a:t>
            </a:r>
          </a:p>
        </p:txBody>
      </p:sp>
      <p:sp>
        <p:nvSpPr>
          <p:cNvPr id="17" name="source-2">
            <a:extLst xmlns:a="http://schemas.openxmlformats.org/drawingml/2006/main">
              <a:ext uri="{FF2B5EF4-FFF2-40B4-BE49-F238E27FC236}">
                <a16:creationId xmlns:a16="http://schemas.microsoft.com/office/drawing/2014/main" id="{9E6194ED-2EE5-4E46-964A-FB0BBA6B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67850"/>
            <a:ext cx="3295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Source: MT Forest Code compliance mega table · final 2026-09-30</a:t>
            </a:r>
          </a:p>
        </p:txBody>
      </p:sp>
      <p:sp>
        <p:nvSpPr>
          <p:cNvPr id="18" name="page-2">
            <a:extLst xmlns:a="http://schemas.openxmlformats.org/drawingml/2006/main">
              <a:ext uri="{FF2B5EF4-FFF2-40B4-BE49-F238E27FC236}">
                <a16:creationId xmlns:a16="http://schemas.microsoft.com/office/drawing/2014/main" id="{3653E325-717F-472D-874B-632F2452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0" y="9467850"/>
            <a:ext cx="571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B52"/>
                </a:solidFill>
              </a:defRPr>
            </a:pPr>
            <a:r>
              <a:rPr sz="1050" b="1">
                <a:solidFill>
                  <a:srgbClr val="1E6B5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203364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84C0CB92-935C-4C10-8150-F7B6AA9D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"/>
            <a:ext cx="16573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12B"/>
                </a:solidFill>
              </a:defRPr>
            </a:pPr>
            <a:r>
              <a:rPr sz="3450" b="1">
                <a:solidFill>
                  <a:srgbClr val="17312B"/>
                </a:solidFill>
              </a:rPr>
              <a:t>Large property · inputs and cut-off tests</a:t>
            </a:r>
          </a:p>
        </p:txBody>
      </p:sp>
      <p:sp>
        <p:nvSpPr>
          <p:cNvPr id="2" name="slide-subtitle-3">
            <a:extLst xmlns:a="http://schemas.openxmlformats.org/drawingml/2006/main">
              <a:ext uri="{FF2B5EF4-FFF2-40B4-BE49-F238E27FC236}">
                <a16:creationId xmlns:a16="http://schemas.microsoft.com/office/drawing/2014/main" id="{FF835CF1-8F59-4884-A4CF-F99F78A9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76350"/>
            <a:ext cx="65532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D716C"/>
                </a:solidFill>
              </a:defRPr>
            </a:pPr>
            <a:r>
              <a:rPr sz="1875">
                <a:solidFill>
                  <a:srgbClr val="5D716C"/>
                </a:solidFill>
              </a:rPr>
              <a:t>6.00 fiscal modules · SIMCAR Digital · forest and cerrado both &gt; 0 ha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FF73A-564F-4ED4-ADD4-5DA99482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F3235-3F0E-48B8-9B27-E61AEEF6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194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599.92 ha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4AB80-AA1F-401A-B3B0-C7DA656E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Fiscal modules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6D04CC-40BB-4CF5-90F2-AE316A70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4577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6.00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9F9B4-1320-4196-B764-347325A1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150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Forest area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00B501-ED7C-465E-B086-83B342A8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1150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169.21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D078EA-A01C-49F1-8752-0D32423E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7533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Cerrado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CF0ED-C378-4435-88CF-41694AC5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77533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430.71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FD9DA4-A82C-447B-B340-2088DE1D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384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Consolidated area 2000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F75EA-2760-4680-8717-596E595C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194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273.13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221123-3C23-4598-A785-035A6D3D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767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Vegetation in 2000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3EB4CD-7D7C-450F-88DD-D3269488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4577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326.79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69CB3B-D1BB-4F1A-A369-C09700BB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1150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Consolidated area 2008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7C4D0B-8025-4C56-8F14-EF3FE15F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150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0.00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3A2F1F-7EEF-43D7-8E36-E480D615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77533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Vegetation in 2008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3FCF6-EDEA-45C5-ABDF-63E3D344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7533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599.92 ha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87421A-CCFB-48FA-AD00-AC8E355D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28384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Article 12 ceiling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A31D58-1431-4386-B2EA-FB08A4B7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0" y="28194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286.12 ha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66BC54-954B-43CB-823D-B7951334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44767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Article 68 floor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6378FC-0A30-4B67-8F63-5026CE34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0" y="44577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170.75 ha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4E2B10-0B33-4479-A5CA-171A4E68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61150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Article 68 requirement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3A03C3-218F-4DF8-933D-29455173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0" y="61150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170.75 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E313-8C8A-4668-9EC1-B08F5BC7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77533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F51C81-C06F-4118-9107-4E38BE37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0" y="77533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118.13 ha</a:t>
            </a:r>
          </a:p>
        </p:txBody>
      </p:sp>
      <p:sp>
        <p:nvSpPr>
          <p:cNvPr id="27" name="property-key-3">
            <a:extLst xmlns:a="http://schemas.openxmlformats.org/drawingml/2006/main">
              <a:ext uri="{FF2B5EF4-FFF2-40B4-BE49-F238E27FC236}">
                <a16:creationId xmlns:a16="http://schemas.microsoft.com/office/drawing/2014/main" id="{F0D8487F-D99D-45FD-9602-282EC6B4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953500"/>
            <a:ext cx="16573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D716C"/>
                </a:solidFill>
              </a:defRPr>
            </a:pPr>
            <a:r>
              <a:rPr sz="1050">
                <a:solidFill>
                  <a:srgbClr val="5D716C"/>
                </a:solidFill>
              </a:rPr>
              <a:t>Property key: MT-5107875-FCDC7412E5B04C10A7B5B8FA8CE4B049</a:t>
            </a:r>
          </a:p>
        </p:txBody>
      </p:sp>
      <p:sp>
        <p:nvSpPr>
          <p:cNvPr id="28" name="source-3">
            <a:extLst xmlns:a="http://schemas.openxmlformats.org/drawingml/2006/main">
              <a:ext uri="{FF2B5EF4-FFF2-40B4-BE49-F238E27FC236}">
                <a16:creationId xmlns:a16="http://schemas.microsoft.com/office/drawing/2014/main" id="{BC1E58D3-8886-42A7-9197-56B2587F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67850"/>
            <a:ext cx="3295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Source: MT Forest Code compliance mega table · final 2026-09-30</a:t>
            </a:r>
          </a:p>
        </p:txBody>
      </p:sp>
      <p:sp>
        <p:nvSpPr>
          <p:cNvPr id="29" name="page-3">
            <a:extLst xmlns:a="http://schemas.openxmlformats.org/drawingml/2006/main">
              <a:ext uri="{FF2B5EF4-FFF2-40B4-BE49-F238E27FC236}">
                <a16:creationId xmlns:a16="http://schemas.microsoft.com/office/drawing/2014/main" id="{81A984CF-7F7F-4990-B567-A6A95C3E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0" y="9467850"/>
            <a:ext cx="571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B52"/>
                </a:solidFill>
              </a:defRPr>
            </a:pPr>
            <a:r>
              <a:rPr sz="1050" b="1">
                <a:solidFill>
                  <a:srgbClr val="1E6B5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680939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01160476-BC88-4AC5-BA95-0395DF43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"/>
            <a:ext cx="16573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12B"/>
                </a:solidFill>
              </a:defRPr>
            </a:pPr>
            <a:r>
              <a:rPr sz="3450" b="1">
                <a:solidFill>
                  <a:srgbClr val="17312B"/>
                </a:solidFill>
              </a:rPr>
              <a:t>Large-property calculation chain</a:t>
            </a:r>
          </a:p>
        </p:txBody>
      </p:sp>
      <p:sp>
        <p:nvSpPr>
          <p:cNvPr id="2" name="slide-subtitle-4">
            <a:extLst xmlns:a="http://schemas.openxmlformats.org/drawingml/2006/main">
              <a:ext uri="{FF2B5EF4-FFF2-40B4-BE49-F238E27FC236}">
                <a16:creationId xmlns:a16="http://schemas.microsoft.com/office/drawing/2014/main" id="{A355FB53-7540-4F05-98FA-D46AB433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76350"/>
            <a:ext cx="7905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D716C"/>
                </a:solidFill>
              </a:defRPr>
            </a:pPr>
            <a:r>
              <a:rPr sz="1875">
                <a:solidFill>
                  <a:srgbClr val="5D716C"/>
                </a:solidFill>
              </a:rPr>
              <a:t>Article 68 determines LR; APP and secondary vegetation are calculated separately.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9AF7F-1F92-499F-895D-ED4B3D65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05050"/>
            <a:ext cx="7753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E6B52"/>
                </a:solidFill>
              </a:defRPr>
            </a:pPr>
            <a:r>
              <a:rPr sz="1275" b="1">
                <a:solidFill>
                  <a:srgbClr val="1E6B52"/>
                </a:solidFill>
              </a:rPr>
              <a:t>2000 legal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723B75-8E37-4868-907E-5FA852E7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09850"/>
            <a:ext cx="7753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326.79 ha ≥ 170.75 ha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47969-27AE-4695-A753-AF00C1FB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7753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E6B52"/>
                </a:solidFill>
              </a:defRPr>
            </a:pPr>
            <a:r>
              <a:rPr sz="1800" b="1">
                <a:solidFill>
                  <a:srgbClr val="1E6B52"/>
                </a:solidFill>
              </a:rPr>
              <a:t>= Historical floor applies: 170.75 ha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0AEC7-1549-458C-BA00-C18EA3E1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05050"/>
            <a:ext cx="7753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E6B52"/>
                </a:solidFill>
              </a:defRPr>
            </a:pPr>
            <a:r>
              <a:rPr sz="1275" b="1">
                <a:solidFill>
                  <a:srgbClr val="1E6B52"/>
                </a:solidFill>
              </a:rPr>
              <a:t>Legal Reserve deficit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198E79-8F97-4A4B-A07C-E3BC229B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609850"/>
            <a:ext cx="7753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170.75 ha − 118.13 ha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0301A8-131B-4324-873A-4B167F13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90850"/>
            <a:ext cx="7753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E6B52"/>
                </a:solidFill>
              </a:defRPr>
            </a:pPr>
            <a:r>
              <a:rPr sz="1800" b="1">
                <a:solidFill>
                  <a:srgbClr val="1E6B52"/>
                </a:solidFill>
              </a:rPr>
              <a:t>= 52.61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31D80B-261D-441B-9ED0-326EAEEC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24450"/>
            <a:ext cx="7753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E6B52"/>
                </a:solidFill>
              </a:defRPr>
            </a:pPr>
            <a:r>
              <a:rPr sz="1275" b="1">
                <a:solidFill>
                  <a:srgbClr val="1E6B52"/>
                </a:solidFill>
              </a:rPr>
              <a:t>LR pathway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CE252F-B9C0-4EA2-A443-33962859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29250"/>
            <a:ext cx="7753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Restore = MIN(post-2008 clearing, LR deficit)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623343-4D16-4D7B-9B2B-2A4BEEA9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10250"/>
            <a:ext cx="7753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E6B52"/>
                </a:solidFill>
              </a:defRPr>
            </a:pPr>
            <a:r>
              <a:rPr sz="1800" b="1">
                <a:solidFill>
                  <a:srgbClr val="1E6B52"/>
                </a:solidFill>
              </a:rPr>
              <a:t>= 0.00 ha restore · 52.61 ha compensate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2283F0-2741-4608-9BDF-00495558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124450"/>
            <a:ext cx="7753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E6B52"/>
                </a:solidFill>
              </a:defRPr>
            </a:pPr>
            <a:r>
              <a:rPr sz="1275" b="1">
                <a:solidFill>
                  <a:srgbClr val="1E6B52"/>
                </a:solidFill>
              </a:rPr>
              <a:t>APP restoration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F3B3DD-B370-4E93-988A-E195CFA0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429250"/>
            <a:ext cx="7753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Pre-2008 component after cap + post-2008 APP clearing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16BAA-86B7-4744-9124-A015CB51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810250"/>
            <a:ext cx="7753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E6B52"/>
                </a:solidFill>
              </a:defRPr>
            </a:pPr>
            <a:r>
              <a:rPr sz="1800" b="1">
                <a:solidFill>
                  <a:srgbClr val="1E6B52"/>
                </a:solidFill>
              </a:rPr>
              <a:t>= 0.00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86C1-63FB-4CC0-87D2-A7D14BA5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48600"/>
            <a:ext cx="6800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D716C"/>
                </a:solidFill>
              </a:defRPr>
            </a:pPr>
            <a:r>
              <a:rPr sz="1275" b="1">
                <a:solidFill>
                  <a:srgbClr val="5D716C"/>
                </a:solidFill>
              </a:rPr>
              <a:t>BASELINE TOTAL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86555D-6F99-4AD1-AC66-95251003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191500"/>
            <a:ext cx="68008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B95B4C"/>
                </a:solidFill>
              </a:defRPr>
            </a:pPr>
            <a:r>
              <a:rPr sz="3300" b="1">
                <a:solidFill>
                  <a:srgbClr val="B95B4C"/>
                </a:solidFill>
              </a:rPr>
              <a:t>52.61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1222FD-B5F9-4A50-9C4E-4BDACD0F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7848600"/>
            <a:ext cx="950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D716C"/>
                </a:solidFill>
              </a:defRPr>
            </a:pPr>
            <a:r>
              <a:rPr sz="1275" b="1">
                <a:solidFill>
                  <a:srgbClr val="5D716C"/>
                </a:solidFill>
              </a:rPr>
              <a:t>SECONDARY VEGETATION SCENARIO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445F53-427C-48B5-B11B-63FAA7C5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8191500"/>
            <a:ext cx="95059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E6B52"/>
                </a:solidFill>
              </a:defRPr>
            </a:pPr>
            <a:r>
              <a:rPr sz="2625" b="1">
                <a:solidFill>
                  <a:srgbClr val="1E6B52"/>
                </a:solidFill>
              </a:rPr>
              <a:t>79.11 ha added → 0.00 ha remaining</a:t>
            </a:r>
          </a:p>
        </p:txBody>
      </p:sp>
      <p:sp>
        <p:nvSpPr>
          <p:cNvPr id="19" name="source-4">
            <a:extLst xmlns:a="http://schemas.openxmlformats.org/drawingml/2006/main">
              <a:ext uri="{FF2B5EF4-FFF2-40B4-BE49-F238E27FC236}">
                <a16:creationId xmlns:a16="http://schemas.microsoft.com/office/drawing/2014/main" id="{BEB116BF-78EC-471E-93A8-372B20E9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67850"/>
            <a:ext cx="3295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Source: MT Forest Code compliance mega table · final 2026-09-30</a:t>
            </a:r>
          </a:p>
        </p:txBody>
      </p:sp>
      <p:sp>
        <p:nvSpPr>
          <p:cNvPr id="20" name="page-4">
            <a:extLst xmlns:a="http://schemas.openxmlformats.org/drawingml/2006/main">
              <a:ext uri="{FF2B5EF4-FFF2-40B4-BE49-F238E27FC236}">
                <a16:creationId xmlns:a16="http://schemas.microsoft.com/office/drawing/2014/main" id="{0FC867BF-A337-4EAE-86D3-A20348EA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0" y="9467850"/>
            <a:ext cx="571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B52"/>
                </a:solidFill>
              </a:defRPr>
            </a:pPr>
            <a:r>
              <a:rPr sz="1050" b="1">
                <a:solidFill>
                  <a:srgbClr val="1E6B5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7009063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355C4709-A95E-46EB-8635-7B5AA0C1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"/>
            <a:ext cx="16573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12B"/>
                </a:solidFill>
              </a:defRPr>
            </a:pPr>
            <a:r>
              <a:rPr sz="3450" b="1">
                <a:solidFill>
                  <a:srgbClr val="17312B"/>
                </a:solidFill>
              </a:rPr>
              <a:t>Small property · inputs and cut-off tests</a:t>
            </a:r>
          </a:p>
        </p:txBody>
      </p:sp>
      <p:sp>
        <p:nvSpPr>
          <p:cNvPr id="2" name="slide-subtitle-5">
            <a:extLst xmlns:a="http://schemas.openxmlformats.org/drawingml/2006/main">
              <a:ext uri="{FF2B5EF4-FFF2-40B4-BE49-F238E27FC236}">
                <a16:creationId xmlns:a16="http://schemas.microsoft.com/office/drawing/2014/main" id="{E6AD1A15-64B2-4DEA-8F54-0D9D06E7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76350"/>
            <a:ext cx="68389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D716C"/>
                </a:solidFill>
              </a:defRPr>
            </a:pPr>
            <a:r>
              <a:rPr sz="1875">
                <a:solidFill>
                  <a:srgbClr val="5D716C"/>
                </a:solidFill>
              </a:rPr>
              <a:t>2.41 fiscal modules · SIMCAR Validated · forest and cerrado both &gt; 0 ha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37F80-F67B-4CF0-B10B-57EB3419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CC85E-AB5D-4A68-B119-2790E705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194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193.20 ha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4DAD13-7486-4E92-95EE-9FF47771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Fiscal modules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1F6D90-6455-4DC9-82FC-ADA5F778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4577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2.41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2F0E3B-4EBD-4229-8B49-DFB2CD7E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150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Forest area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1C80F-94F7-4E0F-9FF6-8D2483CD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1150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108.66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D11EED-4D3B-42D6-9BBD-012B5A96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7533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Cerrado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27619D-44C9-4CFF-BABE-AD5BC198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77533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80.90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BFC0ED-EF03-47F5-AD3A-DD8F6EC2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384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Consolidated area 2000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089BB-65E4-4F0F-802B-E025BD38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194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140.02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E17AE-9C03-4886-BC43-CD395B15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767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Vegetation in 2000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62ABD2-E7BC-4925-948C-B8453E94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4577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53.18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B03BD8-E491-4711-A1B1-FB2EB48E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1150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Consolidated area 2008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5C2534-3890-4EFB-91B9-F412F93C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150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64.85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67BDB9-CE3C-46F7-8F68-6CB9CF0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77533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Vegetation in 2008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7AFCCF-E748-428D-8D17-EC8C4FDD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7533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128.34 ha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32AD48-B847-4E59-A0C2-84BED254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28384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Article 12 ceiling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B9FDBB-BE4C-497D-A561-D5776675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0" y="28194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115.24 ha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969A4E-39F8-44AC-B8CE-8F0CB6D5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44767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Article 68 floor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8E54DC-3408-4190-B2A2-FA5A1AFC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0" y="445770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70.51 ha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5574A7-C895-421D-A923-406B773EA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61150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Article 67 requirement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D68CA8-0687-49A2-9A9B-CBD74DFE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0" y="61150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115.24 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26F0DF-8758-4C51-B856-222C85B7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7753350"/>
            <a:ext cx="289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518363-D585-432F-9EBA-E8279501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0" y="7753350"/>
            <a:ext cx="2133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61.34 ha</a:t>
            </a:r>
          </a:p>
        </p:txBody>
      </p:sp>
      <p:sp>
        <p:nvSpPr>
          <p:cNvPr id="27" name="property-key-5">
            <a:extLst xmlns:a="http://schemas.openxmlformats.org/drawingml/2006/main">
              <a:ext uri="{FF2B5EF4-FFF2-40B4-BE49-F238E27FC236}">
                <a16:creationId xmlns:a16="http://schemas.microsoft.com/office/drawing/2014/main" id="{C1A60B4A-76C4-43DD-A2EC-1407AE7D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953500"/>
            <a:ext cx="16573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D716C"/>
                </a:solidFill>
              </a:defRPr>
            </a:pPr>
            <a:r>
              <a:rPr sz="1050">
                <a:solidFill>
                  <a:srgbClr val="5D716C"/>
                </a:solidFill>
              </a:rPr>
              <a:t>Property key: MT-5103437-3035138E282C4E6686B61959CF506B0D</a:t>
            </a:r>
          </a:p>
        </p:txBody>
      </p:sp>
      <p:sp>
        <p:nvSpPr>
          <p:cNvPr id="28" name="source-5">
            <a:extLst xmlns:a="http://schemas.openxmlformats.org/drawingml/2006/main">
              <a:ext uri="{FF2B5EF4-FFF2-40B4-BE49-F238E27FC236}">
                <a16:creationId xmlns:a16="http://schemas.microsoft.com/office/drawing/2014/main" id="{CB253BA3-08E8-4849-9BF0-590C1663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67850"/>
            <a:ext cx="3295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Source: MT Forest Code compliance mega table · final 2026-09-30</a:t>
            </a:r>
          </a:p>
        </p:txBody>
      </p:sp>
      <p:sp>
        <p:nvSpPr>
          <p:cNvPr id="29" name="page-5">
            <a:extLst xmlns:a="http://schemas.openxmlformats.org/drawingml/2006/main">
              <a:ext uri="{FF2B5EF4-FFF2-40B4-BE49-F238E27FC236}">
                <a16:creationId xmlns:a16="http://schemas.microsoft.com/office/drawing/2014/main" id="{A00CAF30-2301-43C4-8E02-6D069346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0" y="9467850"/>
            <a:ext cx="571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B52"/>
                </a:solidFill>
              </a:defRPr>
            </a:pPr>
            <a:r>
              <a:rPr sz="1050" b="1">
                <a:solidFill>
                  <a:srgbClr val="1E6B5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65080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6B14D2E3-73F1-410A-8A7D-716CB96D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"/>
            <a:ext cx="16573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12B"/>
                </a:solidFill>
              </a:defRPr>
            </a:pPr>
            <a:r>
              <a:rPr sz="3450" b="1">
                <a:solidFill>
                  <a:srgbClr val="17312B"/>
                </a:solidFill>
              </a:rPr>
              <a:t>Small-property calculation chain</a:t>
            </a:r>
          </a:p>
        </p:txBody>
      </p:sp>
      <p:sp>
        <p:nvSpPr>
          <p:cNvPr id="2" name="slide-subtitle-6">
            <a:extLst xmlns:a="http://schemas.openxmlformats.org/drawingml/2006/main">
              <a:ext uri="{FF2B5EF4-FFF2-40B4-BE49-F238E27FC236}">
                <a16:creationId xmlns:a16="http://schemas.microsoft.com/office/drawing/2014/main" id="{F405D6BE-D5EA-4852-8419-FC198401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76350"/>
            <a:ext cx="7905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D716C"/>
                </a:solidFill>
              </a:defRPr>
            </a:pPr>
            <a:r>
              <a:rPr sz="1875">
                <a:solidFill>
                  <a:srgbClr val="5D716C"/>
                </a:solidFill>
              </a:rPr>
              <a:t>Article 67 determines LR; APP and secondary vegetation are calculated separately.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EA6E8-C9E7-4BF5-B8E9-60CF92EC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05050"/>
            <a:ext cx="7753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A45"/>
                </a:solidFill>
              </a:defRPr>
            </a:pPr>
            <a:r>
              <a:rPr sz="1275" b="1">
                <a:solidFill>
                  <a:srgbClr val="D49A45"/>
                </a:solidFill>
              </a:rPr>
              <a:t>2008 cut-off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5C49D-521F-405A-A58A-44A74020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09850"/>
            <a:ext cx="7753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MIN(115.24 ha, 128.34 ha)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BA9D6-96CD-4D7E-B837-8E30261A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7753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49A45"/>
                </a:solidFill>
              </a:defRPr>
            </a:pPr>
            <a:r>
              <a:rPr sz="1800" b="1">
                <a:solidFill>
                  <a:srgbClr val="D49A45"/>
                </a:solidFill>
              </a:rPr>
              <a:t>= Article 67 requirement: 115.24 ha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B692E-A8CF-4284-8815-1B50F330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05050"/>
            <a:ext cx="7753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A45"/>
                </a:solidFill>
              </a:defRPr>
            </a:pPr>
            <a:r>
              <a:rPr sz="1275" b="1">
                <a:solidFill>
                  <a:srgbClr val="D49A45"/>
                </a:solidFill>
              </a:rPr>
              <a:t>Legal Reserve deficit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A39E47-A011-4293-80A2-26021DA1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609850"/>
            <a:ext cx="7753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115.24 ha − 61.34 ha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057EA0-BB50-4637-A599-31F0ACB4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90850"/>
            <a:ext cx="7753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49A45"/>
                </a:solidFill>
              </a:defRPr>
            </a:pPr>
            <a:r>
              <a:rPr sz="1800" b="1">
                <a:solidFill>
                  <a:srgbClr val="D49A45"/>
                </a:solidFill>
              </a:rPr>
              <a:t>= 53.90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875CA-46FA-4B63-80E8-B2302D3F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24450"/>
            <a:ext cx="7753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A45"/>
                </a:solidFill>
              </a:defRPr>
            </a:pPr>
            <a:r>
              <a:rPr sz="1275" b="1">
                <a:solidFill>
                  <a:srgbClr val="D49A45"/>
                </a:solidFill>
              </a:rPr>
              <a:t>LR pathway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E04B7A-6FD3-40C1-9F2E-F3B50BD7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29250"/>
            <a:ext cx="7753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Restore = MIN(post-2008 clearing, LR deficit)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6A59AA-A508-4844-A397-CE354D89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10250"/>
            <a:ext cx="7753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49A45"/>
                </a:solidFill>
              </a:defRPr>
            </a:pPr>
            <a:r>
              <a:rPr sz="1800" b="1">
                <a:solidFill>
                  <a:srgbClr val="D49A45"/>
                </a:solidFill>
              </a:rPr>
              <a:t>= 0.00 ha restore · 53.90 ha compensate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B977A1-81C8-48E9-90D7-31A31A39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124450"/>
            <a:ext cx="7753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A45"/>
                </a:solidFill>
              </a:defRPr>
            </a:pPr>
            <a:r>
              <a:rPr sz="1275" b="1">
                <a:solidFill>
                  <a:srgbClr val="D49A45"/>
                </a:solidFill>
              </a:rPr>
              <a:t>APP restoration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941B9-4277-4B33-9CA7-DA588AA2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429250"/>
            <a:ext cx="7753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312B"/>
                </a:solidFill>
              </a:defRPr>
            </a:pPr>
            <a:r>
              <a:rPr sz="1425">
                <a:solidFill>
                  <a:srgbClr val="17312B"/>
                </a:solidFill>
              </a:rPr>
              <a:t>Pre-2008 component after cap + post-2008 APP clearing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8CA631-43C7-4AC4-8E7D-7F0CC55A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810250"/>
            <a:ext cx="7753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49A45"/>
                </a:solidFill>
              </a:defRPr>
            </a:pPr>
            <a:r>
              <a:rPr sz="1800" b="1">
                <a:solidFill>
                  <a:srgbClr val="D49A45"/>
                </a:solidFill>
              </a:rPr>
              <a:t>= 3.17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5CAEDB-EF28-43F0-B372-9A837C3E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48600"/>
            <a:ext cx="6800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D716C"/>
                </a:solidFill>
              </a:defRPr>
            </a:pPr>
            <a:r>
              <a:rPr sz="1275" b="1">
                <a:solidFill>
                  <a:srgbClr val="5D716C"/>
                </a:solidFill>
              </a:rPr>
              <a:t>BASELINE TOTAL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F86C04-162F-4AA0-ABC7-63ED619D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191500"/>
            <a:ext cx="68008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B95B4C"/>
                </a:solidFill>
              </a:defRPr>
            </a:pPr>
            <a:r>
              <a:rPr sz="3300" b="1">
                <a:solidFill>
                  <a:srgbClr val="B95B4C"/>
                </a:solidFill>
              </a:rPr>
              <a:t>57.07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13C24B-E381-48F8-9012-9B6C38F4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7848600"/>
            <a:ext cx="950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D716C"/>
                </a:solidFill>
              </a:defRPr>
            </a:pPr>
            <a:r>
              <a:rPr sz="1275" b="1">
                <a:solidFill>
                  <a:srgbClr val="5D716C"/>
                </a:solidFill>
              </a:rPr>
              <a:t>SECONDARY VEGETATION SCENARIO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B2B822-A4E8-49D2-B2FA-26CF4F45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8191500"/>
            <a:ext cx="95059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E6B52"/>
                </a:solidFill>
              </a:defRPr>
            </a:pPr>
            <a:r>
              <a:rPr sz="2625" b="1">
                <a:solidFill>
                  <a:srgbClr val="1E6B52"/>
                </a:solidFill>
              </a:rPr>
              <a:t>48.40 ha added → 8.67 ha remaining</a:t>
            </a:r>
          </a:p>
        </p:txBody>
      </p:sp>
      <p:sp>
        <p:nvSpPr>
          <p:cNvPr id="19" name="source-6">
            <a:extLst xmlns:a="http://schemas.openxmlformats.org/drawingml/2006/main">
              <a:ext uri="{FF2B5EF4-FFF2-40B4-BE49-F238E27FC236}">
                <a16:creationId xmlns:a16="http://schemas.microsoft.com/office/drawing/2014/main" id="{89B6F4B2-5E36-444F-84B1-A9E089A4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67850"/>
            <a:ext cx="3295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Source: MT Forest Code compliance mega table · final 2026-09-30</a:t>
            </a:r>
          </a:p>
        </p:txBody>
      </p:sp>
      <p:sp>
        <p:nvSpPr>
          <p:cNvPr id="20" name="page-6">
            <a:extLst xmlns:a="http://schemas.openxmlformats.org/drawingml/2006/main">
              <a:ext uri="{FF2B5EF4-FFF2-40B4-BE49-F238E27FC236}">
                <a16:creationId xmlns:a16="http://schemas.microsoft.com/office/drawing/2014/main" id="{17A88FCC-60A6-4AF6-AE95-39D0341B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0" y="9467850"/>
            <a:ext cx="571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B52"/>
                </a:solidFill>
              </a:defRPr>
            </a:pPr>
            <a:r>
              <a:rPr sz="1050" b="1">
                <a:solidFill>
                  <a:srgbClr val="1E6B5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0050831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9B83E7FB-A4E4-43B6-ACB7-69A0C90B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"/>
            <a:ext cx="16573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312B"/>
                </a:solidFill>
              </a:defRPr>
            </a:pPr>
            <a:r>
              <a:rPr sz="3450" b="1">
                <a:solidFill>
                  <a:srgbClr val="17312B"/>
                </a:solidFill>
              </a:rPr>
              <a:t>What the two examples make visible</a:t>
            </a:r>
          </a:p>
        </p:txBody>
      </p:sp>
      <p:sp>
        <p:nvSpPr>
          <p:cNvPr id="2" name="slide-subtitle-7">
            <a:extLst xmlns:a="http://schemas.openxmlformats.org/drawingml/2006/main">
              <a:ext uri="{FF2B5EF4-FFF2-40B4-BE49-F238E27FC236}">
                <a16:creationId xmlns:a16="http://schemas.microsoft.com/office/drawing/2014/main" id="{AD48627B-598D-4ACB-8F2D-87B66687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76350"/>
            <a:ext cx="9791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D716C"/>
                </a:solidFill>
              </a:defRPr>
            </a:pPr>
            <a:r>
              <a:rPr sz="1875">
                <a:solidFill>
                  <a:srgbClr val="5D716C"/>
                </a:solidFill>
              </a:rPr>
              <a:t>The threshold changes the requirement—not the need for transparent inputs and reconciled outputs.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9E518-3007-4AE0-8D5B-B6A008A1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105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Property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7CA75D-30D1-4016-9843-33BFD0F4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724150"/>
            <a:ext cx="23050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&gt; 4 modules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A7C73-A0B3-402D-B151-67012262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33850"/>
            <a:ext cx="3105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Legal branch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25247A-C1FA-4792-8140-C251AF94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33850"/>
            <a:ext cx="23050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Article 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EECE7-A3FB-437C-884E-BA7452FA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3105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Requirement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1F4BF-7067-4EDE-9F87-39D2AFBD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543550"/>
            <a:ext cx="23050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170.75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92CEF3-2155-470D-8B22-922A06C5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953250"/>
            <a:ext cx="3105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Baseline total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E9EF4-F1B6-474B-81EE-7F1012FA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6934200"/>
            <a:ext cx="23050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52.61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7C3734-F28E-42BE-90D8-B84263CC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8362950"/>
            <a:ext cx="3105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CDD84-069C-456B-BABF-76A14F58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8343900"/>
            <a:ext cx="23050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B52"/>
                </a:solidFill>
              </a:defRPr>
            </a:pPr>
            <a:r>
              <a:rPr sz="1650" b="1">
                <a:solidFill>
                  <a:srgbClr val="1E6B52"/>
                </a:solidFill>
              </a:rPr>
              <a:t>0.00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10BA8-CFB6-4B73-8CD2-0BC9FB3B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24150"/>
            <a:ext cx="2819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Property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80866-62A5-47E4-982F-A812A9AD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724150"/>
            <a:ext cx="2076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&lt; 4 modules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716C12-98FA-4345-AE9E-E1739F76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33850"/>
            <a:ext cx="2819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Legal branch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337A18-391F-44FD-9F53-222FC960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133850"/>
            <a:ext cx="2076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Article 67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66DA78-5C75-48A0-BA0A-6B17043C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43550"/>
            <a:ext cx="2819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Requirement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B40A9-2CA1-45CE-8C29-2E578DB1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43550"/>
            <a:ext cx="2076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115.24 ha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F2CB6B-D955-4A80-9322-F2405CBD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953250"/>
            <a:ext cx="2819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Baseline total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AA0B53-91F4-4330-B59D-24E470AF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934200"/>
            <a:ext cx="2076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57.07 ha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EBF388-9042-4E1A-BB52-A1B0A237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8362950"/>
            <a:ext cx="2819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D716C"/>
                </a:solidFill>
              </a:defRPr>
            </a:pPr>
            <a:r>
              <a:rPr sz="1275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59616-25BC-465A-B3D4-D4E0CFBC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8343900"/>
            <a:ext cx="2076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49A45"/>
                </a:solidFill>
              </a:defRPr>
            </a:pPr>
            <a:r>
              <a:rPr sz="1650" b="1">
                <a:solidFill>
                  <a:srgbClr val="D49A45"/>
                </a:solidFill>
              </a:rPr>
              <a:t>8.67 ha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D6AB42-B241-4066-AA35-DD2BC2B0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2419350"/>
            <a:ext cx="47053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312B"/>
                </a:solidFill>
              </a:defRPr>
            </a:pPr>
            <a:r>
              <a:rPr sz="2400" b="1">
                <a:solidFill>
                  <a:srgbClr val="17312B"/>
                </a:solidFill>
              </a:rPr>
              <a:t>Audit rules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AD9938-0DC7-4009-AD6D-69DEC40D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048000"/>
            <a:ext cx="4705350" cy="371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D716C"/>
                </a:solidFill>
              </a:defRPr>
            </a:pPr>
            <a:r>
              <a:rPr sz="1725">
                <a:solidFill>
                  <a:srgbClr val="5D716C"/>
                </a:solidFill>
              </a:rPr>
              <a:t>1. Inputs retain their source-specific columns.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>
                <a:solidFill>
                  <a:srgbClr val="5D716C"/>
                </a:solidFill>
              </a:defRPr>
            </a:pPr>
            <a:r>
              <a:rPr sz="1725">
                <a:solidFill>
                  <a:srgbClr val="5D716C"/>
                </a:solidFill>
              </a:rPr>
              <a:t>2. 2000 and 2008 remain separate cut-offs.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>
                <a:solidFill>
                  <a:srgbClr val="5D716C"/>
                </a:solidFill>
              </a:defRPr>
            </a:pPr>
            <a:r>
              <a:rPr sz="1725">
                <a:solidFill>
                  <a:srgbClr val="5D716C"/>
                </a:solidFill>
              </a:rPr>
              <a:t>3. Restore + compensate = LR deficit.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>
                <a:solidFill>
                  <a:srgbClr val="5D716C"/>
                </a:solidFill>
              </a:defRPr>
            </a:pPr>
            <a:r>
              <a:rPr sz="1725">
                <a:solidFill>
                  <a:srgbClr val="5D716C"/>
                </a:solidFill>
              </a:rPr>
              <a:t>4. Secondary vegetation cannot push vegetation above property area.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6C5148-A602-41D0-9D4D-52E2364A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972300"/>
            <a:ext cx="47053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9FC65B"/>
                </a:solidFill>
              </a:defRPr>
            </a:pPr>
            <a:r>
              <a:rPr sz="1650" b="1">
                <a:solidFill>
                  <a:srgbClr val="9FC65B"/>
                </a:solidFill>
              </a:rPr>
              <a:t>Every number shown here is traceable to the 638-column mega table.</a:t>
            </a:r>
          </a:p>
        </p:txBody>
      </p:sp>
      <p:sp>
        <p:nvSpPr>
          <p:cNvPr id="26" name="source-7">
            <a:extLst xmlns:a="http://schemas.openxmlformats.org/drawingml/2006/main">
              <a:ext uri="{FF2B5EF4-FFF2-40B4-BE49-F238E27FC236}">
                <a16:creationId xmlns:a16="http://schemas.microsoft.com/office/drawing/2014/main" id="{FD0CFC53-4118-4B8E-8C33-E6C68C90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67850"/>
            <a:ext cx="3295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975">
                <a:solidFill>
                  <a:srgbClr val="5D716C"/>
                </a:solidFill>
              </a:rPr>
              <a:t>Source: MT Forest Code compliance mega table · final 2026-09-30</a:t>
            </a:r>
          </a:p>
        </p:txBody>
      </p:sp>
      <p:sp>
        <p:nvSpPr>
          <p:cNvPr id="27" name="page-7">
            <a:extLst xmlns:a="http://schemas.openxmlformats.org/drawingml/2006/main">
              <a:ext uri="{FF2B5EF4-FFF2-40B4-BE49-F238E27FC236}">
                <a16:creationId xmlns:a16="http://schemas.microsoft.com/office/drawing/2014/main" id="{4975978F-7ACF-48DA-B989-89BF9AE1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0" y="9467850"/>
            <a:ext cx="571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B52"/>
                </a:solidFill>
              </a:defRPr>
            </a:pPr>
            <a:r>
              <a:rPr sz="1050" b="1">
                <a:solidFill>
                  <a:srgbClr val="1E6B5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809439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2026-09-30T17:43:02.3510000Z</dcterms:created>
  <dcterms:modified xsi:type="dcterms:W3CDTF">2026-09-30T17:43:02.3510000Z</dcterms:modified>
</coreProperties>
</file>