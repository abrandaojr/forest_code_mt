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2f1ae3233774cde" /><Relationship Type="http://schemas.openxmlformats.org/officeDocument/2006/relationships/extended-properties" Target="/docProps/app.xml" Id="R57cc579b8ade47ff" /><Relationship Type="http://schemas.openxmlformats.org/officeDocument/2006/relationships/officeDocument" Target="/ppt/presentation.xml" Id="R8177d8c90fa3427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2cc49facf0b4bdb"/>
  </p:sldMasterIdLst>
  <p:notesMasterIdLst>
    <p:notesMasterId xmlns:r="http://schemas.openxmlformats.org/officeDocument/2006/relationships" r:id="Rb0f08f790b5748ab"/>
  </p:notesMasterIdLst>
  <p:sldIdLst>
    <p:sldId xmlns:r="http://schemas.openxmlformats.org/officeDocument/2006/relationships" id="256" r:id="Raa03a0b367934b95"/>
    <p:sldId xmlns:r="http://schemas.openxmlformats.org/officeDocument/2006/relationships" id="257" r:id="R25dea3cba0f244d9"/>
    <p:sldId xmlns:r="http://schemas.openxmlformats.org/officeDocument/2006/relationships" id="258" r:id="Rb74700ea3a0b4fad"/>
    <p:sldId xmlns:r="http://schemas.openxmlformats.org/officeDocument/2006/relationships" id="259" r:id="R6b7161637bc84476"/>
    <p:sldId xmlns:r="http://schemas.openxmlformats.org/officeDocument/2006/relationships" id="260" r:id="R96957d9969a641ad"/>
    <p:sldId xmlns:r="http://schemas.openxmlformats.org/officeDocument/2006/relationships" id="261" r:id="R2aa8a0cbbe3f4187"/>
    <p:sldId xmlns:r="http://schemas.openxmlformats.org/officeDocument/2006/relationships" id="262" r:id="R6a39662294a84d14"/>
    <p:sldId xmlns:r="http://schemas.openxmlformats.org/officeDocument/2006/relationships" id="263" r:id="R37b197214c6a400f"/>
    <p:sldId xmlns:r="http://schemas.openxmlformats.org/officeDocument/2006/relationships" id="264" r:id="R430252628c2349cf"/>
    <p:sldId xmlns:r="http://schemas.openxmlformats.org/officeDocument/2006/relationships" id="265" r:id="Rc5c4dea0adc545fe"/>
    <p:sldId xmlns:r="http://schemas.openxmlformats.org/officeDocument/2006/relationships" id="266" r:id="R238381581bc24ef4"/>
    <p:sldId xmlns:r="http://schemas.openxmlformats.org/officeDocument/2006/relationships" id="267" r:id="R28fae1ade9114909"/>
    <p:sldId xmlns:r="http://schemas.openxmlformats.org/officeDocument/2006/relationships" id="268" r:id="R6e41202855c04d02"/>
    <p:sldId xmlns:r="http://schemas.openxmlformats.org/officeDocument/2006/relationships" id="269" r:id="R1967bf9b1646411e"/>
    <p:sldId xmlns:r="http://schemas.openxmlformats.org/officeDocument/2006/relationships" id="270" r:id="R57c047ca100e4270"/>
    <p:sldId xmlns:r="http://schemas.openxmlformats.org/officeDocument/2006/relationships" id="271" r:id="R82277a7330f24dc6"/>
    <p:sldId xmlns:r="http://schemas.openxmlformats.org/officeDocument/2006/relationships" id="272" r:id="R685ee86faac941ff"/>
    <p:sldId xmlns:r="http://schemas.openxmlformats.org/officeDocument/2006/relationships" id="273" r:id="R7573cf04ca054b7a"/>
    <p:sldId xmlns:r="http://schemas.openxmlformats.org/officeDocument/2006/relationships" id="274" r:id="R06eda79bc5724c84"/>
    <p:sldId xmlns:r="http://schemas.openxmlformats.org/officeDocument/2006/relationships" id="275" r:id="R418e58a0ff0b473f"/>
    <p:sldId xmlns:r="http://schemas.openxmlformats.org/officeDocument/2006/relationships" id="276" r:id="R21e6130deb734219"/>
    <p:sldId xmlns:r="http://schemas.openxmlformats.org/officeDocument/2006/relationships" id="277" r:id="Rf9186a2d430e4840"/>
    <p:sldId xmlns:r="http://schemas.openxmlformats.org/officeDocument/2006/relationships" id="278" r:id="R9fe6eaad41c1480c"/>
    <p:sldId xmlns:r="http://schemas.openxmlformats.org/officeDocument/2006/relationships" id="279" r:id="R1cec99a147f54826"/>
    <p:sldId xmlns:r="http://schemas.openxmlformats.org/officeDocument/2006/relationships" id="280" r:id="R474d04a040f44cfd"/>
    <p:sldId xmlns:r="http://schemas.openxmlformats.org/officeDocument/2006/relationships" id="281" r:id="R5700b70bedc546b9"/>
    <p:sldId xmlns:r="http://schemas.openxmlformats.org/officeDocument/2006/relationships" id="282" r:id="R6b871d3576b04a73"/>
    <p:sldId xmlns:r="http://schemas.openxmlformats.org/officeDocument/2006/relationships" id="283" r:id="R321eb8f44bc34a50"/>
    <p:sldId xmlns:r="http://schemas.openxmlformats.org/officeDocument/2006/relationships" id="284" r:id="Rb52a94955d544188"/>
    <p:sldId xmlns:r="http://schemas.openxmlformats.org/officeDocument/2006/relationships" id="285" r:id="R61f8a7623e76424c"/>
    <p:sldId xmlns:r="http://schemas.openxmlformats.org/officeDocument/2006/relationships" id="286" r:id="R9849e550a6ab4db5"/>
    <p:sldId xmlns:r="http://schemas.openxmlformats.org/officeDocument/2006/relationships" id="287" r:id="R9802af5896fe4b68"/>
    <p:sldId xmlns:r="http://schemas.openxmlformats.org/officeDocument/2006/relationships" id="288" r:id="R9b42b3b1b39d45f3"/>
  </p:sldIdLst>
  <p:sldSz cx="18288000" cy="10287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cc49facf0b4bdb" /><Relationship Type="http://schemas.openxmlformats.org/officeDocument/2006/relationships/theme" Target="/ppt/theme/theme1.xml" Id="R7a61120b93f44370" /><Relationship Type="http://schemas.openxmlformats.org/officeDocument/2006/relationships/notesMaster" Target="/ppt/notesMasters/notesMaster1.xml" Id="Rb0f08f790b5748ab" /><Relationship Type="http://schemas.openxmlformats.org/officeDocument/2006/relationships/presProps" Target="/ppt/presProps.xml" Id="Rb7c81b5f12b044bd" /><Relationship Type="http://schemas.openxmlformats.org/officeDocument/2006/relationships/viewProps" Target="/ppt/viewProps.xml" Id="R3a0711c64ea7456e" /><Relationship Type="http://schemas.openxmlformats.org/officeDocument/2006/relationships/tableStyles" Target="/ppt/tableStyles.xml" Id="R97eacb6bc6534352" /><Relationship Type="http://schemas.openxmlformats.org/officeDocument/2006/relationships/slide" Target="/ppt/slides/slide1.xml" Id="Raa03a0b367934b95" /><Relationship Type="http://schemas.openxmlformats.org/officeDocument/2006/relationships/slide" Target="/ppt/slides/slide2.xml" Id="R25dea3cba0f244d9" /><Relationship Type="http://schemas.openxmlformats.org/officeDocument/2006/relationships/slide" Target="/ppt/slides/slide3.xml" Id="Rb74700ea3a0b4fad" /><Relationship Type="http://schemas.openxmlformats.org/officeDocument/2006/relationships/slide" Target="/ppt/slides/slide4.xml" Id="R6b7161637bc84476" /><Relationship Type="http://schemas.openxmlformats.org/officeDocument/2006/relationships/slide" Target="/ppt/slides/slide5.xml" Id="R96957d9969a641ad" /><Relationship Type="http://schemas.openxmlformats.org/officeDocument/2006/relationships/slide" Target="/ppt/slides/slide6.xml" Id="R2aa8a0cbbe3f4187" /><Relationship Type="http://schemas.openxmlformats.org/officeDocument/2006/relationships/slide" Target="/ppt/slides/slide7.xml" Id="R6a39662294a84d14" /><Relationship Type="http://schemas.openxmlformats.org/officeDocument/2006/relationships/slide" Target="/ppt/slides/slide8.xml" Id="R37b197214c6a400f" /><Relationship Type="http://schemas.openxmlformats.org/officeDocument/2006/relationships/slide" Target="/ppt/slides/slide9.xml" Id="R430252628c2349cf" /><Relationship Type="http://schemas.openxmlformats.org/officeDocument/2006/relationships/slide" Target="/ppt/slides/slide10.xml" Id="Rc5c4dea0adc545fe" /><Relationship Type="http://schemas.openxmlformats.org/officeDocument/2006/relationships/slide" Target="/ppt/slides/slide11.xml" Id="R238381581bc24ef4" /><Relationship Type="http://schemas.openxmlformats.org/officeDocument/2006/relationships/slide" Target="/ppt/slides/slide12.xml" Id="R28fae1ade9114909" /><Relationship Type="http://schemas.openxmlformats.org/officeDocument/2006/relationships/slide" Target="/ppt/slides/slide13.xml" Id="R6e41202855c04d02" /><Relationship Type="http://schemas.openxmlformats.org/officeDocument/2006/relationships/slide" Target="/ppt/slides/slide14.xml" Id="R1967bf9b1646411e" /><Relationship Type="http://schemas.openxmlformats.org/officeDocument/2006/relationships/slide" Target="/ppt/slides/slide15.xml" Id="R57c047ca100e4270" /><Relationship Type="http://schemas.openxmlformats.org/officeDocument/2006/relationships/slide" Target="/ppt/slides/slide16.xml" Id="R82277a7330f24dc6" /><Relationship Type="http://schemas.openxmlformats.org/officeDocument/2006/relationships/slide" Target="/ppt/slides/slide17.xml" Id="R685ee86faac941ff" /><Relationship Type="http://schemas.openxmlformats.org/officeDocument/2006/relationships/slide" Target="/ppt/slides/slide18.xml" Id="R7573cf04ca054b7a" /><Relationship Type="http://schemas.openxmlformats.org/officeDocument/2006/relationships/slide" Target="/ppt/slides/slide19.xml" Id="R06eda79bc5724c84" /><Relationship Type="http://schemas.openxmlformats.org/officeDocument/2006/relationships/slide" Target="/ppt/slides/slide20.xml" Id="R418e58a0ff0b473f" /><Relationship Type="http://schemas.openxmlformats.org/officeDocument/2006/relationships/slide" Target="/ppt/slides/slide21.xml" Id="R21e6130deb734219" /><Relationship Type="http://schemas.openxmlformats.org/officeDocument/2006/relationships/slide" Target="/ppt/slides/slide22.xml" Id="Rf9186a2d430e4840" /><Relationship Type="http://schemas.openxmlformats.org/officeDocument/2006/relationships/slide" Target="/ppt/slides/slide23.xml" Id="R9fe6eaad41c1480c" /><Relationship Type="http://schemas.openxmlformats.org/officeDocument/2006/relationships/slide" Target="/ppt/slides/slide24.xml" Id="R1cec99a147f54826" /><Relationship Type="http://schemas.openxmlformats.org/officeDocument/2006/relationships/slide" Target="/ppt/slides/slide25.xml" Id="R474d04a040f44cfd" /><Relationship Type="http://schemas.openxmlformats.org/officeDocument/2006/relationships/slide" Target="/ppt/slides/slide26.xml" Id="R5700b70bedc546b9" /><Relationship Type="http://schemas.openxmlformats.org/officeDocument/2006/relationships/slide" Target="/ppt/slides/slide27.xml" Id="R6b871d3576b04a73" /><Relationship Type="http://schemas.openxmlformats.org/officeDocument/2006/relationships/slide" Target="/ppt/slides/slide28.xml" Id="R321eb8f44bc34a50" /><Relationship Type="http://schemas.openxmlformats.org/officeDocument/2006/relationships/slide" Target="/ppt/slides/slide29.xml" Id="Rb52a94955d544188" /><Relationship Type="http://schemas.openxmlformats.org/officeDocument/2006/relationships/slide" Target="/ppt/slides/slide30.xml" Id="R61f8a7623e76424c" /><Relationship Type="http://schemas.openxmlformats.org/officeDocument/2006/relationships/slide" Target="/ppt/slides/slide31.xml" Id="R9849e550a6ab4db5" /><Relationship Type="http://schemas.openxmlformats.org/officeDocument/2006/relationships/slide" Target="/ppt/slides/slide32.xml" Id="R9802af5896fe4b68" /><Relationship Type="http://schemas.openxmlformats.org/officeDocument/2006/relationships/slide" Target="/ppt/slides/slide33.xml" Id="R9b42b3b1b39d45f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1af19b71a06a438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f40893115d8450b" /><Relationship Type="http://schemas.openxmlformats.org/officeDocument/2006/relationships/notesMaster" Target="/ppt/notesMasters/notesMaster1.xml" Id="Rc7c9afe6872848c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0e46dae9b804b0d" /><Relationship Type="http://schemas.openxmlformats.org/officeDocument/2006/relationships/notesMaster" Target="/ppt/notesMasters/notesMaster1.xml" Id="Rbbae66deb30e416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993d8a9300a485e" /><Relationship Type="http://schemas.openxmlformats.org/officeDocument/2006/relationships/notesMaster" Target="/ppt/notesMasters/notesMaster1.xml" Id="Rcb423da399a14e9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33d94d5412a4878" /><Relationship Type="http://schemas.openxmlformats.org/officeDocument/2006/relationships/notesMaster" Target="/ppt/notesMasters/notesMaster1.xml" Id="Ra962b9291657462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200c2a9cb7948ce" /><Relationship Type="http://schemas.openxmlformats.org/officeDocument/2006/relationships/notesMaster" Target="/ppt/notesMasters/notesMaster1.xml" Id="Ra6098afbe8fe4f5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901eba33e4f458b" /><Relationship Type="http://schemas.openxmlformats.org/officeDocument/2006/relationships/notesMaster" Target="/ppt/notesMasters/notesMaster1.xml" Id="Rc767839cb815403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34fb01da3cb4990" /><Relationship Type="http://schemas.openxmlformats.org/officeDocument/2006/relationships/notesMaster" Target="/ppt/notesMasters/notesMaster1.xml" Id="Rb3b6cdd14934486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39aba533de34867" /><Relationship Type="http://schemas.openxmlformats.org/officeDocument/2006/relationships/notesMaster" Target="/ppt/notesMasters/notesMaster1.xml" Id="R218dcd4cb1654bd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56ee1d0328745ad" /><Relationship Type="http://schemas.openxmlformats.org/officeDocument/2006/relationships/notesMaster" Target="/ppt/notesMasters/notesMaster1.xml" Id="R89f74ce5b5e8492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5324e7c90e04d43" /><Relationship Type="http://schemas.openxmlformats.org/officeDocument/2006/relationships/notesMaster" Target="/ppt/notesMasters/notesMaster1.xml" Id="R9c1f52739a6c471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b50c1bfde0145cc" /><Relationship Type="http://schemas.openxmlformats.org/officeDocument/2006/relationships/notesMaster" Target="/ppt/notesMasters/notesMaster1.xml" Id="R2351aef038ad46a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97531a34b9b4960" /><Relationship Type="http://schemas.openxmlformats.org/officeDocument/2006/relationships/notesMaster" Target="/ppt/notesMasters/notesMaster1.xml" Id="Rd6aa08e3d1344ca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0235523d2144174" /><Relationship Type="http://schemas.openxmlformats.org/officeDocument/2006/relationships/notesMaster" Target="/ppt/notesMasters/notesMaster1.xml" Id="Rbd9197137cf34f4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a2cfffa62584ad8" /><Relationship Type="http://schemas.openxmlformats.org/officeDocument/2006/relationships/notesMaster" Target="/ppt/notesMasters/notesMaster1.xml" Id="Rf9e5c5637d384ec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840131445834f62" /><Relationship Type="http://schemas.openxmlformats.org/officeDocument/2006/relationships/notesMaster" Target="/ppt/notesMasters/notesMaster1.xml" Id="R9f6a0e632373490f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1347a580fdd4470" /><Relationship Type="http://schemas.openxmlformats.org/officeDocument/2006/relationships/notesMaster" Target="/ppt/notesMasters/notesMaster1.xml" Id="R61e7107513fa4287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74eaf20204445f9" /><Relationship Type="http://schemas.openxmlformats.org/officeDocument/2006/relationships/notesMaster" Target="/ppt/notesMasters/notesMaster1.xml" Id="R7e6153f814d04f7e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bb8384136364f47" /><Relationship Type="http://schemas.openxmlformats.org/officeDocument/2006/relationships/notesMaster" Target="/ppt/notesMasters/notesMaster1.xml" Id="Rcd79132bb3434af0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786c2afbec6440f9" /><Relationship Type="http://schemas.openxmlformats.org/officeDocument/2006/relationships/notesMaster" Target="/ppt/notesMasters/notesMaster1.xml" Id="Rcbd41b483b334917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415c343a7e9a4721" /><Relationship Type="http://schemas.openxmlformats.org/officeDocument/2006/relationships/notesMaster" Target="/ppt/notesMasters/notesMaster1.xml" Id="R5e3550862af04cf8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d371fece2c9e48b0" /><Relationship Type="http://schemas.openxmlformats.org/officeDocument/2006/relationships/notesMaster" Target="/ppt/notesMasters/notesMaster1.xml" Id="R470fbc7f9dc34618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647c0b7c1bc7475e" /><Relationship Type="http://schemas.openxmlformats.org/officeDocument/2006/relationships/notesMaster" Target="/ppt/notesMasters/notesMaster1.xml" Id="R623f8567a5ac4d27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2de4a4b736674f6e" /><Relationship Type="http://schemas.openxmlformats.org/officeDocument/2006/relationships/notesMaster" Target="/ppt/notesMasters/notesMaster1.xml" Id="R22e9d159442e432a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b8e0e23e121f4a68" /><Relationship Type="http://schemas.openxmlformats.org/officeDocument/2006/relationships/notesMaster" Target="/ppt/notesMasters/notesMaster1.xml" Id="Re240ae0fc62b401b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99759659fc304f32" /><Relationship Type="http://schemas.openxmlformats.org/officeDocument/2006/relationships/notesMaster" Target="/ppt/notesMasters/notesMaster1.xml" Id="R5814f76701584ee5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77a99b589a05414f" /><Relationship Type="http://schemas.openxmlformats.org/officeDocument/2006/relationships/notesMaster" Target="/ppt/notesMasters/notesMaster1.xml" Id="Ra0bda8bbbe364c9b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f27aa6dffc0a441b" /><Relationship Type="http://schemas.openxmlformats.org/officeDocument/2006/relationships/notesMaster" Target="/ppt/notesMasters/notesMaster1.xml" Id="R6d159320af0c4be3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f2847c2b32304770" /><Relationship Type="http://schemas.openxmlformats.org/officeDocument/2006/relationships/notesMaster" Target="/ppt/notesMasters/notesMaster1.xml" Id="R63b309eb4efe4ba8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c50f1a22d8554c9e" /><Relationship Type="http://schemas.openxmlformats.org/officeDocument/2006/relationships/notesMaster" Target="/ppt/notesMasters/notesMaster1.xml" Id="R4c8ba9b8674d469b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fce0e46b464d4860" /><Relationship Type="http://schemas.openxmlformats.org/officeDocument/2006/relationships/notesMaster" Target="/ppt/notesMasters/notesMaster1.xml" Id="Rcdcb4b1106d0410b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2b16bc0b724645a4" /><Relationship Type="http://schemas.openxmlformats.org/officeDocument/2006/relationships/notesMaster" Target="/ppt/notesMasters/notesMaster1.xml" Id="R59990b9b265b4193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effccd2669e24877" /><Relationship Type="http://schemas.openxmlformats.org/officeDocument/2006/relationships/notesMaster" Target="/ppt/notesMasters/notesMaster1.xml" Id="R06ccd26601b24722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ac39643255db4c26" /><Relationship Type="http://schemas.openxmlformats.org/officeDocument/2006/relationships/notesMaster" Target="/ppt/notesMasters/notesMaster1.xml" Id="R6dda8a082cc5486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605b99dbe9c4fbb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d7c211fbe2f14c2b" /><Relationship Type="http://schemas.openxmlformats.org/officeDocument/2006/relationships/slideLayout" Target="/ppt/slideLayouts/slideLayout2.xml" Id="R2f2d42ee7fa143c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f2d42ee7fa143c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53941bb0b8e4e7f" /><Relationship Type="http://schemas.openxmlformats.org/officeDocument/2006/relationships/image" Target="/ppt/media/image.jpeg" Id="R07d8eebbbd94410c" /><Relationship Type="http://schemas.openxmlformats.org/officeDocument/2006/relationships/notesSlide" Target="/ppt/notesSlides/notesSlide1.xml" Id="R9f1ca63de28f40e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cbfc022922a4539" /><Relationship Type="http://schemas.openxmlformats.org/officeDocument/2006/relationships/notesSlide" Target="/ppt/notesSlides/notesSlide2.xml" Id="R6c4520d71c0346c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ae63514a49549dd" /><Relationship Type="http://schemas.openxmlformats.org/officeDocument/2006/relationships/image" Target="/ppt/media/image.png" Id="R611f9c7a9c1f4703" /><Relationship Type="http://schemas.openxmlformats.org/officeDocument/2006/relationships/notesSlide" Target="/ppt/notesSlides/notesSlide3.xml" Id="Re419af60b2d14d7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ad64374ab4540a2" /><Relationship Type="http://schemas.openxmlformats.org/officeDocument/2006/relationships/image" Target="/ppt/media/image2.png" Id="R2f875fa353e34efb" /><Relationship Type="http://schemas.openxmlformats.org/officeDocument/2006/relationships/notesSlide" Target="/ppt/notesSlides/notesSlide4.xml" Id="Rb39ac11c91cf4c5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e26b26f64a74a02" /><Relationship Type="http://schemas.openxmlformats.org/officeDocument/2006/relationships/image" Target="/ppt/media/image3.png" Id="Rbc4231b5a6514584" /><Relationship Type="http://schemas.openxmlformats.org/officeDocument/2006/relationships/notesSlide" Target="/ppt/notesSlides/notesSlide5.xml" Id="Re6a55bdb2b4c446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f460743b0164692" /><Relationship Type="http://schemas.openxmlformats.org/officeDocument/2006/relationships/image" Target="/ppt/media/image4.png" Id="Rfe8083a4430a4741" /><Relationship Type="http://schemas.openxmlformats.org/officeDocument/2006/relationships/notesSlide" Target="/ppt/notesSlides/notesSlide6.xml" Id="Rd579176a37dd47e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a5e5bf1fd59433c" /><Relationship Type="http://schemas.openxmlformats.org/officeDocument/2006/relationships/notesSlide" Target="/ppt/notesSlides/notesSlide7.xml" Id="Ra576e7a25638472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35eebed20fb416b" /><Relationship Type="http://schemas.openxmlformats.org/officeDocument/2006/relationships/image" Target="/ppt/media/image5.png" Id="R338dfc0e9b614ca7" /><Relationship Type="http://schemas.openxmlformats.org/officeDocument/2006/relationships/notesSlide" Target="/ppt/notesSlides/notesSlide8.xml" Id="R3e57bcbb46e2470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71411e1a37d4a00" /><Relationship Type="http://schemas.openxmlformats.org/officeDocument/2006/relationships/image" Target="/ppt/media/image6.png" Id="Rf692ec92b6be40f4" /><Relationship Type="http://schemas.openxmlformats.org/officeDocument/2006/relationships/notesSlide" Target="/ppt/notesSlides/notesSlide9.xml" Id="R9847ed735a6146e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d7c417d754f4a6e" /><Relationship Type="http://schemas.openxmlformats.org/officeDocument/2006/relationships/image" Target="/ppt/media/image7.png" Id="R944ce8dc4ea145ea" /><Relationship Type="http://schemas.openxmlformats.org/officeDocument/2006/relationships/notesSlide" Target="/ppt/notesSlides/notesSlide10.xml" Id="R7afc7fa169c543c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5b254b3a1d64617" /><Relationship Type="http://schemas.openxmlformats.org/officeDocument/2006/relationships/image" Target="/ppt/media/image8.png" Id="R4f658a3e01c04fb3" /><Relationship Type="http://schemas.openxmlformats.org/officeDocument/2006/relationships/notesSlide" Target="/ppt/notesSlides/notesSlide11.xml" Id="Rf9d8740d29b44e1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7ad9c02d94b4be4" /><Relationship Type="http://schemas.openxmlformats.org/officeDocument/2006/relationships/notesSlide" Target="/ppt/notesSlides/notesSlide12.xml" Id="Rc3ee7bea0e93462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e49a4810c6d412a" /><Relationship Type="http://schemas.openxmlformats.org/officeDocument/2006/relationships/image" Target="/ppt/media/image9.png" Id="Rfd36148fe2e64f6b" /><Relationship Type="http://schemas.openxmlformats.org/officeDocument/2006/relationships/notesSlide" Target="/ppt/notesSlides/notesSlide13.xml" Id="R84db95b5d3ec408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b13eff07d2542c1" /><Relationship Type="http://schemas.openxmlformats.org/officeDocument/2006/relationships/image" Target="/ppt/media/image10.png" Id="R0fea2ec7a6334fcd" /><Relationship Type="http://schemas.openxmlformats.org/officeDocument/2006/relationships/notesSlide" Target="/ppt/notesSlides/notesSlide14.xml" Id="R61b96a78ff324b3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cefb12893c84909" /><Relationship Type="http://schemas.openxmlformats.org/officeDocument/2006/relationships/image" Target="/ppt/media/image11.png" Id="Rd97a183c1a094138" /><Relationship Type="http://schemas.openxmlformats.org/officeDocument/2006/relationships/notesSlide" Target="/ppt/notesSlides/notesSlide15.xml" Id="R26b9d75ad1684149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5269bb55c6a4a94" /><Relationship Type="http://schemas.openxmlformats.org/officeDocument/2006/relationships/image" Target="/ppt/media/image12.png" Id="R85eb7dbdc8ba4b84" /><Relationship Type="http://schemas.openxmlformats.org/officeDocument/2006/relationships/notesSlide" Target="/ppt/notesSlides/notesSlide16.xml" Id="Re13926a002c8489f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ece9f24d4f34021" /><Relationship Type="http://schemas.openxmlformats.org/officeDocument/2006/relationships/notesSlide" Target="/ppt/notesSlides/notesSlide17.xml" Id="R1f5080c6702148f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7d4901a8bc24890" /><Relationship Type="http://schemas.openxmlformats.org/officeDocument/2006/relationships/image" Target="/ppt/media/image13.png" Id="R3fd21dd9c4e04237" /><Relationship Type="http://schemas.openxmlformats.org/officeDocument/2006/relationships/notesSlide" Target="/ppt/notesSlides/notesSlide18.xml" Id="R2e6edbb9ef6f4c9c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359e23d51c247c0" /><Relationship Type="http://schemas.openxmlformats.org/officeDocument/2006/relationships/image" Target="/ppt/media/image14.png" Id="Rf50a6268e01d4cb1" /><Relationship Type="http://schemas.openxmlformats.org/officeDocument/2006/relationships/notesSlide" Target="/ppt/notesSlides/notesSlide19.xml" Id="R70c1805d3174447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2a996f33bd843fa" /><Relationship Type="http://schemas.openxmlformats.org/officeDocument/2006/relationships/image" Target="/ppt/media/image15.png" Id="Rbbb36776d7814da8" /><Relationship Type="http://schemas.openxmlformats.org/officeDocument/2006/relationships/notesSlide" Target="/ppt/notesSlides/notesSlide20.xml" Id="R8f3358588f974975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2462c09762449b4" /><Relationship Type="http://schemas.openxmlformats.org/officeDocument/2006/relationships/image" Target="/ppt/media/image16.png" Id="Rd62f66b23b8b4dc3" /><Relationship Type="http://schemas.openxmlformats.org/officeDocument/2006/relationships/notesSlide" Target="/ppt/notesSlides/notesSlide21.xml" Id="R3fa742fdd5264935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d7c1ca4506743b7" /><Relationship Type="http://schemas.openxmlformats.org/officeDocument/2006/relationships/notesSlide" Target="/ppt/notesSlides/notesSlide22.xml" Id="Rc7e135dce9c947fc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d67733939964fad" /><Relationship Type="http://schemas.openxmlformats.org/officeDocument/2006/relationships/image" Target="/ppt/media/image17.png" Id="R7a234299cd154418" /><Relationship Type="http://schemas.openxmlformats.org/officeDocument/2006/relationships/notesSlide" Target="/ppt/notesSlides/notesSlide23.xml" Id="R29ad31929a944395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6b3ce8fe8b14052" /><Relationship Type="http://schemas.openxmlformats.org/officeDocument/2006/relationships/image" Target="/ppt/media/image18.png" Id="R7332d508ac494771" /><Relationship Type="http://schemas.openxmlformats.org/officeDocument/2006/relationships/notesSlide" Target="/ppt/notesSlides/notesSlide24.xml" Id="R77114a4b5ef943fc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a64d88be60a4bf5" /><Relationship Type="http://schemas.openxmlformats.org/officeDocument/2006/relationships/image" Target="/ppt/media/image19.png" Id="R52b92b1c6ef64442" /><Relationship Type="http://schemas.openxmlformats.org/officeDocument/2006/relationships/notesSlide" Target="/ppt/notesSlides/notesSlide25.xml" Id="R5bfe9aca02d94a42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30786f71d854ef2" /><Relationship Type="http://schemas.openxmlformats.org/officeDocument/2006/relationships/image" Target="/ppt/media/image20.png" Id="Re2c3c4d86eaa4a8f" /><Relationship Type="http://schemas.openxmlformats.org/officeDocument/2006/relationships/notesSlide" Target="/ppt/notesSlides/notesSlide26.xml" Id="R8a104dc4107d4797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ef0ba2e725744c4" /><Relationship Type="http://schemas.openxmlformats.org/officeDocument/2006/relationships/notesSlide" Target="/ppt/notesSlides/notesSlide27.xml" Id="R9d6237dd2eea457e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18f3add8d284524" /><Relationship Type="http://schemas.openxmlformats.org/officeDocument/2006/relationships/image" Target="/ppt/media/image21.png" Id="Rd76c55cf328f4b1b" /><Relationship Type="http://schemas.openxmlformats.org/officeDocument/2006/relationships/notesSlide" Target="/ppt/notesSlides/notesSlide28.xml" Id="R95355f2e21144326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6d96be3d18e493a" /><Relationship Type="http://schemas.openxmlformats.org/officeDocument/2006/relationships/image" Target="/ppt/media/image22.png" Id="R56bc30e8f5534947" /><Relationship Type="http://schemas.openxmlformats.org/officeDocument/2006/relationships/notesSlide" Target="/ppt/notesSlides/notesSlide29.xml" Id="R75334aacdbf84a07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b4ae0a1539a4497" /><Relationship Type="http://schemas.openxmlformats.org/officeDocument/2006/relationships/image" Target="/ppt/media/image23.png" Id="Rab5e7dda1467456e" /><Relationship Type="http://schemas.openxmlformats.org/officeDocument/2006/relationships/notesSlide" Target="/ppt/notesSlides/notesSlide30.xml" Id="R54e404a6d8f94a71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3ff035d6b104cf6" /><Relationship Type="http://schemas.openxmlformats.org/officeDocument/2006/relationships/image" Target="/ppt/media/image24.png" Id="Rea936d148c9745af" /><Relationship Type="http://schemas.openxmlformats.org/officeDocument/2006/relationships/notesSlide" Target="/ppt/notesSlides/notesSlide31.xml" Id="Rf0a0a3d8717249b4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6217aa65d91416a" /><Relationship Type="http://schemas.openxmlformats.org/officeDocument/2006/relationships/notesSlide" Target="/ppt/notesSlides/notesSlide32.xml" Id="Rd8ae8401936d4392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1401f9e5b124e9a" /><Relationship Type="http://schemas.openxmlformats.org/officeDocument/2006/relationships/notesSlide" Target="/ppt/notesSlides/notesSlide33.xml" Id="R5d8271fb4a4e47b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14616D3-FC50-45F1-9AEA-7DA95A18F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42950"/>
            <a:ext cx="73342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EC3F6B"/>
                </a:solidFill>
              </a:defRPr>
            </a:pPr>
            <a:r>
              <a:rPr sz="1425" b="1">
                <a:solidFill>
                  <a:srgbClr val="EC3F6B"/>
                </a:solidFill>
              </a:rPr>
              <a:t>FOREST CODE · GTA-LINKED WORKED EXAMPLES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493B0D-2857-492D-9795-2E0B3BD5E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390650"/>
            <a:ext cx="7334250" cy="3143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950" b="1">
                <a:solidFill>
                  <a:srgbClr val="3D2A87"/>
                </a:solidFill>
              </a:defRPr>
            </a:pPr>
            <a:r>
              <a:rPr sz="4950" b="1">
                <a:solidFill>
                  <a:srgbClr val="3D2A87"/>
                </a:solidFill>
              </a:rPr>
              <a:t>Six properties.</a:t>
            </a:r>
          </a:p>
          <a:p xmlns:a="http://schemas.openxmlformats.org/drawingml/2006/main">
            <a:pPr>
              <a:defRPr sz="4950" b="1">
                <a:solidFill>
                  <a:srgbClr val="3D2A87"/>
                </a:solidFill>
              </a:defRPr>
            </a:pPr>
            <a:r>
              <a:rPr sz="4950" b="1">
                <a:solidFill>
                  <a:srgbClr val="3D2A87"/>
                </a:solidFill>
              </a:rPr>
              <a:t>Three source bases.</a:t>
            </a:r>
          </a:p>
          <a:p xmlns:a="http://schemas.openxmlformats.org/drawingml/2006/main">
            <a:pPr>
              <a:defRPr sz="4950" b="1">
                <a:solidFill>
                  <a:srgbClr val="3D2A87"/>
                </a:solidFill>
              </a:defRPr>
            </a:pPr>
            <a:r>
              <a:rPr sz="4950" b="1">
                <a:solidFill>
                  <a:srgbClr val="3D2A87"/>
                </a:solidFill>
              </a:rPr>
              <a:t>Every vector layer visible.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E6709F-4D13-49F1-8E74-A35046B0E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62500"/>
            <a:ext cx="24765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3F6B"/>
          </a:solidFill>
          <a:ln xmlns:a="http://schemas.openxmlformats.org/drawingml/2006/main" w="0">
            <a:solidFill>
              <a:srgbClr val="EC3F6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9D35DB-A207-4392-BB38-8122F91F0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086350"/>
            <a:ext cx="7334250" cy="1571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5D716C"/>
                </a:solidFill>
              </a:defRPr>
            </a:pPr>
            <a:r>
              <a:rPr sz="2025">
                <a:solidFill>
                  <a:srgbClr val="5D716C"/>
                </a:solidFill>
              </a:rPr>
              <a:t>Validated, Digital, and Proxy — one property above and one property up to four fiscal modules in each base, all linked to GTA and containing both forest and cerrado.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58C431-D122-424E-ADD4-B22F4AA65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896100"/>
            <a:ext cx="73342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200">
                <a:solidFill>
                  <a:srgbClr val="5D716C"/>
                </a:solidFill>
              </a:rPr>
              <a:t>Mato Grosso · Final compliance model · 30 September 2026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d8eebbbd94410c"/>
          <a:srcRect xmlns:a="http://schemas.openxmlformats.org/drawingml/2006/main" l="23754" t="0" r="2375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048750" y="0"/>
            <a:ext cx="9239250" cy="9886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4F46B3-BACD-46AA-843B-D4C313734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9886950"/>
            <a:ext cx="92392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3D2A87"/>
                </a:solidFill>
              </a:defRPr>
            </a:pPr>
            <a:r>
              <a:rPr sz="900">
                <a:solidFill>
                  <a:srgbClr val="3D2A87"/>
                </a:solidFill>
              </a:rPr>
              <a:t>Photo: UN PAGE · Mato Grosso Goes Green</a:t>
            </a:r>
          </a:p>
        </p:txBody>
      </p:sp>
    </p:spTree>
    <p:extLst>
      <p:ext uri="{BB962C8B-B14F-4D97-AF65-F5344CB8AC3E}">
        <p14:creationId xmlns:p14="http://schemas.microsoft.com/office/powerpoint/2010/main" val="138995459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2">
            <a:extLst xmlns:a="http://schemas.openxmlformats.org/drawingml/2006/main">
              <a:ext uri="{FF2B5EF4-FFF2-40B4-BE49-F238E27FC236}">
                <a16:creationId xmlns:a16="http://schemas.microsoft.com/office/drawing/2014/main" id="{B58B5477-E97C-4AC3-B7AF-8B63E807A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67640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</a:rPr>
              <a:t>The six examples satisfy the same selection rules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3D6A15-9D8B-4729-B759-6F1C227AE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990600"/>
            <a:ext cx="73533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1500">
                <a:solidFill>
                  <a:srgbClr val="5D716C"/>
                </a:solidFill>
              </a:rPr>
              <a:t>Each case is GTA-linked, has forest and cerrado &gt; 0 ha, and represents one source × size branch.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43247F-B223-4BC7-9FCF-E809F9BCC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5255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3F6B"/>
          </a:solidFill>
          <a:ln xmlns:a="http://schemas.openxmlformats.org/drawingml/2006/main" w="0">
            <a:solidFill>
              <a:srgbClr val="EC3F6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8AC9A1-C2DA-48F7-9200-231413B04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54292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47D72"/>
                </a:solidFill>
              </a:defRPr>
            </a:pPr>
            <a:r>
              <a:rPr sz="2250" b="1">
                <a:solidFill>
                  <a:srgbClr val="147D72"/>
                </a:solidFill>
              </a:rPr>
              <a:t>SIMCAR Validated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E98F5A-94D0-4E08-9D57-CF15E84D1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28850"/>
            <a:ext cx="5429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2"/>
                </a:solidFill>
              </a:defRPr>
            </a:pPr>
            <a:r>
              <a:rPr sz="1575" b="1">
                <a:solidFill>
                  <a:srgbClr val="147D72"/>
                </a:solidFill>
              </a:rPr>
              <a:t>&gt; 4 modules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E1ED80-31A1-4D54-913F-F8FDB0834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52700"/>
            <a:ext cx="54292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D716C"/>
                </a:solidFill>
              </a:defRPr>
            </a:pPr>
            <a:r>
              <a:rPr sz="975">
                <a:solidFill>
                  <a:srgbClr val="5D716C"/>
                </a:solidFill>
              </a:rPr>
              <a:t>MT-5107602-4838366C339B49D69077F3DC87A8074C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3F0868-449D-492D-9D3E-5BD88AACD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28950"/>
            <a:ext cx="542925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3D2A87"/>
                </a:solidFill>
              </a:defRPr>
            </a:pPr>
            <a:r>
              <a:rPr sz="1275">
                <a:solidFill>
                  <a:srgbClr val="3D2A87"/>
                </a:solidFill>
              </a:rPr>
              <a:t>13.36 modules · 801.37 ha · 939 slaughter cattle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F923B0-51DD-4227-842B-412096E00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05500"/>
            <a:ext cx="5429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2C94C"/>
                </a:solidFill>
              </a:defRPr>
            </a:pPr>
            <a:r>
              <a:rPr sz="1575" b="1">
                <a:solidFill>
                  <a:srgbClr val="F2C94C"/>
                </a:solidFill>
              </a:rPr>
              <a:t>≤ 4 modules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297860-5BA2-47D5-87E9-30C2E16AD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29350"/>
            <a:ext cx="54292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D716C"/>
                </a:solidFill>
              </a:defRPr>
            </a:pPr>
            <a:r>
              <a:rPr sz="975">
                <a:solidFill>
                  <a:srgbClr val="5D716C"/>
                </a:solidFill>
              </a:rPr>
              <a:t>MT-5106257-60F736EB772F4CF6A460A8D0BE0ADCBB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0F0438-0CD1-4B73-B092-7050676F0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705600"/>
            <a:ext cx="542925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3D2A87"/>
                </a:solidFill>
              </a:defRPr>
            </a:pPr>
            <a:r>
              <a:rPr sz="1275">
                <a:solidFill>
                  <a:srgbClr val="3D2A87"/>
                </a:solidFill>
              </a:rPr>
              <a:t>1.39 modules · 111.27 ha · 36 slaughter cattle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07B6F3-5F30-4386-876D-98222258C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638300"/>
            <a:ext cx="54292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47D72"/>
                </a:solidFill>
              </a:defRPr>
            </a:pPr>
            <a:r>
              <a:rPr sz="2250" b="1">
                <a:solidFill>
                  <a:srgbClr val="147D72"/>
                </a:solidFill>
              </a:rPr>
              <a:t>SIMCAR Digital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7AF2F6-4D57-4062-B29C-3862F36CE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228850"/>
            <a:ext cx="5429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2"/>
                </a:solidFill>
              </a:defRPr>
            </a:pPr>
            <a:r>
              <a:rPr sz="1575" b="1">
                <a:solidFill>
                  <a:srgbClr val="147D72"/>
                </a:solidFill>
              </a:rPr>
              <a:t>&gt; 4 modules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D061B9-5177-468F-AF3C-1CDF4553C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52700"/>
            <a:ext cx="54292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D716C"/>
                </a:solidFill>
              </a:defRPr>
            </a:pPr>
            <a:r>
              <a:rPr sz="975">
                <a:solidFill>
                  <a:srgbClr val="5D716C"/>
                </a:solidFill>
              </a:rPr>
              <a:t>MT-5107750-3D69A53C7D644B4098DE759BD0FE2AF1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077898-AF24-47D2-9559-FC50ED2CA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028950"/>
            <a:ext cx="542925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3D2A87"/>
                </a:solidFill>
              </a:defRPr>
            </a:pPr>
            <a:r>
              <a:rPr sz="1275">
                <a:solidFill>
                  <a:srgbClr val="3D2A87"/>
                </a:solidFill>
              </a:rPr>
              <a:t>19.54 modules · 1,564.00 ha · 2,131 slaughter cattle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9C1AD8-4D69-497D-B297-72E0F2996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5905500"/>
            <a:ext cx="5429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2C94C"/>
                </a:solidFill>
              </a:defRPr>
            </a:pPr>
            <a:r>
              <a:rPr sz="1575" b="1">
                <a:solidFill>
                  <a:srgbClr val="F2C94C"/>
                </a:solidFill>
              </a:rPr>
              <a:t>≤ 4 modules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FE47CD-11A1-4FB9-89FA-733EFFE5C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6229350"/>
            <a:ext cx="54292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D716C"/>
                </a:solidFill>
              </a:defRPr>
            </a:pPr>
            <a:r>
              <a:rPr sz="975">
                <a:solidFill>
                  <a:srgbClr val="5D716C"/>
                </a:solidFill>
              </a:rPr>
              <a:t>MT-5102603-D132829CFF784C919A4FA35C7A5F32A5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5E8E39-73F9-4158-87B7-F9833686D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6705600"/>
            <a:ext cx="542925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3D2A87"/>
                </a:solidFill>
              </a:defRPr>
            </a:pPr>
            <a:r>
              <a:rPr sz="1275">
                <a:solidFill>
                  <a:srgbClr val="3D2A87"/>
                </a:solidFill>
              </a:rPr>
              <a:t>3.54 modules · 283.08 ha · 588 slaughter cattle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F752291-7516-44AE-9347-F5F34B8FD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1638300"/>
            <a:ext cx="54292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47D72"/>
                </a:solidFill>
              </a:defRPr>
            </a:pPr>
            <a:r>
              <a:rPr sz="2250" b="1">
                <a:solidFill>
                  <a:srgbClr val="147D72"/>
                </a:solidFill>
              </a:rPr>
              <a:t>SIMCAR Proxy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38259E-71FE-4B34-9F81-F248CACD5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2228850"/>
            <a:ext cx="5429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2"/>
                </a:solidFill>
              </a:defRPr>
            </a:pPr>
            <a:r>
              <a:rPr sz="1575" b="1">
                <a:solidFill>
                  <a:srgbClr val="147D72"/>
                </a:solidFill>
              </a:rPr>
              <a:t>&gt; 4 modules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BE0A89C-64BF-4A5E-8FA8-8E00151E0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2552700"/>
            <a:ext cx="54292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D716C"/>
                </a:solidFill>
              </a:defRPr>
            </a:pPr>
            <a:r>
              <a:rPr sz="975">
                <a:solidFill>
                  <a:srgbClr val="5D716C"/>
                </a:solidFill>
              </a:rPr>
              <a:t>MT-5106828-23ABB407C9334E9F864BC6C07D00148C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E4FC78F-8F66-4BA6-BEF5-1EC06EB0E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3028950"/>
            <a:ext cx="542925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3D2A87"/>
                </a:solidFill>
              </a:defRPr>
            </a:pPr>
            <a:r>
              <a:rPr sz="1275">
                <a:solidFill>
                  <a:srgbClr val="3D2A87"/>
                </a:solidFill>
              </a:rPr>
              <a:t>10.51 modules · 839.84 ha · 591 slaughter cattle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F174107-2F9D-4B7F-9758-8FF7ABEFA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5905500"/>
            <a:ext cx="5429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2C94C"/>
                </a:solidFill>
              </a:defRPr>
            </a:pPr>
            <a:r>
              <a:rPr sz="1575" b="1">
                <a:solidFill>
                  <a:srgbClr val="F2C94C"/>
                </a:solidFill>
              </a:rPr>
              <a:t>≤ 4 modules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A8051CC-B9EB-4242-9778-E3F268F88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6229350"/>
            <a:ext cx="54292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D716C"/>
                </a:solidFill>
              </a:defRPr>
            </a:pPr>
            <a:r>
              <a:rPr sz="975">
                <a:solidFill>
                  <a:srgbClr val="5D716C"/>
                </a:solidFill>
              </a:rPr>
              <a:t>MT-5103304-CDD5B177BF43405FA86B66729E82F424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87CF759-8E19-4EF4-B56A-6F529321D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6705600"/>
            <a:ext cx="542925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3D2A87"/>
                </a:solidFill>
              </a:defRPr>
            </a:pPr>
            <a:r>
              <a:rPr sz="1275">
                <a:solidFill>
                  <a:srgbClr val="3D2A87"/>
                </a:solidFill>
              </a:rPr>
              <a:t>1.87 modules · 186.59 ha · 121 slaughter cattle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7B9C8AC-B2FB-489D-B172-25E658562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9620250"/>
            <a:ext cx="2362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D716C"/>
                </a:solidFill>
              </a:defRPr>
            </a:pPr>
            <a:r>
              <a:rPr sz="750">
                <a:solidFill>
                  <a:srgbClr val="5D716C"/>
                </a:solidFill>
              </a:rPr>
              <a:t>Source: final GTA-linked Forest Code mega table · 2026-09-30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50B378E-B507-4185-9B89-F881DE68B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11650" y="9620250"/>
            <a:ext cx="523875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47D72"/>
                </a:solidFill>
              </a:defRPr>
            </a:pPr>
            <a:r>
              <a:rPr sz="825" b="1">
                <a:solidFill>
                  <a:srgbClr val="147D72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62121856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3">
            <a:extLst xmlns:a="http://schemas.openxmlformats.org/drawingml/2006/main">
              <a:ext uri="{FF2B5EF4-FFF2-40B4-BE49-F238E27FC236}">
                <a16:creationId xmlns:a16="http://schemas.microsoft.com/office/drawing/2014/main" id="{A84213E6-1BA0-4BC1-98E3-488248131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173736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</a:rPr>
              <a:t>SIMCAR Validated · &gt; 4 modules · property overview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DF1536-6B41-42EA-B988-CDE59E136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62000"/>
            <a:ext cx="48387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1500">
                <a:solidFill>
                  <a:srgbClr val="5D716C"/>
                </a:solidFill>
              </a:rPr>
              <a:t>13.36 fiscal modules · GTA direct supplier · 939 slaughter cattle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A63B09-9522-4E98-935F-E2B5C01F1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2395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B8B5"/>
          </a:solidFill>
          <a:ln xmlns:a="http://schemas.openxmlformats.org/drawingml/2006/main" w="0">
            <a:solidFill>
              <a:srgbClr val="11B8B5"/>
            </a:solidFill>
            <a:prstDash val="solid"/>
          </a:ln>
        </p:spPr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1f9c7a9c1f4703"/>
          <a:stretch xmlns:a="http://schemas.openxmlformats.org/drawingml/2006/main"/>
        </p:blipFill>
        <p:spPr>
          <a:xfrm xmlns:a="http://schemas.openxmlformats.org/drawingml/2006/main">
            <a:off x="2374859" y="1304925"/>
            <a:ext cx="8492890" cy="818197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119936-DED5-4491-AF91-61700732C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184785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200">
                <a:solidFill>
                  <a:srgbClr val="5D716C"/>
                </a:solidFill>
              </a:rPr>
              <a:t>Property area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7CEFE4-BE89-4C7B-95C8-D617CB445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182880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2"/>
                </a:solidFill>
              </a:defRPr>
            </a:pPr>
            <a:r>
              <a:rPr sz="1575" b="1">
                <a:solidFill>
                  <a:srgbClr val="147D72"/>
                </a:solidFill>
              </a:rPr>
              <a:t>801.37 ha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A407FF-B68E-4B69-B617-4BDD3CE64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320040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200">
                <a:solidFill>
                  <a:srgbClr val="5D716C"/>
                </a:solidFill>
              </a:rPr>
              <a:t>Forest formation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753B86-9879-4A0A-A618-7566BD8D1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320040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2"/>
                </a:solidFill>
              </a:defRPr>
            </a:pPr>
            <a:r>
              <a:rPr sz="1575" b="1">
                <a:solidFill>
                  <a:srgbClr val="147D72"/>
                </a:solidFill>
              </a:rPr>
              <a:t>552.09 ha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509A39-0FE8-44D6-AE37-F5942C9A7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457200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200">
                <a:solidFill>
                  <a:srgbClr val="5D716C"/>
                </a:solidFill>
              </a:rPr>
              <a:t>Cerrado formation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4D45AA-DA04-4145-9111-9B9AB912B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455295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2"/>
                </a:solidFill>
              </a:defRPr>
            </a:pPr>
            <a:r>
              <a:rPr sz="1575" b="1">
                <a:solidFill>
                  <a:srgbClr val="147D72"/>
                </a:solidFill>
              </a:rPr>
              <a:t>247.92 ha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11BE5E-7255-4E02-AE97-9EE19B36C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594360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200">
                <a:solidFill>
                  <a:srgbClr val="5D716C"/>
                </a:solidFill>
              </a:rPr>
              <a:t>Current native vegetation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236DE9-E15E-4ED8-9CE4-0D38A2232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592455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2"/>
                </a:solidFill>
              </a:defRPr>
            </a:pPr>
            <a:r>
              <a:rPr sz="1575" b="1">
                <a:solidFill>
                  <a:srgbClr val="147D72"/>
                </a:solidFill>
              </a:rPr>
              <a:t>133.87 ha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23BA53-5E72-473E-BAD1-A1646F114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729615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200">
                <a:solidFill>
                  <a:srgbClr val="5D716C"/>
                </a:solidFill>
              </a:rPr>
              <a:t>Baseline liability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283D08-753D-4DFD-96D6-E6BB5F986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729615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2"/>
                </a:solidFill>
              </a:defRPr>
            </a:pPr>
            <a:r>
              <a:rPr sz="1575" b="1">
                <a:solidFill>
                  <a:srgbClr val="147D72"/>
                </a:solidFill>
              </a:rPr>
              <a:t>395.23 ha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24E76A-FA75-4267-A8FE-3F8AADCAE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866775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200">
                <a:solidFill>
                  <a:srgbClr val="5D716C"/>
                </a:solidFill>
              </a:rPr>
              <a:t>With secondary vegetation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6E462D-A51E-4244-8DC9-501DD30E2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864870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2"/>
                </a:solidFill>
              </a:defRPr>
            </a:pPr>
            <a:r>
              <a:rPr sz="1575" b="1">
                <a:solidFill>
                  <a:srgbClr val="147D72"/>
                </a:solidFill>
              </a:rPr>
              <a:t>301.01 ha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7F43B4-295F-41DE-90E8-00EDBA471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582150"/>
            <a:ext cx="173736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D716C"/>
                </a:solidFill>
              </a:defRPr>
            </a:pPr>
            <a:r>
              <a:rPr sz="750">
                <a:solidFill>
                  <a:srgbClr val="5D716C"/>
                </a:solidFill>
              </a:rPr>
              <a:t>CAR: MT-5107602-4838366C339B49D69077F3DC87A8074C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3D7046-BB5E-4047-AB1F-A4ACFDC59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48850"/>
            <a:ext cx="2362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D716C"/>
                </a:solidFill>
              </a:defRPr>
            </a:pPr>
            <a:r>
              <a:rPr sz="750">
                <a:solidFill>
                  <a:srgbClr val="5D716C"/>
                </a:solidFill>
              </a:rPr>
              <a:t>Source: final GTA-linked Forest Code mega table · 2026-09-30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7BBC1E9-A3A3-4689-A3D7-3C708265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16450" y="9848850"/>
            <a:ext cx="523875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47D72"/>
                </a:solidFill>
              </a:defRPr>
            </a:pPr>
            <a:r>
              <a:rPr sz="825" b="1">
                <a:solidFill>
                  <a:srgbClr val="147D72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57187280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4">
            <a:extLst xmlns:a="http://schemas.openxmlformats.org/drawingml/2006/main">
              <a:ext uri="{FF2B5EF4-FFF2-40B4-BE49-F238E27FC236}">
                <a16:creationId xmlns:a16="http://schemas.microsoft.com/office/drawing/2014/main" id="{3DCE9A7C-B61F-4FF5-976F-5C56CD3A2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1450"/>
            <a:ext cx="176403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</a:rPr>
              <a:t>SIMCAR Validated · &gt; 4 modules · Legal Reserve vector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AD00B4-04D7-4B4D-8500-6A888E938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704850"/>
            <a:ext cx="47625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1500">
                <a:solidFill>
                  <a:srgbClr val="5D716C"/>
                </a:solidFill>
              </a:rPr>
              <a:t>RADAM, current native vegetation, and secondary vegetation.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B6618E-FC4C-44C2-9F6B-04C725608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06680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3F6B"/>
          </a:solidFill>
          <a:ln xmlns:a="http://schemas.openxmlformats.org/drawingml/2006/main" w="0">
            <a:solidFill>
              <a:srgbClr val="EC3F6B"/>
            </a:solidFill>
            <a:prstDash val="solid"/>
          </a:ln>
        </p:spPr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875fa353e34efb"/>
          <a:stretch xmlns:a="http://schemas.openxmlformats.org/drawingml/2006/main"/>
        </p:blipFill>
        <p:spPr>
          <a:xfrm xmlns:a="http://schemas.openxmlformats.org/drawingml/2006/main">
            <a:off x="323850" y="3253353"/>
            <a:ext cx="17640300" cy="4561344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D3BEB4-B227-40B7-A7E1-D6F003CD1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906000"/>
            <a:ext cx="1924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D716C"/>
                </a:solidFill>
              </a:defRPr>
            </a:pPr>
            <a:r>
              <a:rPr sz="750">
                <a:solidFill>
                  <a:srgbClr val="5D716C"/>
                </a:solidFill>
              </a:rPr>
              <a:t>Zero ha = source checked; no intersecting feature.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8A9120-C797-498F-B9F4-377D827BC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87900" y="9906000"/>
            <a:ext cx="4762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47D72"/>
                </a:solidFill>
              </a:defRPr>
            </a:pPr>
            <a:r>
              <a:rPr sz="825" b="1">
                <a:solidFill>
                  <a:srgbClr val="147D72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22448155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5">
            <a:extLst xmlns:a="http://schemas.openxmlformats.org/drawingml/2006/main">
              <a:ext uri="{FF2B5EF4-FFF2-40B4-BE49-F238E27FC236}">
                <a16:creationId xmlns:a16="http://schemas.microsoft.com/office/drawing/2014/main" id="{8F6AFDDE-A0D9-46C4-BE5F-93487C30B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1450"/>
            <a:ext cx="176403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</a:rPr>
              <a:t>SIMCAR Validated · &gt; 4 modules · Temporal vector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F459F3-7393-43FA-BA05-6A1428386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704850"/>
            <a:ext cx="48768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1500">
                <a:solidFill>
                  <a:srgbClr val="5D716C"/>
                </a:solidFill>
              </a:rPr>
              <a:t>The 2000 and 2008 cut-offs and post-2008 alternative land use.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669763-F7DE-4D34-8AD6-1F9B9F948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06680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B8B5"/>
          </a:solidFill>
          <a:ln xmlns:a="http://schemas.openxmlformats.org/drawingml/2006/main" w="0">
            <a:solidFill>
              <a:srgbClr val="11B8B5"/>
            </a:solidFill>
            <a:prstDash val="solid"/>
          </a:ln>
        </p:spPr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4231b5a6514584"/>
          <a:stretch xmlns:a="http://schemas.openxmlformats.org/drawingml/2006/main"/>
        </p:blipFill>
        <p:spPr>
          <a:xfrm xmlns:a="http://schemas.openxmlformats.org/drawingml/2006/main">
            <a:off x="323850" y="3321462"/>
            <a:ext cx="17640300" cy="4425126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3072BE-5452-4292-B843-1D054F55E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906000"/>
            <a:ext cx="1924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D716C"/>
                </a:solidFill>
              </a:defRPr>
            </a:pPr>
            <a:r>
              <a:rPr sz="750">
                <a:solidFill>
                  <a:srgbClr val="5D716C"/>
                </a:solidFill>
              </a:rPr>
              <a:t>Zero ha = source checked; no intersecting feature.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33E980-C53A-4D06-B182-31652E009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87900" y="9906000"/>
            <a:ext cx="4762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47D72"/>
                </a:solidFill>
              </a:defRPr>
            </a:pPr>
            <a:r>
              <a:rPr sz="825" b="1">
                <a:solidFill>
                  <a:srgbClr val="147D72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02510865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6">
            <a:extLst xmlns:a="http://schemas.openxmlformats.org/drawingml/2006/main">
              <a:ext uri="{FF2B5EF4-FFF2-40B4-BE49-F238E27FC236}">
                <a16:creationId xmlns:a16="http://schemas.microsoft.com/office/drawing/2014/main" id="{DD662F16-0310-45FB-96C7-98D3EFAD7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1450"/>
            <a:ext cx="176403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</a:rPr>
              <a:t>SIMCAR Validated · &gt; 4 modules · APP vector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86166E-3D64-4F7D-90D8-E8F07A3EB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704850"/>
            <a:ext cx="53340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1500">
                <a:solidFill>
                  <a:srgbClr val="5D716C"/>
                </a:solidFill>
              </a:rPr>
              <a:t>APP extent, vegetation relevant to APP, and pre-/post-2008 liabilities.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352666-BC8F-4A36-B101-6789EDAC7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06680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3F6B"/>
          </a:solidFill>
          <a:ln xmlns:a="http://schemas.openxmlformats.org/drawingml/2006/main" w="0">
            <a:solidFill>
              <a:srgbClr val="EC3F6B"/>
            </a:solidFill>
            <a:prstDash val="solid"/>
          </a:ln>
        </p:spPr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8083a4430a4741"/>
          <a:stretch xmlns:a="http://schemas.openxmlformats.org/drawingml/2006/main"/>
        </p:blipFill>
        <p:spPr>
          <a:xfrm xmlns:a="http://schemas.openxmlformats.org/drawingml/2006/main">
            <a:off x="323850" y="3553123"/>
            <a:ext cx="17640300" cy="3961803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1CD70E-608C-4B0C-8928-823A70C04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906000"/>
            <a:ext cx="1924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D716C"/>
                </a:solidFill>
              </a:defRPr>
            </a:pPr>
            <a:r>
              <a:rPr sz="750">
                <a:solidFill>
                  <a:srgbClr val="5D716C"/>
                </a:solidFill>
              </a:rPr>
              <a:t>Zero ha = source checked; no intersecting feature.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0077CF-6DFD-4AB0-B075-E12DA1E73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87900" y="9906000"/>
            <a:ext cx="4762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47D72"/>
                </a:solidFill>
              </a:defRPr>
            </a:pPr>
            <a:r>
              <a:rPr sz="825" b="1">
                <a:solidFill>
                  <a:srgbClr val="147D72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78745657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7">
            <a:extLst xmlns:a="http://schemas.openxmlformats.org/drawingml/2006/main">
              <a:ext uri="{FF2B5EF4-FFF2-40B4-BE49-F238E27FC236}">
                <a16:creationId xmlns:a16="http://schemas.microsoft.com/office/drawing/2014/main" id="{98EB0245-8FBC-4887-BC4F-4FA7EF119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7200"/>
            <a:ext cx="167259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</a:rPr>
              <a:t>SIMCAR Validated · &gt; 4 modules · calculation chain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48D1D4-C56D-46F3-9756-C67983E72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90600"/>
            <a:ext cx="66294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1500">
                <a:solidFill>
                  <a:srgbClr val="5D716C"/>
                </a:solidFill>
              </a:rPr>
              <a:t>Article 68 selects the LR requirement; APP and secondary vegetation remain separate.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41E50E-ED6E-4CD7-9CFB-B9D250BCD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5255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B8B5"/>
          </a:solidFill>
          <a:ln xmlns:a="http://schemas.openxmlformats.org/drawingml/2006/main" w="0">
            <a:solidFill>
              <a:srgbClr val="11B8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45E250-DEB7-4F66-B9A9-2F20A8683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78867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1200" b="1">
                <a:solidFill>
                  <a:srgbClr val="147D72"/>
                </a:solidFill>
              </a:rPr>
              <a:t>Article 68 requirement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21F4C2-290D-4FA6-9BE1-182F1B300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019300"/>
            <a:ext cx="788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3D2A87"/>
                </a:solidFill>
              </a:defRPr>
            </a:pPr>
            <a:r>
              <a:rPr sz="1350">
                <a:solidFill>
                  <a:srgbClr val="3D2A87"/>
                </a:solidFill>
              </a:rPr>
              <a:t>IF vegetation 2000 ≥ historical floor → floor; ELSE → Article 12 ceiling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E24FD0-C81F-4D69-8469-05F05F2F5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81250"/>
            <a:ext cx="78867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47D72"/>
                </a:solidFill>
              </a:defRPr>
            </a:pPr>
            <a:r>
              <a:rPr sz="1725" b="1">
                <a:solidFill>
                  <a:srgbClr val="147D72"/>
                </a:solidFill>
              </a:rPr>
              <a:t>= 528.44 ha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AC9066-A722-4985-B090-1190CDEFA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1733550"/>
            <a:ext cx="78867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1200" b="1">
                <a:solidFill>
                  <a:srgbClr val="147D72"/>
                </a:solidFill>
              </a:rPr>
              <a:t>Legal Reserve deficit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430B56-6620-40E5-9B78-960E0BC8A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019300"/>
            <a:ext cx="788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3D2A87"/>
                </a:solidFill>
              </a:defRPr>
            </a:pPr>
            <a:r>
              <a:rPr sz="1350">
                <a:solidFill>
                  <a:srgbClr val="3D2A87"/>
                </a:solidFill>
              </a:rPr>
              <a:t>528.44 ha − 133.87 ha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5429D2-2906-4C9C-B004-5458189E4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381250"/>
            <a:ext cx="78867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47D72"/>
                </a:solidFill>
              </a:defRPr>
            </a:pPr>
            <a:r>
              <a:rPr sz="1725" b="1">
                <a:solidFill>
                  <a:srgbClr val="147D72"/>
                </a:solidFill>
              </a:rPr>
              <a:t>= 394.57 ha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E48CCE-DF18-452B-A25E-1F9F8EC51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143500"/>
            <a:ext cx="78867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1200" b="1">
                <a:solidFill>
                  <a:srgbClr val="147D72"/>
                </a:solidFill>
              </a:rPr>
              <a:t>LR pathway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9CD51D-4916-40CF-9170-41F278018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429250"/>
            <a:ext cx="788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3D2A87"/>
                </a:solidFill>
              </a:defRPr>
            </a:pPr>
            <a:r>
              <a:rPr sz="1350">
                <a:solidFill>
                  <a:srgbClr val="3D2A87"/>
                </a:solidFill>
              </a:rPr>
              <a:t>Restore = MIN(post-2008 clearing, LR deficit)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52C9C2-0AD6-4D6F-90A1-402C8664E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772150"/>
            <a:ext cx="78867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47D72"/>
                </a:solidFill>
              </a:defRPr>
            </a:pPr>
            <a:r>
              <a:rPr sz="1725" b="1">
                <a:solidFill>
                  <a:srgbClr val="147D72"/>
                </a:solidFill>
              </a:rPr>
              <a:t>= 1.82 ha restore · 392.75 ha compensate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52EE87-599B-4447-955B-E5BC75DD2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5143500"/>
            <a:ext cx="78867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1200" b="1">
                <a:solidFill>
                  <a:srgbClr val="147D72"/>
                </a:solidFill>
              </a:rPr>
              <a:t>APP restoration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B42014-4F69-43D7-88D6-B5E027086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5429250"/>
            <a:ext cx="788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3D2A87"/>
                </a:solidFill>
              </a:defRPr>
            </a:pPr>
            <a:r>
              <a:rPr sz="1350">
                <a:solidFill>
                  <a:srgbClr val="3D2A87"/>
                </a:solidFill>
              </a:rPr>
              <a:t>Pre-2008 component after cap + post-2008 APP clearing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5E64E7-20C0-4C87-8AB9-CE1B537B5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5772150"/>
            <a:ext cx="78867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47D72"/>
                </a:solidFill>
              </a:defRPr>
            </a:pPr>
            <a:r>
              <a:rPr sz="1725" b="1">
                <a:solidFill>
                  <a:srgbClr val="147D72"/>
                </a:solidFill>
              </a:rPr>
              <a:t>= 0.66 ha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F50637-522B-42C7-B23E-B4CD3ED09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458200"/>
            <a:ext cx="6877050" cy="619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EC3F6B"/>
                </a:solidFill>
              </a:defRPr>
            </a:pPr>
            <a:r>
              <a:rPr sz="2625" b="1">
                <a:solidFill>
                  <a:srgbClr val="EC3F6B"/>
                </a:solidFill>
              </a:rPr>
              <a:t>BASELINE  395.23 ha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D1842C-C58E-4700-B0BE-9293B8409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8458200"/>
            <a:ext cx="9620250" cy="619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47D72"/>
                </a:solidFill>
              </a:defRPr>
            </a:pPr>
            <a:r>
              <a:rPr sz="2400" b="1">
                <a:solidFill>
                  <a:srgbClr val="147D72"/>
                </a:solidFill>
              </a:rPr>
              <a:t>WITH SECONDARY  301.01 ha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4A5795-B485-4EB4-9149-CB84695ED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20250"/>
            <a:ext cx="2362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D716C"/>
                </a:solidFill>
              </a:defRPr>
            </a:pPr>
            <a:r>
              <a:rPr sz="750">
                <a:solidFill>
                  <a:srgbClr val="5D716C"/>
                </a:solidFill>
              </a:rPr>
              <a:t>Source: final GTA-linked Forest Code mega table · 2026-09-30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1CF49A-8D54-47E9-B64E-2BB0DFAA6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2600" y="9620250"/>
            <a:ext cx="523875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47D72"/>
                </a:solidFill>
              </a:defRPr>
            </a:pPr>
            <a:r>
              <a:rPr sz="825" b="1">
                <a:solidFill>
                  <a:srgbClr val="147D72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04877409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8">
            <a:extLst xmlns:a="http://schemas.openxmlformats.org/drawingml/2006/main">
              <a:ext uri="{FF2B5EF4-FFF2-40B4-BE49-F238E27FC236}">
                <a16:creationId xmlns:a16="http://schemas.microsoft.com/office/drawing/2014/main" id="{DB467E83-B498-4014-BC8C-D8C7871D3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173736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</a:rPr>
              <a:t>SIMCAR Validated · ≤ 4 modules · property overview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356B88-BD02-4131-818D-AF62AAA41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62000"/>
            <a:ext cx="462915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1500">
                <a:solidFill>
                  <a:srgbClr val="5D716C"/>
                </a:solidFill>
              </a:rPr>
              <a:t>1.39 fiscal modules · GTA direct supplier · 36 slaughter cattle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3752F0-F22E-4DA6-B918-82CCA091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2395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3F6B"/>
          </a:solidFill>
          <a:ln xmlns:a="http://schemas.openxmlformats.org/drawingml/2006/main" w="0">
            <a:solidFill>
              <a:srgbClr val="EC3F6B"/>
            </a:solidFill>
            <a:prstDash val="solid"/>
          </a:ln>
        </p:spPr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8dfc0e9b614ca7"/>
          <a:stretch xmlns:a="http://schemas.openxmlformats.org/drawingml/2006/main"/>
        </p:blipFill>
        <p:spPr>
          <a:xfrm xmlns:a="http://schemas.openxmlformats.org/drawingml/2006/main">
            <a:off x="1714506" y="1304925"/>
            <a:ext cx="9813595" cy="818197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35F23C-ABF0-466A-BB0B-5315061D2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184785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200">
                <a:solidFill>
                  <a:srgbClr val="5D716C"/>
                </a:solidFill>
              </a:rPr>
              <a:t>Property area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A2BE13-4C22-4EEA-AE6B-8CC56B103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182880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2C94C"/>
                </a:solidFill>
              </a:defRPr>
            </a:pPr>
            <a:r>
              <a:rPr sz="1575" b="1">
                <a:solidFill>
                  <a:srgbClr val="F2C94C"/>
                </a:solidFill>
              </a:rPr>
              <a:t>111.27 ha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43F8EA-4BB3-4B99-ADA3-C2D86EFEF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320040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200">
                <a:solidFill>
                  <a:srgbClr val="5D716C"/>
                </a:solidFill>
              </a:rPr>
              <a:t>Forest formation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03478E-D7D4-4DC5-A57B-05DC41C00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320040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2C94C"/>
                </a:solidFill>
              </a:defRPr>
            </a:pPr>
            <a:r>
              <a:rPr sz="1575" b="1">
                <a:solidFill>
                  <a:srgbClr val="F2C94C"/>
                </a:solidFill>
              </a:rPr>
              <a:t>95.53 ha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F155C6-02AF-4DAF-BD06-E49197FCF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457200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200">
                <a:solidFill>
                  <a:srgbClr val="5D716C"/>
                </a:solidFill>
              </a:rPr>
              <a:t>Cerrado formation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AE43F3-A0C6-4D71-8BD7-DE6B2EC9F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455295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2C94C"/>
                </a:solidFill>
              </a:defRPr>
            </a:pPr>
            <a:r>
              <a:rPr sz="1575" b="1">
                <a:solidFill>
                  <a:srgbClr val="F2C94C"/>
                </a:solidFill>
              </a:rPr>
              <a:t>15.73 ha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150588-B012-4F5D-9EC6-4BA39C9E6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594360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200">
                <a:solidFill>
                  <a:srgbClr val="5D716C"/>
                </a:solidFill>
              </a:rPr>
              <a:t>Current native vegetation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D27415-91C4-40F4-8609-312213D44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592455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2C94C"/>
                </a:solidFill>
              </a:defRPr>
            </a:pPr>
            <a:r>
              <a:rPr sz="1575" b="1">
                <a:solidFill>
                  <a:srgbClr val="F2C94C"/>
                </a:solidFill>
              </a:rPr>
              <a:t>16.40 ha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68DAC9-925E-4E8E-8AC5-5DEB05B08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729615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200">
                <a:solidFill>
                  <a:srgbClr val="5D716C"/>
                </a:solidFill>
              </a:rPr>
              <a:t>Baseline liability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1B76FD-85C2-4347-A5B4-C9292D09E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729615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2C94C"/>
                </a:solidFill>
              </a:defRPr>
            </a:pPr>
            <a:r>
              <a:rPr sz="1575" b="1">
                <a:solidFill>
                  <a:srgbClr val="F2C94C"/>
                </a:solidFill>
              </a:rPr>
              <a:t>66.59 ha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018748-4D07-4693-B1BD-DF7ED08F0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866775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200">
                <a:solidFill>
                  <a:srgbClr val="5D716C"/>
                </a:solidFill>
              </a:rPr>
              <a:t>With secondary vegetation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44BEEC-113F-4F7B-A291-7DD86491E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864870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2C94C"/>
                </a:solidFill>
              </a:defRPr>
            </a:pPr>
            <a:r>
              <a:rPr sz="1575" b="1">
                <a:solidFill>
                  <a:srgbClr val="F2C94C"/>
                </a:solidFill>
              </a:rPr>
              <a:t>65.19 ha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D55028-FF9B-456A-BCA9-2DEE52564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582150"/>
            <a:ext cx="173736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D716C"/>
                </a:solidFill>
              </a:defRPr>
            </a:pPr>
            <a:r>
              <a:rPr sz="750">
                <a:solidFill>
                  <a:srgbClr val="5D716C"/>
                </a:solidFill>
              </a:rPr>
              <a:t>CAR: MT-5106257-60F736EB772F4CF6A460A8D0BE0ADCBB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47D81D3-4C15-46A8-A384-9F33E4C91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48850"/>
            <a:ext cx="2362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D716C"/>
                </a:solidFill>
              </a:defRPr>
            </a:pPr>
            <a:r>
              <a:rPr sz="750">
                <a:solidFill>
                  <a:srgbClr val="5D716C"/>
                </a:solidFill>
              </a:rPr>
              <a:t>Source: final GTA-linked Forest Code mega table · 2026-09-30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CC8F402-3BE1-4D18-8AA8-3D8496B5F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16450" y="9848850"/>
            <a:ext cx="523875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47D72"/>
                </a:solidFill>
              </a:defRPr>
            </a:pPr>
            <a:r>
              <a:rPr sz="825" b="1">
                <a:solidFill>
                  <a:srgbClr val="147D72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895945545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9">
            <a:extLst xmlns:a="http://schemas.openxmlformats.org/drawingml/2006/main">
              <a:ext uri="{FF2B5EF4-FFF2-40B4-BE49-F238E27FC236}">
                <a16:creationId xmlns:a16="http://schemas.microsoft.com/office/drawing/2014/main" id="{FA806ED9-1DC1-44BF-9C5C-14B8C518E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1450"/>
            <a:ext cx="176403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</a:rPr>
              <a:t>SIMCAR Validated · ≤ 4 modules · Legal Reserve vector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469680-B8E3-4F35-8936-6C4F049B4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704850"/>
            <a:ext cx="47625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1500">
                <a:solidFill>
                  <a:srgbClr val="5D716C"/>
                </a:solidFill>
              </a:rPr>
              <a:t>RADAM, current native vegetation, and secondary vegetation.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64EE99-0FE7-4AF3-93ED-854808070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06680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B8B5"/>
          </a:solidFill>
          <a:ln xmlns:a="http://schemas.openxmlformats.org/drawingml/2006/main" w="0">
            <a:solidFill>
              <a:srgbClr val="11B8B5"/>
            </a:solidFill>
            <a:prstDash val="solid"/>
          </a:ln>
        </p:spPr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92ec92b6be40f4"/>
          <a:stretch xmlns:a="http://schemas.openxmlformats.org/drawingml/2006/main"/>
        </p:blipFill>
        <p:spPr>
          <a:xfrm xmlns:a="http://schemas.openxmlformats.org/drawingml/2006/main">
            <a:off x="323850" y="3274942"/>
            <a:ext cx="17640300" cy="451816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C95087-5F91-4F0A-87FD-924D1A633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906000"/>
            <a:ext cx="1924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D716C"/>
                </a:solidFill>
              </a:defRPr>
            </a:pPr>
            <a:r>
              <a:rPr sz="750">
                <a:solidFill>
                  <a:srgbClr val="5D716C"/>
                </a:solidFill>
              </a:rPr>
              <a:t>Zero ha = source checked; no intersecting feature.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1C44BA-F629-4D52-824B-547857DA0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87900" y="9906000"/>
            <a:ext cx="4762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47D72"/>
                </a:solidFill>
              </a:defRPr>
            </a:pPr>
            <a:r>
              <a:rPr sz="825" b="1">
                <a:solidFill>
                  <a:srgbClr val="147D72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01876371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10">
            <a:extLst xmlns:a="http://schemas.openxmlformats.org/drawingml/2006/main">
              <a:ext uri="{FF2B5EF4-FFF2-40B4-BE49-F238E27FC236}">
                <a16:creationId xmlns:a16="http://schemas.microsoft.com/office/drawing/2014/main" id="{F3EAB7B3-1E1E-4585-B0DF-807FC1BD5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1450"/>
            <a:ext cx="176403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</a:rPr>
              <a:t>SIMCAR Validated · ≤ 4 modules · Temporal vector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D8D0BE-C124-4A57-B4BA-55FDDA493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704850"/>
            <a:ext cx="48768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1500">
                <a:solidFill>
                  <a:srgbClr val="5D716C"/>
                </a:solidFill>
              </a:rPr>
              <a:t>The 2000 and 2008 cut-offs and post-2008 alternative land use.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88637B-3992-47DE-AF3F-94F837AEA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06680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3F6B"/>
          </a:solidFill>
          <a:ln xmlns:a="http://schemas.openxmlformats.org/drawingml/2006/main" w="0">
            <a:solidFill>
              <a:srgbClr val="EC3F6B"/>
            </a:solidFill>
            <a:prstDash val="solid"/>
          </a:ln>
        </p:spPr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4ce8dc4ea145ea"/>
          <a:stretch xmlns:a="http://schemas.openxmlformats.org/drawingml/2006/main"/>
        </p:blipFill>
        <p:spPr>
          <a:xfrm xmlns:a="http://schemas.openxmlformats.org/drawingml/2006/main">
            <a:off x="323850" y="3274942"/>
            <a:ext cx="17640300" cy="451816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2A60D1-EED5-407F-87EA-DC6495DB6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906000"/>
            <a:ext cx="1924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D716C"/>
                </a:solidFill>
              </a:defRPr>
            </a:pPr>
            <a:r>
              <a:rPr sz="750">
                <a:solidFill>
                  <a:srgbClr val="5D716C"/>
                </a:solidFill>
              </a:rPr>
              <a:t>Zero ha = source checked; no intersecting feature.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24462E-4F81-4BAF-B9BE-955AD35C4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87900" y="9906000"/>
            <a:ext cx="4762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47D72"/>
                </a:solidFill>
              </a:defRPr>
            </a:pPr>
            <a:r>
              <a:rPr sz="825" b="1">
                <a:solidFill>
                  <a:srgbClr val="147D72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798023991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11">
            <a:extLst xmlns:a="http://schemas.openxmlformats.org/drawingml/2006/main">
              <a:ext uri="{FF2B5EF4-FFF2-40B4-BE49-F238E27FC236}">
                <a16:creationId xmlns:a16="http://schemas.microsoft.com/office/drawing/2014/main" id="{F06D8A34-53E0-4260-A64B-838513F4E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1450"/>
            <a:ext cx="176403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</a:rPr>
              <a:t>SIMCAR Validated · ≤ 4 modules · APP vector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C14D79-472A-4319-BE71-BEF15A3AC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704850"/>
            <a:ext cx="53340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1500">
                <a:solidFill>
                  <a:srgbClr val="5D716C"/>
                </a:solidFill>
              </a:rPr>
              <a:t>APP extent, vegetation relevant to APP, and pre-/post-2008 liabilities.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BCD4B8-A412-4F8B-B008-DF39996B8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06680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B8B5"/>
          </a:solidFill>
          <a:ln xmlns:a="http://schemas.openxmlformats.org/drawingml/2006/main" w="0">
            <a:solidFill>
              <a:srgbClr val="11B8B5"/>
            </a:solidFill>
            <a:prstDash val="solid"/>
          </a:ln>
        </p:spPr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658a3e01c04fb3"/>
          <a:stretch xmlns:a="http://schemas.openxmlformats.org/drawingml/2006/main"/>
        </p:blipFill>
        <p:spPr>
          <a:xfrm xmlns:a="http://schemas.openxmlformats.org/drawingml/2006/main">
            <a:off x="323850" y="3423790"/>
            <a:ext cx="17640300" cy="422047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E284E5-624D-40A8-98D6-A2969266C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906000"/>
            <a:ext cx="1924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D716C"/>
                </a:solidFill>
              </a:defRPr>
            </a:pPr>
            <a:r>
              <a:rPr sz="750">
                <a:solidFill>
                  <a:srgbClr val="5D716C"/>
                </a:solidFill>
              </a:rPr>
              <a:t>Zero ha = source checked; no intersecting feature.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367B4B-4364-452F-A90C-F406FFA80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87900" y="9906000"/>
            <a:ext cx="4762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47D72"/>
                </a:solidFill>
              </a:defRPr>
            </a:pPr>
            <a:r>
              <a:rPr sz="825" b="1">
                <a:solidFill>
                  <a:srgbClr val="147D72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8910243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12">
            <a:extLst xmlns:a="http://schemas.openxmlformats.org/drawingml/2006/main">
              <a:ext uri="{FF2B5EF4-FFF2-40B4-BE49-F238E27FC236}">
                <a16:creationId xmlns:a16="http://schemas.microsoft.com/office/drawing/2014/main" id="{FCCBEA3F-EE29-442D-8AA5-944823FE8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7200"/>
            <a:ext cx="167259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</a:rPr>
              <a:t>SIMCAR Validated · ≤ 4 modules · calculation chain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A60CFE-F8AD-4C5B-8E86-2EE50F02B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90600"/>
            <a:ext cx="66294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1500">
                <a:solidFill>
                  <a:srgbClr val="5D716C"/>
                </a:solidFill>
              </a:rPr>
              <a:t>Article 67 selects the LR requirement; APP and secondary vegetation remain separate.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7FF8B6-5CE5-4284-871E-7EE5C0B34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5255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3F6B"/>
          </a:solidFill>
          <a:ln xmlns:a="http://schemas.openxmlformats.org/drawingml/2006/main" w="0">
            <a:solidFill>
              <a:srgbClr val="EC3F6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40DB1D-C098-424A-80C1-949384E68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78867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2C94C"/>
                </a:solidFill>
              </a:defRPr>
            </a:pPr>
            <a:r>
              <a:rPr sz="1200" b="1">
                <a:solidFill>
                  <a:srgbClr val="F2C94C"/>
                </a:solidFill>
              </a:rPr>
              <a:t>Article 67 requirement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9166EB-D96F-4B34-B320-3E035A762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019300"/>
            <a:ext cx="788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3D2A87"/>
                </a:solidFill>
              </a:defRPr>
            </a:pPr>
            <a:r>
              <a:rPr sz="1350">
                <a:solidFill>
                  <a:srgbClr val="3D2A87"/>
                </a:solidFill>
              </a:rPr>
              <a:t>MIN(Article 12 ceiling, vegetation in 2008)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27C947-8FCE-4090-B534-7BDE34921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81250"/>
            <a:ext cx="78867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2C94C"/>
                </a:solidFill>
              </a:defRPr>
            </a:pPr>
            <a:r>
              <a:rPr sz="1725" b="1">
                <a:solidFill>
                  <a:srgbClr val="F2C94C"/>
                </a:solidFill>
              </a:rPr>
              <a:t>= 80.18 ha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CAE48C-5D4A-4BC9-90CE-6A5FF1289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1733550"/>
            <a:ext cx="78867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2C94C"/>
                </a:solidFill>
              </a:defRPr>
            </a:pPr>
            <a:r>
              <a:rPr sz="1200" b="1">
                <a:solidFill>
                  <a:srgbClr val="F2C94C"/>
                </a:solidFill>
              </a:rPr>
              <a:t>Legal Reserve deficit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7308EC-645E-44E7-B925-BCB7B9A93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019300"/>
            <a:ext cx="788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3D2A87"/>
                </a:solidFill>
              </a:defRPr>
            </a:pPr>
            <a:r>
              <a:rPr sz="1350">
                <a:solidFill>
                  <a:srgbClr val="3D2A87"/>
                </a:solidFill>
              </a:rPr>
              <a:t>80.18 ha − 16.40 ha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1500CF-5AFE-42BE-92A8-7D953D334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381250"/>
            <a:ext cx="78867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2C94C"/>
                </a:solidFill>
              </a:defRPr>
            </a:pPr>
            <a:r>
              <a:rPr sz="1725" b="1">
                <a:solidFill>
                  <a:srgbClr val="F2C94C"/>
                </a:solidFill>
              </a:rPr>
              <a:t>= 63.78 ha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FFB55F-054C-43D4-BB76-D6E66CC19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143500"/>
            <a:ext cx="78867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2C94C"/>
                </a:solidFill>
              </a:defRPr>
            </a:pPr>
            <a:r>
              <a:rPr sz="1200" b="1">
                <a:solidFill>
                  <a:srgbClr val="F2C94C"/>
                </a:solidFill>
              </a:rPr>
              <a:t>LR pathway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015F09-F967-45C3-AC59-156D18D3B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429250"/>
            <a:ext cx="788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3D2A87"/>
                </a:solidFill>
              </a:defRPr>
            </a:pPr>
            <a:r>
              <a:rPr sz="1350">
                <a:solidFill>
                  <a:srgbClr val="3D2A87"/>
                </a:solidFill>
              </a:rPr>
              <a:t>Restore = MIN(post-2008 clearing, LR deficit)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028C46-D0A1-4373-B15C-30D7310EB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772150"/>
            <a:ext cx="78867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2C94C"/>
                </a:solidFill>
              </a:defRPr>
            </a:pPr>
            <a:r>
              <a:rPr sz="1725" b="1">
                <a:solidFill>
                  <a:srgbClr val="F2C94C"/>
                </a:solidFill>
              </a:rPr>
              <a:t>= 58.79 ha restore · 4.98 ha compensate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B75084-F498-40FB-94CF-9782A90F6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5143500"/>
            <a:ext cx="78867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2C94C"/>
                </a:solidFill>
              </a:defRPr>
            </a:pPr>
            <a:r>
              <a:rPr sz="1200" b="1">
                <a:solidFill>
                  <a:srgbClr val="F2C94C"/>
                </a:solidFill>
              </a:rPr>
              <a:t>APP restoration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5BB92B-82CC-41D2-9A44-20B66EC18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5429250"/>
            <a:ext cx="788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3D2A87"/>
                </a:solidFill>
              </a:defRPr>
            </a:pPr>
            <a:r>
              <a:rPr sz="1350">
                <a:solidFill>
                  <a:srgbClr val="3D2A87"/>
                </a:solidFill>
              </a:rPr>
              <a:t>Pre-2008 component after cap + post-2008 APP clearing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C8C8B1-F1BA-4F21-A69C-EE81ACED7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5772150"/>
            <a:ext cx="78867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2C94C"/>
                </a:solidFill>
              </a:defRPr>
            </a:pPr>
            <a:r>
              <a:rPr sz="1725" b="1">
                <a:solidFill>
                  <a:srgbClr val="F2C94C"/>
                </a:solidFill>
              </a:rPr>
              <a:t>= 2.81 ha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CB7E4D-BB7C-4C25-8ECD-DC0528FCC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458200"/>
            <a:ext cx="6877050" cy="619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EC3F6B"/>
                </a:solidFill>
              </a:defRPr>
            </a:pPr>
            <a:r>
              <a:rPr sz="2625" b="1">
                <a:solidFill>
                  <a:srgbClr val="EC3F6B"/>
                </a:solidFill>
              </a:rPr>
              <a:t>BASELINE  66.59 ha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FBEC3E-D7C8-4205-84D4-CD8EF9AC9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8458200"/>
            <a:ext cx="9620250" cy="619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47D72"/>
                </a:solidFill>
              </a:defRPr>
            </a:pPr>
            <a:r>
              <a:rPr sz="2400" b="1">
                <a:solidFill>
                  <a:srgbClr val="147D72"/>
                </a:solidFill>
              </a:rPr>
              <a:t>WITH SECONDARY  65.19 ha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73E0B8-4C8B-4E10-8A98-F28D13D63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20250"/>
            <a:ext cx="2362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D716C"/>
                </a:solidFill>
              </a:defRPr>
            </a:pPr>
            <a:r>
              <a:rPr sz="750">
                <a:solidFill>
                  <a:srgbClr val="5D716C"/>
                </a:solidFill>
              </a:rPr>
              <a:t>Source: final GTA-linked Forest Code mega table · 2026-09-30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59E844-9331-4161-A8A2-674077105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2600" y="9620250"/>
            <a:ext cx="523875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47D72"/>
                </a:solidFill>
              </a:defRPr>
            </a:pPr>
            <a:r>
              <a:rPr sz="825" b="1">
                <a:solidFill>
                  <a:srgbClr val="147D72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024645964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13">
            <a:extLst xmlns:a="http://schemas.openxmlformats.org/drawingml/2006/main">
              <a:ext uri="{FF2B5EF4-FFF2-40B4-BE49-F238E27FC236}">
                <a16:creationId xmlns:a16="http://schemas.microsoft.com/office/drawing/2014/main" id="{E5175F78-EFD4-41EF-955C-C1475CBDF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173736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</a:rPr>
              <a:t>SIMCAR Digital · &gt; 4 modules · property overview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175B8D-51C5-44AF-9350-786298A8C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62000"/>
            <a:ext cx="497205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1500">
                <a:solidFill>
                  <a:srgbClr val="5D716C"/>
                </a:solidFill>
              </a:rPr>
              <a:t>19.54 fiscal modules · GTA direct supplier · 2,131 slaughter cattle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101294-A7D2-45D8-9EC3-911EA90E1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2395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B8B5"/>
          </a:solidFill>
          <a:ln xmlns:a="http://schemas.openxmlformats.org/drawingml/2006/main" w="0">
            <a:solidFill>
              <a:srgbClr val="11B8B5"/>
            </a:solidFill>
            <a:prstDash val="solid"/>
          </a:ln>
        </p:spPr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36148fe2e64f6b"/>
          <a:stretch xmlns:a="http://schemas.openxmlformats.org/drawingml/2006/main"/>
        </p:blipFill>
        <p:spPr>
          <a:xfrm xmlns:a="http://schemas.openxmlformats.org/drawingml/2006/main">
            <a:off x="2931233" y="1304925"/>
            <a:ext cx="7380141" cy="818197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945726-C6FA-4620-87C4-C2A56F452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184785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200">
                <a:solidFill>
                  <a:srgbClr val="5D716C"/>
                </a:solidFill>
              </a:rPr>
              <a:t>Property area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A7DD2B-D063-42A6-9795-031066DEA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182880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2"/>
                </a:solidFill>
              </a:defRPr>
            </a:pPr>
            <a:r>
              <a:rPr sz="1575" b="1">
                <a:solidFill>
                  <a:srgbClr val="147D72"/>
                </a:solidFill>
              </a:rPr>
              <a:t>1,564.00 ha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7D77DD-EFF4-4E3D-81DF-7480EC068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320040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200">
                <a:solidFill>
                  <a:srgbClr val="5D716C"/>
                </a:solidFill>
              </a:rPr>
              <a:t>Forest formation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3334CB-827E-4B7D-ACA8-36B5E6AB2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320040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2"/>
                </a:solidFill>
              </a:defRPr>
            </a:pPr>
            <a:r>
              <a:rPr sz="1575" b="1">
                <a:solidFill>
                  <a:srgbClr val="147D72"/>
                </a:solidFill>
              </a:rPr>
              <a:t>1,502.11 ha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3D96AC-BA04-436F-A9DF-0A79E2A52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457200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200">
                <a:solidFill>
                  <a:srgbClr val="5D716C"/>
                </a:solidFill>
              </a:rPr>
              <a:t>Cerrado formation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CB2515-D4D8-4AD6-B261-FB2A4C5BE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455295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2"/>
                </a:solidFill>
              </a:defRPr>
            </a:pPr>
            <a:r>
              <a:rPr sz="1575" b="1">
                <a:solidFill>
                  <a:srgbClr val="147D72"/>
                </a:solidFill>
              </a:rPr>
              <a:t>61.89 ha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36CC0B-4D01-42DF-B007-5C375B45B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594360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200">
                <a:solidFill>
                  <a:srgbClr val="5D716C"/>
                </a:solidFill>
              </a:rPr>
              <a:t>Current native vegetation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3E61FF-9B35-49D3-BF5E-F23362D34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592455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2"/>
                </a:solidFill>
              </a:defRPr>
            </a:pPr>
            <a:r>
              <a:rPr sz="1575" b="1">
                <a:solidFill>
                  <a:srgbClr val="147D72"/>
                </a:solidFill>
              </a:rPr>
              <a:t>162.98 ha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1BBE95-BCFC-44DF-B8CC-BB3B0242C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729615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200">
                <a:solidFill>
                  <a:srgbClr val="5D716C"/>
                </a:solidFill>
              </a:rPr>
              <a:t>Baseline liability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E5AC34-8CF2-4E0A-9CD8-03C1E28D4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729615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2"/>
                </a:solidFill>
              </a:defRPr>
            </a:pPr>
            <a:r>
              <a:rPr sz="1575" b="1">
                <a:solidFill>
                  <a:srgbClr val="147D72"/>
                </a:solidFill>
              </a:rPr>
              <a:t>1,076.81 ha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9B8A74-43E6-4C97-AB8D-530DBAC2B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866775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200">
                <a:solidFill>
                  <a:srgbClr val="5D716C"/>
                </a:solidFill>
              </a:rPr>
              <a:t>With secondary vegetation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F8FAB8-9D73-4D7E-B82A-66EFD5B98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864870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2"/>
                </a:solidFill>
              </a:defRPr>
            </a:pPr>
            <a:r>
              <a:rPr sz="1575" b="1">
                <a:solidFill>
                  <a:srgbClr val="147D72"/>
                </a:solidFill>
              </a:rPr>
              <a:t>929.67 ha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07F5A0-6FAA-4D1D-B139-20E81B3AC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582150"/>
            <a:ext cx="173736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D716C"/>
                </a:solidFill>
              </a:defRPr>
            </a:pPr>
            <a:r>
              <a:rPr sz="750">
                <a:solidFill>
                  <a:srgbClr val="5D716C"/>
                </a:solidFill>
              </a:rPr>
              <a:t>CAR: MT-5107750-3D69A53C7D644B4098DE759BD0FE2AF1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A8811A-44AC-4494-B5B0-7F1D8B9B5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48850"/>
            <a:ext cx="2362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D716C"/>
                </a:solidFill>
              </a:defRPr>
            </a:pPr>
            <a:r>
              <a:rPr sz="750">
                <a:solidFill>
                  <a:srgbClr val="5D716C"/>
                </a:solidFill>
              </a:rPr>
              <a:t>Source: final GTA-linked Forest Code mega table · 2026-09-30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8E59FA-232B-426B-BCA3-FD7B51735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16450" y="9848850"/>
            <a:ext cx="523875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47D72"/>
                </a:solidFill>
              </a:defRPr>
            </a:pPr>
            <a:r>
              <a:rPr sz="825" b="1">
                <a:solidFill>
                  <a:srgbClr val="147D72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77830266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14">
            <a:extLst xmlns:a="http://schemas.openxmlformats.org/drawingml/2006/main">
              <a:ext uri="{FF2B5EF4-FFF2-40B4-BE49-F238E27FC236}">
                <a16:creationId xmlns:a16="http://schemas.microsoft.com/office/drawing/2014/main" id="{9FDABD1D-EEBB-4AAD-9552-DDF56D549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1450"/>
            <a:ext cx="176403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</a:rPr>
              <a:t>SIMCAR Digital · &gt; 4 modules · Legal Reserve vector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7A1EE7-B60C-4B68-B219-E8C51F9B9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704850"/>
            <a:ext cx="47625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1500">
                <a:solidFill>
                  <a:srgbClr val="5D716C"/>
                </a:solidFill>
              </a:rPr>
              <a:t>RADAM, current native vegetation, and secondary vegetation.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C44829-6D27-438E-A830-24FBC109D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06680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3F6B"/>
          </a:solidFill>
          <a:ln xmlns:a="http://schemas.openxmlformats.org/drawingml/2006/main" w="0">
            <a:solidFill>
              <a:srgbClr val="EC3F6B"/>
            </a:solidFill>
            <a:prstDash val="solid"/>
          </a:ln>
        </p:spPr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ea2ec7a6334fcd"/>
          <a:stretch xmlns:a="http://schemas.openxmlformats.org/drawingml/2006/main"/>
        </p:blipFill>
        <p:spPr>
          <a:xfrm xmlns:a="http://schemas.openxmlformats.org/drawingml/2006/main">
            <a:off x="323850" y="3208353"/>
            <a:ext cx="17640300" cy="4651344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5EE838-5D25-407E-889E-A5A85010F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906000"/>
            <a:ext cx="1924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D716C"/>
                </a:solidFill>
              </a:defRPr>
            </a:pPr>
            <a:r>
              <a:rPr sz="750">
                <a:solidFill>
                  <a:srgbClr val="5D716C"/>
                </a:solidFill>
              </a:rPr>
              <a:t>Zero ha = source checked; no intersecting feature.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E888E8-6AA3-4773-9CBE-9A84EDFC8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87900" y="9906000"/>
            <a:ext cx="4762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47D72"/>
                </a:solidFill>
              </a:defRPr>
            </a:pPr>
            <a:r>
              <a:rPr sz="825" b="1">
                <a:solidFill>
                  <a:srgbClr val="147D72"/>
                </a:solidFill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953183195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15">
            <a:extLst xmlns:a="http://schemas.openxmlformats.org/drawingml/2006/main">
              <a:ext uri="{FF2B5EF4-FFF2-40B4-BE49-F238E27FC236}">
                <a16:creationId xmlns:a16="http://schemas.microsoft.com/office/drawing/2014/main" id="{FB01717F-71A9-4447-88FA-DBC845BA3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1450"/>
            <a:ext cx="176403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</a:rPr>
              <a:t>SIMCAR Digital · &gt; 4 modules · Temporal vector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01C7A6-FC55-4203-BEAD-424C50D13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704850"/>
            <a:ext cx="48768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1500">
                <a:solidFill>
                  <a:srgbClr val="5D716C"/>
                </a:solidFill>
              </a:rPr>
              <a:t>The 2000 and 2008 cut-offs and post-2008 alternative land use.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1EA365-3842-43BA-8E2C-E79FF35BD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06680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B8B5"/>
          </a:solidFill>
          <a:ln xmlns:a="http://schemas.openxmlformats.org/drawingml/2006/main" w="0">
            <a:solidFill>
              <a:srgbClr val="11B8B5"/>
            </a:solidFill>
            <a:prstDash val="solid"/>
          </a:ln>
        </p:spPr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7a183c1a094138"/>
          <a:stretch xmlns:a="http://schemas.openxmlformats.org/drawingml/2006/main"/>
        </p:blipFill>
        <p:spPr>
          <a:xfrm xmlns:a="http://schemas.openxmlformats.org/drawingml/2006/main">
            <a:off x="323850" y="3339252"/>
            <a:ext cx="17640300" cy="4389546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F5D77D-F154-4F52-85EA-F0A464099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906000"/>
            <a:ext cx="1924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D716C"/>
                </a:solidFill>
              </a:defRPr>
            </a:pPr>
            <a:r>
              <a:rPr sz="750">
                <a:solidFill>
                  <a:srgbClr val="5D716C"/>
                </a:solidFill>
              </a:rPr>
              <a:t>Zero ha = source checked; no intersecting feature.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873AAE-77DE-46CD-830A-446C02B37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87900" y="9906000"/>
            <a:ext cx="4762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47D72"/>
                </a:solidFill>
              </a:defRPr>
            </a:pPr>
            <a:r>
              <a:rPr sz="825" b="1">
                <a:solidFill>
                  <a:srgbClr val="147D72"/>
                </a:solidFill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652670439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16">
            <a:extLst xmlns:a="http://schemas.openxmlformats.org/drawingml/2006/main">
              <a:ext uri="{FF2B5EF4-FFF2-40B4-BE49-F238E27FC236}">
                <a16:creationId xmlns:a16="http://schemas.microsoft.com/office/drawing/2014/main" id="{0BE6FE2A-8DBD-4C8B-A8FC-B218F8307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1450"/>
            <a:ext cx="176403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</a:rPr>
              <a:t>SIMCAR Digital · &gt; 4 modules · APP vector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C04D7D-272B-49F0-A1E2-8E7ABE281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704850"/>
            <a:ext cx="53340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1500">
                <a:solidFill>
                  <a:srgbClr val="5D716C"/>
                </a:solidFill>
              </a:rPr>
              <a:t>APP extent, vegetation relevant to APP, and pre-/post-2008 liabilities.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BBDE94-F0C1-4F23-9D17-146800000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06680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3F6B"/>
          </a:solidFill>
          <a:ln xmlns:a="http://schemas.openxmlformats.org/drawingml/2006/main" w="0">
            <a:solidFill>
              <a:srgbClr val="EC3F6B"/>
            </a:solidFill>
            <a:prstDash val="solid"/>
          </a:ln>
        </p:spPr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eb7dbdc8ba4b84"/>
          <a:stretch xmlns:a="http://schemas.openxmlformats.org/drawingml/2006/main"/>
        </p:blipFill>
        <p:spPr>
          <a:xfrm xmlns:a="http://schemas.openxmlformats.org/drawingml/2006/main">
            <a:off x="323850" y="3579080"/>
            <a:ext cx="17640300" cy="3909891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1607B2-9534-46A7-8CDF-699BA1DEE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906000"/>
            <a:ext cx="1924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D716C"/>
                </a:solidFill>
              </a:defRPr>
            </a:pPr>
            <a:r>
              <a:rPr sz="750">
                <a:solidFill>
                  <a:srgbClr val="5D716C"/>
                </a:solidFill>
              </a:rPr>
              <a:t>Zero ha = source checked; no intersecting feature.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48F029-0B11-466F-B9EB-2F46CBD25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87900" y="9906000"/>
            <a:ext cx="4762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47D72"/>
                </a:solidFill>
              </a:defRPr>
            </a:pPr>
            <a:r>
              <a:rPr sz="825" b="1">
                <a:solidFill>
                  <a:srgbClr val="147D72"/>
                </a:solidFill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68357531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17">
            <a:extLst xmlns:a="http://schemas.openxmlformats.org/drawingml/2006/main">
              <a:ext uri="{FF2B5EF4-FFF2-40B4-BE49-F238E27FC236}">
                <a16:creationId xmlns:a16="http://schemas.microsoft.com/office/drawing/2014/main" id="{ECE76D07-3B7D-49C1-B593-F9146716C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7200"/>
            <a:ext cx="167259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</a:rPr>
              <a:t>SIMCAR Digital · &gt; 4 modules · calculation chain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B610DF-1FF7-4B4B-9646-4BBE07227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90600"/>
            <a:ext cx="66294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1500">
                <a:solidFill>
                  <a:srgbClr val="5D716C"/>
                </a:solidFill>
              </a:rPr>
              <a:t>Article 68 selects the LR requirement; APP and secondary vegetation remain separate.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DB5B12-29C7-4397-A459-6AB76F732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5255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B8B5"/>
          </a:solidFill>
          <a:ln xmlns:a="http://schemas.openxmlformats.org/drawingml/2006/main" w="0">
            <a:solidFill>
              <a:srgbClr val="11B8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989741-F737-4F4B-B3E9-7D2F4B37F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78867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1200" b="1">
                <a:solidFill>
                  <a:srgbClr val="147D72"/>
                </a:solidFill>
              </a:rPr>
              <a:t>Article 68 requirement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7B8D22-78D5-4BBE-B5C4-E38A1DC8B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019300"/>
            <a:ext cx="788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3D2A87"/>
                </a:solidFill>
              </a:defRPr>
            </a:pPr>
            <a:r>
              <a:rPr sz="1350">
                <a:solidFill>
                  <a:srgbClr val="3D2A87"/>
                </a:solidFill>
              </a:rPr>
              <a:t>IF vegetation 2000 ≥ historical floor → floor; ELSE → Article 12 ceiling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C6DF6E-D4CD-4661-BFDB-E8B63C115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81250"/>
            <a:ext cx="78867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47D72"/>
                </a:solidFill>
              </a:defRPr>
            </a:pPr>
            <a:r>
              <a:rPr sz="1725" b="1">
                <a:solidFill>
                  <a:srgbClr val="147D72"/>
                </a:solidFill>
              </a:rPr>
              <a:t>= 1,223.35 ha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CC6456-0746-4EC5-85CE-098188A93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1733550"/>
            <a:ext cx="78867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1200" b="1">
                <a:solidFill>
                  <a:srgbClr val="147D72"/>
                </a:solidFill>
              </a:rPr>
              <a:t>Legal Reserve deficit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55166C-2794-47E3-B5A4-D37D88544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019300"/>
            <a:ext cx="788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3D2A87"/>
                </a:solidFill>
              </a:defRPr>
            </a:pPr>
            <a:r>
              <a:rPr sz="1350">
                <a:solidFill>
                  <a:srgbClr val="3D2A87"/>
                </a:solidFill>
              </a:rPr>
              <a:t>1,223.35 ha − 162.98 ha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F07526-5FA2-4FE4-8372-E99BB7499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381250"/>
            <a:ext cx="78867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47D72"/>
                </a:solidFill>
              </a:defRPr>
            </a:pPr>
            <a:r>
              <a:rPr sz="1725" b="1">
                <a:solidFill>
                  <a:srgbClr val="147D72"/>
                </a:solidFill>
              </a:rPr>
              <a:t>= 1,060.36 ha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9A5CC6-DCD6-4906-8B1F-3F18867E8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143500"/>
            <a:ext cx="78867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1200" b="1">
                <a:solidFill>
                  <a:srgbClr val="147D72"/>
                </a:solidFill>
              </a:rPr>
              <a:t>LR pathway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795A54-3C39-4BDD-B6C7-3BEF1C7D4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429250"/>
            <a:ext cx="788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3D2A87"/>
                </a:solidFill>
              </a:defRPr>
            </a:pPr>
            <a:r>
              <a:rPr sz="1350">
                <a:solidFill>
                  <a:srgbClr val="3D2A87"/>
                </a:solidFill>
              </a:rPr>
              <a:t>Restore = MIN(post-2008 clearing, LR deficit)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0D43B7-C71A-4674-8629-476CC28D2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772150"/>
            <a:ext cx="78867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47D72"/>
                </a:solidFill>
              </a:defRPr>
            </a:pPr>
            <a:r>
              <a:rPr sz="1725" b="1">
                <a:solidFill>
                  <a:srgbClr val="147D72"/>
                </a:solidFill>
              </a:rPr>
              <a:t>= 0.07 ha restore · 1,060.29 ha compensate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0FDA0B-4CB1-4E80-8C3B-6BEBCF453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5143500"/>
            <a:ext cx="78867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1200" b="1">
                <a:solidFill>
                  <a:srgbClr val="147D72"/>
                </a:solidFill>
              </a:rPr>
              <a:t>APP restoration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B9091F-19BA-49B0-8A6D-A816E54B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5429250"/>
            <a:ext cx="788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3D2A87"/>
                </a:solidFill>
              </a:defRPr>
            </a:pPr>
            <a:r>
              <a:rPr sz="1350">
                <a:solidFill>
                  <a:srgbClr val="3D2A87"/>
                </a:solidFill>
              </a:rPr>
              <a:t>Pre-2008 component after cap + post-2008 APP clearing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CDF0D1-73EA-471F-B973-16C5AE836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5772150"/>
            <a:ext cx="78867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47D72"/>
                </a:solidFill>
              </a:defRPr>
            </a:pPr>
            <a:r>
              <a:rPr sz="1725" b="1">
                <a:solidFill>
                  <a:srgbClr val="147D72"/>
                </a:solidFill>
              </a:rPr>
              <a:t>= 16.44 ha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32F224-E261-4C33-A4B0-467DBD4FC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458200"/>
            <a:ext cx="6877050" cy="619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EC3F6B"/>
                </a:solidFill>
              </a:defRPr>
            </a:pPr>
            <a:r>
              <a:rPr sz="2625" b="1">
                <a:solidFill>
                  <a:srgbClr val="EC3F6B"/>
                </a:solidFill>
              </a:rPr>
              <a:t>BASELINE  1,076.81 ha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9824F9-FA6D-40A1-AE35-FAD6B26E0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8458200"/>
            <a:ext cx="9620250" cy="619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47D72"/>
                </a:solidFill>
              </a:defRPr>
            </a:pPr>
            <a:r>
              <a:rPr sz="2400" b="1">
                <a:solidFill>
                  <a:srgbClr val="147D72"/>
                </a:solidFill>
              </a:rPr>
              <a:t>WITH SECONDARY  929.67 ha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A47D95-8BF8-46B7-AA9B-01F95A348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20250"/>
            <a:ext cx="2362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D716C"/>
                </a:solidFill>
              </a:defRPr>
            </a:pPr>
            <a:r>
              <a:rPr sz="750">
                <a:solidFill>
                  <a:srgbClr val="5D716C"/>
                </a:solidFill>
              </a:rPr>
              <a:t>Source: final GTA-linked Forest Code mega table · 2026-09-30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017924-8DD4-4573-B785-9142910BA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2600" y="9620250"/>
            <a:ext cx="523875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47D72"/>
                </a:solidFill>
              </a:defRPr>
            </a:pPr>
            <a:r>
              <a:rPr sz="825" b="1">
                <a:solidFill>
                  <a:srgbClr val="147D72"/>
                </a:solidFill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636299324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18">
            <a:extLst xmlns:a="http://schemas.openxmlformats.org/drawingml/2006/main">
              <a:ext uri="{FF2B5EF4-FFF2-40B4-BE49-F238E27FC236}">
                <a16:creationId xmlns:a16="http://schemas.microsoft.com/office/drawing/2014/main" id="{33FC16A5-D2D0-444A-B700-70BE1E6A8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173736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</a:rPr>
              <a:t>SIMCAR Digital · ≤ 4 modules · property overview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04F59B-C03B-4274-A27B-4CA092570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62000"/>
            <a:ext cx="474345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1500">
                <a:solidFill>
                  <a:srgbClr val="5D716C"/>
                </a:solidFill>
              </a:rPr>
              <a:t>3.54 fiscal modules · GTA direct supplier · 588 slaughter cattle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FBE7B3-B016-4CD4-A1B5-7BD6B5187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2395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3F6B"/>
          </a:solidFill>
          <a:ln xmlns:a="http://schemas.openxmlformats.org/drawingml/2006/main" w="0">
            <a:solidFill>
              <a:srgbClr val="EC3F6B"/>
            </a:solidFill>
            <a:prstDash val="solid"/>
          </a:ln>
        </p:spPr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d21dd9c4e04237"/>
          <a:stretch xmlns:a="http://schemas.openxmlformats.org/drawingml/2006/main"/>
        </p:blipFill>
        <p:spPr>
          <a:xfrm xmlns:a="http://schemas.openxmlformats.org/drawingml/2006/main">
            <a:off x="2374859" y="1304925"/>
            <a:ext cx="8492890" cy="818197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887E62-F2F1-4862-8498-947013C44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184785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200">
                <a:solidFill>
                  <a:srgbClr val="5D716C"/>
                </a:solidFill>
              </a:rPr>
              <a:t>Property area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FAC805-813F-4A1A-8B9B-4C89FF8C6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182880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2C94C"/>
                </a:solidFill>
              </a:defRPr>
            </a:pPr>
            <a:r>
              <a:rPr sz="1575" b="1">
                <a:solidFill>
                  <a:srgbClr val="F2C94C"/>
                </a:solidFill>
              </a:rPr>
              <a:t>283.08 ha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545437-50A3-4250-A66B-31ADD401C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320040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200">
                <a:solidFill>
                  <a:srgbClr val="5D716C"/>
                </a:solidFill>
              </a:rPr>
              <a:t>Forest formation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13E3E9-BDE4-411A-901E-F67595B8B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320040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2C94C"/>
                </a:solidFill>
              </a:defRPr>
            </a:pPr>
            <a:r>
              <a:rPr sz="1575" b="1">
                <a:solidFill>
                  <a:srgbClr val="F2C94C"/>
                </a:solidFill>
              </a:rPr>
              <a:t>127.12 ha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53A3F1-E606-4259-A221-0812D87EF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457200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200">
                <a:solidFill>
                  <a:srgbClr val="5D716C"/>
                </a:solidFill>
              </a:rPr>
              <a:t>Cerrado formation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500D8B-4176-4109-A5E7-0D4F7850C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455295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2C94C"/>
                </a:solidFill>
              </a:defRPr>
            </a:pPr>
            <a:r>
              <a:rPr sz="1575" b="1">
                <a:solidFill>
                  <a:srgbClr val="F2C94C"/>
                </a:solidFill>
              </a:rPr>
              <a:t>155.96 ha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F4FBC0-308F-4A7A-8FBA-79B0CACE6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594360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200">
                <a:solidFill>
                  <a:srgbClr val="5D716C"/>
                </a:solidFill>
              </a:rPr>
              <a:t>Current native vegetation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F2314E-56AF-46C8-9AFB-022A25CE8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592455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2C94C"/>
                </a:solidFill>
              </a:defRPr>
            </a:pPr>
            <a:r>
              <a:rPr sz="1575" b="1">
                <a:solidFill>
                  <a:srgbClr val="F2C94C"/>
                </a:solidFill>
              </a:rPr>
              <a:t>52.15 ha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F67E89-F9A9-4AD5-A262-0BFBBA094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729615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200">
                <a:solidFill>
                  <a:srgbClr val="5D716C"/>
                </a:solidFill>
              </a:rPr>
              <a:t>Baseline liability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B3CDA2-B902-4575-96CF-0C4FC53EA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729615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2C94C"/>
                </a:solidFill>
              </a:defRPr>
            </a:pPr>
            <a:r>
              <a:rPr sz="1575" b="1">
                <a:solidFill>
                  <a:srgbClr val="F2C94C"/>
                </a:solidFill>
              </a:rPr>
              <a:t>104.30 ha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FF05B1-2094-4317-BE06-CDD06CE03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866775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200">
                <a:solidFill>
                  <a:srgbClr val="5D716C"/>
                </a:solidFill>
              </a:rPr>
              <a:t>With secondary vegetation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28B20D-5EAC-4D43-B9E1-5730EA385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864870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2C94C"/>
                </a:solidFill>
              </a:defRPr>
            </a:pPr>
            <a:r>
              <a:rPr sz="1575" b="1">
                <a:solidFill>
                  <a:srgbClr val="F2C94C"/>
                </a:solidFill>
              </a:rPr>
              <a:t>76.44 ha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2FB145-9673-4444-81B2-BA091BF05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582150"/>
            <a:ext cx="173736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D716C"/>
                </a:solidFill>
              </a:defRPr>
            </a:pPr>
            <a:r>
              <a:rPr sz="750">
                <a:solidFill>
                  <a:srgbClr val="5D716C"/>
                </a:solidFill>
              </a:rPr>
              <a:t>CAR: MT-5102603-D132829CFF784C919A4FA35C7A5F32A5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A3CD83C-44BE-44EB-AE22-9F4CA2643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48850"/>
            <a:ext cx="2362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D716C"/>
                </a:solidFill>
              </a:defRPr>
            </a:pPr>
            <a:r>
              <a:rPr sz="750">
                <a:solidFill>
                  <a:srgbClr val="5D716C"/>
                </a:solidFill>
              </a:rPr>
              <a:t>Source: final GTA-linked Forest Code mega table · 2026-09-30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E1E7C97-0BB4-4CD2-B2F4-82DC512FF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16450" y="9848850"/>
            <a:ext cx="523875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47D72"/>
                </a:solidFill>
              </a:defRPr>
            </a:pPr>
            <a:r>
              <a:rPr sz="825" b="1">
                <a:solidFill>
                  <a:srgbClr val="147D72"/>
                </a:solidFill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410691172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19">
            <a:extLst xmlns:a="http://schemas.openxmlformats.org/drawingml/2006/main">
              <a:ext uri="{FF2B5EF4-FFF2-40B4-BE49-F238E27FC236}">
                <a16:creationId xmlns:a16="http://schemas.microsoft.com/office/drawing/2014/main" id="{9AE45748-AF8B-4D71-87F7-897B28A8F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1450"/>
            <a:ext cx="176403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</a:rPr>
              <a:t>SIMCAR Digital · ≤ 4 modules · Legal Reserve vector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139850-DD19-455A-AE2D-A8A2C6341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704850"/>
            <a:ext cx="47625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1500">
                <a:solidFill>
                  <a:srgbClr val="5D716C"/>
                </a:solidFill>
              </a:rPr>
              <a:t>RADAM, current native vegetation, and secondary vegetation.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D356F7-64DC-4BCB-A426-AA3D8EDA6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06680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B8B5"/>
          </a:solidFill>
          <a:ln xmlns:a="http://schemas.openxmlformats.org/drawingml/2006/main" w="0">
            <a:solidFill>
              <a:srgbClr val="11B8B5"/>
            </a:solidFill>
            <a:prstDash val="solid"/>
          </a:ln>
        </p:spPr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0a6268e01d4cb1"/>
          <a:stretch xmlns:a="http://schemas.openxmlformats.org/drawingml/2006/main"/>
        </p:blipFill>
        <p:spPr>
          <a:xfrm xmlns:a="http://schemas.openxmlformats.org/drawingml/2006/main">
            <a:off x="323850" y="3253353"/>
            <a:ext cx="17640300" cy="4561344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FED8BC-249E-4142-B3D6-656A92B8E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906000"/>
            <a:ext cx="1924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D716C"/>
                </a:solidFill>
              </a:defRPr>
            </a:pPr>
            <a:r>
              <a:rPr sz="750">
                <a:solidFill>
                  <a:srgbClr val="5D716C"/>
                </a:solidFill>
              </a:rPr>
              <a:t>Zero ha = source checked; no intersecting feature.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E88992-72CD-4D5D-80E8-4277DC1C5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87900" y="9906000"/>
            <a:ext cx="4762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47D72"/>
                </a:solidFill>
              </a:defRPr>
            </a:pPr>
            <a:r>
              <a:rPr sz="825" b="1">
                <a:solidFill>
                  <a:srgbClr val="147D72"/>
                </a:solidFill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6573476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20">
            <a:extLst xmlns:a="http://schemas.openxmlformats.org/drawingml/2006/main">
              <a:ext uri="{FF2B5EF4-FFF2-40B4-BE49-F238E27FC236}">
                <a16:creationId xmlns:a16="http://schemas.microsoft.com/office/drawing/2014/main" id="{283A0847-7486-42F6-8898-92484FF83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1450"/>
            <a:ext cx="176403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</a:rPr>
              <a:t>SIMCAR Digital · ≤ 4 modules · Temporal vector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C8EFD3-5FA5-4199-9685-AC9A784AB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704850"/>
            <a:ext cx="48768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1500">
                <a:solidFill>
                  <a:srgbClr val="5D716C"/>
                </a:solidFill>
              </a:rPr>
              <a:t>The 2000 and 2008 cut-offs and post-2008 alternative land use.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8AAE45-8E49-4A92-966A-55180A9FB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06680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3F6B"/>
          </a:solidFill>
          <a:ln xmlns:a="http://schemas.openxmlformats.org/drawingml/2006/main" w="0">
            <a:solidFill>
              <a:srgbClr val="EC3F6B"/>
            </a:solidFill>
            <a:prstDash val="solid"/>
          </a:ln>
        </p:spPr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b36776d7814da8"/>
          <a:stretch xmlns:a="http://schemas.openxmlformats.org/drawingml/2006/main"/>
        </p:blipFill>
        <p:spPr>
          <a:xfrm xmlns:a="http://schemas.openxmlformats.org/drawingml/2006/main">
            <a:off x="323850" y="3321462"/>
            <a:ext cx="17640300" cy="4425126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6D0245-CC18-495D-B5AD-0280E6441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906000"/>
            <a:ext cx="1924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D716C"/>
                </a:solidFill>
              </a:defRPr>
            </a:pPr>
            <a:r>
              <a:rPr sz="750">
                <a:solidFill>
                  <a:srgbClr val="5D716C"/>
                </a:solidFill>
              </a:rPr>
              <a:t>Zero ha = source checked; no intersecting feature.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5B02A6-664F-43B3-B6CB-C1E005734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87900" y="9906000"/>
            <a:ext cx="4762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47D72"/>
                </a:solidFill>
              </a:defRPr>
            </a:pPr>
            <a:r>
              <a:rPr sz="825" b="1">
                <a:solidFill>
                  <a:srgbClr val="147D72"/>
                </a:solidFill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355108617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21">
            <a:extLst xmlns:a="http://schemas.openxmlformats.org/drawingml/2006/main">
              <a:ext uri="{FF2B5EF4-FFF2-40B4-BE49-F238E27FC236}">
                <a16:creationId xmlns:a16="http://schemas.microsoft.com/office/drawing/2014/main" id="{9094C567-AD4E-434C-8D4F-F96A11EDF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1450"/>
            <a:ext cx="176403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</a:rPr>
              <a:t>SIMCAR Digital · ≤ 4 modules · APP vector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2FE201-B495-4444-92C2-674C4211A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704850"/>
            <a:ext cx="53340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1500">
                <a:solidFill>
                  <a:srgbClr val="5D716C"/>
                </a:solidFill>
              </a:rPr>
              <a:t>APP extent, vegetation relevant to APP, and pre-/post-2008 liabilities.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6039D8-17E1-4ACE-BC6C-1C2E1C6B9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06680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B8B5"/>
          </a:solidFill>
          <a:ln xmlns:a="http://schemas.openxmlformats.org/drawingml/2006/main" w="0">
            <a:solidFill>
              <a:srgbClr val="11B8B5"/>
            </a:solidFill>
            <a:prstDash val="solid"/>
          </a:ln>
        </p:spPr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2f66b23b8b4dc3"/>
          <a:stretch xmlns:a="http://schemas.openxmlformats.org/drawingml/2006/main"/>
        </p:blipFill>
        <p:spPr>
          <a:xfrm xmlns:a="http://schemas.openxmlformats.org/drawingml/2006/main">
            <a:off x="323850" y="3553123"/>
            <a:ext cx="17640300" cy="3961803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B81146-D601-466D-B887-FBCC25EEA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906000"/>
            <a:ext cx="1924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D716C"/>
                </a:solidFill>
              </a:defRPr>
            </a:pPr>
            <a:r>
              <a:rPr sz="750">
                <a:solidFill>
                  <a:srgbClr val="5D716C"/>
                </a:solidFill>
              </a:rPr>
              <a:t>Zero ha = source checked; no intersecting feature.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57A109-74D5-47CB-82BA-6ECAE836B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87900" y="9906000"/>
            <a:ext cx="4762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47D72"/>
                </a:solidFill>
              </a:defRPr>
            </a:pPr>
            <a:r>
              <a:rPr sz="825" b="1">
                <a:solidFill>
                  <a:srgbClr val="147D72"/>
                </a:solidFill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236715946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22">
            <a:extLst xmlns:a="http://schemas.openxmlformats.org/drawingml/2006/main">
              <a:ext uri="{FF2B5EF4-FFF2-40B4-BE49-F238E27FC236}">
                <a16:creationId xmlns:a16="http://schemas.microsoft.com/office/drawing/2014/main" id="{D5134A54-FACB-4567-8838-77781C63D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7200"/>
            <a:ext cx="167259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</a:rPr>
              <a:t>SIMCAR Digital · ≤ 4 modules · calculation chain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F08489-9BD9-4DC9-B301-9A635F567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90600"/>
            <a:ext cx="66294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1500">
                <a:solidFill>
                  <a:srgbClr val="5D716C"/>
                </a:solidFill>
              </a:rPr>
              <a:t>Article 67 selects the LR requirement; APP and secondary vegetation remain separate.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9ECDDD-BE97-4B7F-8BE4-81142A6A8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5255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3F6B"/>
          </a:solidFill>
          <a:ln xmlns:a="http://schemas.openxmlformats.org/drawingml/2006/main" w="0">
            <a:solidFill>
              <a:srgbClr val="EC3F6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31257F-3839-47B7-9BF4-BFCB6CDEA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78867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2C94C"/>
                </a:solidFill>
              </a:defRPr>
            </a:pPr>
            <a:r>
              <a:rPr sz="1200" b="1">
                <a:solidFill>
                  <a:srgbClr val="F2C94C"/>
                </a:solidFill>
              </a:rPr>
              <a:t>Article 67 requirement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18D9D5-1A40-41FB-BE81-B83442EEB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019300"/>
            <a:ext cx="788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3D2A87"/>
                </a:solidFill>
              </a:defRPr>
            </a:pPr>
            <a:r>
              <a:rPr sz="1350">
                <a:solidFill>
                  <a:srgbClr val="3D2A87"/>
                </a:solidFill>
              </a:rPr>
              <a:t>MIN(Article 12 ceiling, vegetation in 2008)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D33929-74D4-4502-B9A4-1FE00DE17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81250"/>
            <a:ext cx="78867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2C94C"/>
                </a:solidFill>
              </a:defRPr>
            </a:pPr>
            <a:r>
              <a:rPr sz="1725" b="1">
                <a:solidFill>
                  <a:srgbClr val="F2C94C"/>
                </a:solidFill>
              </a:rPr>
              <a:t>= 154.64 ha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76117D-0A28-4D9D-A3E5-6C21CEA31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1733550"/>
            <a:ext cx="78867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2C94C"/>
                </a:solidFill>
              </a:defRPr>
            </a:pPr>
            <a:r>
              <a:rPr sz="1200" b="1">
                <a:solidFill>
                  <a:srgbClr val="F2C94C"/>
                </a:solidFill>
              </a:rPr>
              <a:t>Legal Reserve deficit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A892CE-44F7-465C-BA96-0D0BB57A7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019300"/>
            <a:ext cx="788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3D2A87"/>
                </a:solidFill>
              </a:defRPr>
            </a:pPr>
            <a:r>
              <a:rPr sz="1350">
                <a:solidFill>
                  <a:srgbClr val="3D2A87"/>
                </a:solidFill>
              </a:rPr>
              <a:t>154.64 ha − 52.15 ha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985C62-F931-4C60-90CD-C896B36B7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381250"/>
            <a:ext cx="78867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2C94C"/>
                </a:solidFill>
              </a:defRPr>
            </a:pPr>
            <a:r>
              <a:rPr sz="1725" b="1">
                <a:solidFill>
                  <a:srgbClr val="F2C94C"/>
                </a:solidFill>
              </a:rPr>
              <a:t>= 102.50 ha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A82A20-687E-4678-98F5-CD25680B6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143500"/>
            <a:ext cx="78867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2C94C"/>
                </a:solidFill>
              </a:defRPr>
            </a:pPr>
            <a:r>
              <a:rPr sz="1200" b="1">
                <a:solidFill>
                  <a:srgbClr val="F2C94C"/>
                </a:solidFill>
              </a:rPr>
              <a:t>LR pathway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1E3A74-F218-437C-A7C0-18C3A8EB2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429250"/>
            <a:ext cx="788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3D2A87"/>
                </a:solidFill>
              </a:defRPr>
            </a:pPr>
            <a:r>
              <a:rPr sz="1350">
                <a:solidFill>
                  <a:srgbClr val="3D2A87"/>
                </a:solidFill>
              </a:rPr>
              <a:t>Restore = MIN(post-2008 clearing, LR deficit)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7C405C-685A-4DF1-A3FC-ACF7706B1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772150"/>
            <a:ext cx="78867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2C94C"/>
                </a:solidFill>
              </a:defRPr>
            </a:pPr>
            <a:r>
              <a:rPr sz="1725" b="1">
                <a:solidFill>
                  <a:srgbClr val="F2C94C"/>
                </a:solidFill>
              </a:rPr>
              <a:t>= 18.96 ha restore · 83.54 ha compensate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906E76-080A-49D1-A2AE-55A8A07BA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5143500"/>
            <a:ext cx="78867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2C94C"/>
                </a:solidFill>
              </a:defRPr>
            </a:pPr>
            <a:r>
              <a:rPr sz="1200" b="1">
                <a:solidFill>
                  <a:srgbClr val="F2C94C"/>
                </a:solidFill>
              </a:rPr>
              <a:t>APP restoration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24A015-41F2-4C82-9A36-E427F428E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5429250"/>
            <a:ext cx="788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3D2A87"/>
                </a:solidFill>
              </a:defRPr>
            </a:pPr>
            <a:r>
              <a:rPr sz="1350">
                <a:solidFill>
                  <a:srgbClr val="3D2A87"/>
                </a:solidFill>
              </a:rPr>
              <a:t>Pre-2008 component after cap + post-2008 APP clearing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BE4903-78A8-4BD9-BEC5-A0EB64B6D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5772150"/>
            <a:ext cx="78867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2C94C"/>
                </a:solidFill>
              </a:defRPr>
            </a:pPr>
            <a:r>
              <a:rPr sz="1725" b="1">
                <a:solidFill>
                  <a:srgbClr val="F2C94C"/>
                </a:solidFill>
              </a:rPr>
              <a:t>= 1.80 ha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9D264C-2A75-438A-AEC3-4AB37E760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458200"/>
            <a:ext cx="6877050" cy="619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EC3F6B"/>
                </a:solidFill>
              </a:defRPr>
            </a:pPr>
            <a:r>
              <a:rPr sz="2625" b="1">
                <a:solidFill>
                  <a:srgbClr val="EC3F6B"/>
                </a:solidFill>
              </a:rPr>
              <a:t>BASELINE  104.30 ha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8C71DF-C734-4794-8960-EF92E3F63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8458200"/>
            <a:ext cx="9620250" cy="619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47D72"/>
                </a:solidFill>
              </a:defRPr>
            </a:pPr>
            <a:r>
              <a:rPr sz="2400" b="1">
                <a:solidFill>
                  <a:srgbClr val="147D72"/>
                </a:solidFill>
              </a:rPr>
              <a:t>WITH SECONDARY  76.44 ha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FAC7CC-D1E5-4353-BC77-76A6016A4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20250"/>
            <a:ext cx="2362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D716C"/>
                </a:solidFill>
              </a:defRPr>
            </a:pPr>
            <a:r>
              <a:rPr sz="750">
                <a:solidFill>
                  <a:srgbClr val="5D716C"/>
                </a:solidFill>
              </a:rPr>
              <a:t>Source: final GTA-linked Forest Code mega table · 2026-09-30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395860-9125-4622-8340-AA37A6BA5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2600" y="9620250"/>
            <a:ext cx="523875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47D72"/>
                </a:solidFill>
              </a:defRPr>
            </a:pPr>
            <a:r>
              <a:rPr sz="825" b="1">
                <a:solidFill>
                  <a:srgbClr val="147D72"/>
                </a:solidFill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912065881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23">
            <a:extLst xmlns:a="http://schemas.openxmlformats.org/drawingml/2006/main">
              <a:ext uri="{FF2B5EF4-FFF2-40B4-BE49-F238E27FC236}">
                <a16:creationId xmlns:a16="http://schemas.microsoft.com/office/drawing/2014/main" id="{24C93263-2B7E-4B7C-AB3E-67206FE05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173736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</a:rPr>
              <a:t>SIMCAR Proxy · &gt; 4 modules · property overview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4DCF15-73D4-4C58-9CBC-E58DE58CA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62000"/>
            <a:ext cx="48387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1500">
                <a:solidFill>
                  <a:srgbClr val="5D716C"/>
                </a:solidFill>
              </a:rPr>
              <a:t>10.51 fiscal modules · GTA direct supplier · 591 slaughter cattle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77175E-5361-49AB-90C5-C11A980FD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2395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B8B5"/>
          </a:solidFill>
          <a:ln xmlns:a="http://schemas.openxmlformats.org/drawingml/2006/main" w="0">
            <a:solidFill>
              <a:srgbClr val="11B8B5"/>
            </a:solidFill>
            <a:prstDash val="solid"/>
          </a:ln>
        </p:spPr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234299cd154418"/>
          <a:stretch xmlns:a="http://schemas.openxmlformats.org/drawingml/2006/main"/>
        </p:blipFill>
        <p:spPr>
          <a:xfrm xmlns:a="http://schemas.openxmlformats.org/drawingml/2006/main">
            <a:off x="2374859" y="1304925"/>
            <a:ext cx="8492890" cy="818197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AEC0AD-1ADA-44CF-8F4D-44FD1E603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184785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200">
                <a:solidFill>
                  <a:srgbClr val="5D716C"/>
                </a:solidFill>
              </a:rPr>
              <a:t>Property area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CFD76D-EAFA-4371-996B-1ADAF1B79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182880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2"/>
                </a:solidFill>
              </a:defRPr>
            </a:pPr>
            <a:r>
              <a:rPr sz="1575" b="1">
                <a:solidFill>
                  <a:srgbClr val="147D72"/>
                </a:solidFill>
              </a:rPr>
              <a:t>839.84 ha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2486C0-D604-4799-9704-58ED8EEBD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320040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200">
                <a:solidFill>
                  <a:srgbClr val="5D716C"/>
                </a:solidFill>
              </a:rPr>
              <a:t>Forest formation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088B37-B9EE-4320-8927-F037B78C0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320040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2"/>
                </a:solidFill>
              </a:defRPr>
            </a:pPr>
            <a:r>
              <a:rPr sz="1575" b="1">
                <a:solidFill>
                  <a:srgbClr val="147D72"/>
                </a:solidFill>
              </a:rPr>
              <a:t>721.30 ha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5E8D10-FBE6-4A2B-AB4D-BE4C58E49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457200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200">
                <a:solidFill>
                  <a:srgbClr val="5D716C"/>
                </a:solidFill>
              </a:rPr>
              <a:t>Cerrado formation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388DEB-E9FC-4CE2-BB48-0C4AD0380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455295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2"/>
                </a:solidFill>
              </a:defRPr>
            </a:pPr>
            <a:r>
              <a:rPr sz="1575" b="1">
                <a:solidFill>
                  <a:srgbClr val="147D72"/>
                </a:solidFill>
              </a:rPr>
              <a:t>118.54 ha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7A45AF-2A9F-4B26-9F4F-245CFD50F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594360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200">
                <a:solidFill>
                  <a:srgbClr val="5D716C"/>
                </a:solidFill>
              </a:rPr>
              <a:t>Current native vegetation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889DC8-28C1-4A46-9026-73B3B30B7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592455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2"/>
                </a:solidFill>
              </a:defRPr>
            </a:pPr>
            <a:r>
              <a:rPr sz="1575" b="1">
                <a:solidFill>
                  <a:srgbClr val="147D72"/>
                </a:solidFill>
              </a:rPr>
              <a:t>277.93 ha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ED3444-8FC6-44C4-AA7E-E4F39C430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729615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200">
                <a:solidFill>
                  <a:srgbClr val="5D716C"/>
                </a:solidFill>
              </a:rPr>
              <a:t>Baseline liability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ED20F9-D4CC-4264-A0E9-AA2934B82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729615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2"/>
                </a:solidFill>
              </a:defRPr>
            </a:pPr>
            <a:r>
              <a:rPr sz="1575" b="1">
                <a:solidFill>
                  <a:srgbClr val="147D72"/>
                </a:solidFill>
              </a:rPr>
              <a:t>138.98 ha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2288EE-4F05-468D-9490-2165A3623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866775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200">
                <a:solidFill>
                  <a:srgbClr val="5D716C"/>
                </a:solidFill>
              </a:rPr>
              <a:t>With secondary vegetation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41A6E3-9AF3-4FCD-A22E-28607D8D9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864870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2"/>
                </a:solidFill>
              </a:defRPr>
            </a:pPr>
            <a:r>
              <a:rPr sz="1575" b="1">
                <a:solidFill>
                  <a:srgbClr val="147D72"/>
                </a:solidFill>
              </a:rPr>
              <a:t>114.19 ha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C92451-EEED-49F4-8A46-A068B494E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582150"/>
            <a:ext cx="173736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D716C"/>
                </a:solidFill>
              </a:defRPr>
            </a:pPr>
            <a:r>
              <a:rPr sz="750">
                <a:solidFill>
                  <a:srgbClr val="5D716C"/>
                </a:solidFill>
              </a:rPr>
              <a:t>CAR: MT-5106828-23ABB407C9334E9F864BC6C07D00148C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54DC8C-6920-479F-9563-7AA15D154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48850"/>
            <a:ext cx="2362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D716C"/>
                </a:solidFill>
              </a:defRPr>
            </a:pPr>
            <a:r>
              <a:rPr sz="750">
                <a:solidFill>
                  <a:srgbClr val="5D716C"/>
                </a:solidFill>
              </a:rPr>
              <a:t>Source: final GTA-linked Forest Code mega table · 2026-09-30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CC0E73-61C5-4E19-8AF3-9ECC99015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16450" y="9848850"/>
            <a:ext cx="523875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47D72"/>
                </a:solidFill>
              </a:defRPr>
            </a:pPr>
            <a:r>
              <a:rPr sz="825" b="1">
                <a:solidFill>
                  <a:srgbClr val="147D72"/>
                </a:solidFill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929003037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24">
            <a:extLst xmlns:a="http://schemas.openxmlformats.org/drawingml/2006/main">
              <a:ext uri="{FF2B5EF4-FFF2-40B4-BE49-F238E27FC236}">
                <a16:creationId xmlns:a16="http://schemas.microsoft.com/office/drawing/2014/main" id="{4BA607CF-0997-4B06-A0AC-BA4106D73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1450"/>
            <a:ext cx="176403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</a:rPr>
              <a:t>SIMCAR Proxy · &gt; 4 modules · Legal Reserve vector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29AD0C-DC73-484D-A269-8D1256099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704850"/>
            <a:ext cx="47625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1500">
                <a:solidFill>
                  <a:srgbClr val="5D716C"/>
                </a:solidFill>
              </a:rPr>
              <a:t>RADAM, current native vegetation, and secondary vegetation.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C3590F-9A7E-4224-8727-5311442EC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06680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3F6B"/>
          </a:solidFill>
          <a:ln xmlns:a="http://schemas.openxmlformats.org/drawingml/2006/main" w="0">
            <a:solidFill>
              <a:srgbClr val="EC3F6B"/>
            </a:solidFill>
            <a:prstDash val="solid"/>
          </a:ln>
        </p:spPr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32d508ac494771"/>
          <a:stretch xmlns:a="http://schemas.openxmlformats.org/drawingml/2006/main"/>
        </p:blipFill>
        <p:spPr>
          <a:xfrm xmlns:a="http://schemas.openxmlformats.org/drawingml/2006/main">
            <a:off x="323850" y="3253353"/>
            <a:ext cx="17640300" cy="4561344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B5253D-C42E-4673-BB37-EEDBAECA8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906000"/>
            <a:ext cx="1924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D716C"/>
                </a:solidFill>
              </a:defRPr>
            </a:pPr>
            <a:r>
              <a:rPr sz="750">
                <a:solidFill>
                  <a:srgbClr val="5D716C"/>
                </a:solidFill>
              </a:rPr>
              <a:t>Zero ha = source checked; no intersecting feature.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ABE0D4-D714-4DF3-B68E-BB7B52710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87900" y="9906000"/>
            <a:ext cx="4762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47D72"/>
                </a:solidFill>
              </a:defRPr>
            </a:pPr>
            <a:r>
              <a:rPr sz="825" b="1">
                <a:solidFill>
                  <a:srgbClr val="147D72"/>
                </a:solidFill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008816372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25">
            <a:extLst xmlns:a="http://schemas.openxmlformats.org/drawingml/2006/main">
              <a:ext uri="{FF2B5EF4-FFF2-40B4-BE49-F238E27FC236}">
                <a16:creationId xmlns:a16="http://schemas.microsoft.com/office/drawing/2014/main" id="{59AE3761-8216-4595-B27D-390955D1B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1450"/>
            <a:ext cx="176403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</a:rPr>
              <a:t>SIMCAR Proxy · &gt; 4 modules · Temporal vector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06B6CC-2F28-4CE4-8B50-C6E8796B6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704850"/>
            <a:ext cx="48768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1500">
                <a:solidFill>
                  <a:srgbClr val="5D716C"/>
                </a:solidFill>
              </a:rPr>
              <a:t>The 2000 and 2008 cut-offs and post-2008 alternative land use.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BC39AB-A851-4138-A806-043437CC5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06680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B8B5"/>
          </a:solidFill>
          <a:ln xmlns:a="http://schemas.openxmlformats.org/drawingml/2006/main" w="0">
            <a:solidFill>
              <a:srgbClr val="11B8B5"/>
            </a:solidFill>
            <a:prstDash val="solid"/>
          </a:ln>
        </p:spPr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b92b1c6ef64442"/>
          <a:stretch xmlns:a="http://schemas.openxmlformats.org/drawingml/2006/main"/>
        </p:blipFill>
        <p:spPr>
          <a:xfrm xmlns:a="http://schemas.openxmlformats.org/drawingml/2006/main">
            <a:off x="323850" y="3321462"/>
            <a:ext cx="17640300" cy="4425126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533B9C-DF35-46A8-8441-EFE0B80E2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906000"/>
            <a:ext cx="1924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D716C"/>
                </a:solidFill>
              </a:defRPr>
            </a:pPr>
            <a:r>
              <a:rPr sz="750">
                <a:solidFill>
                  <a:srgbClr val="5D716C"/>
                </a:solidFill>
              </a:rPr>
              <a:t>Zero ha = source checked; no intersecting feature.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1E4763-0329-4D0B-AEF6-8BB9B30F2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87900" y="9906000"/>
            <a:ext cx="4762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47D72"/>
                </a:solidFill>
              </a:defRPr>
            </a:pPr>
            <a:r>
              <a:rPr sz="825" b="1">
                <a:solidFill>
                  <a:srgbClr val="147D72"/>
                </a:solidFill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378007474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26">
            <a:extLst xmlns:a="http://schemas.openxmlformats.org/drawingml/2006/main">
              <a:ext uri="{FF2B5EF4-FFF2-40B4-BE49-F238E27FC236}">
                <a16:creationId xmlns:a16="http://schemas.microsoft.com/office/drawing/2014/main" id="{A1504DBF-7BA2-4D07-B172-7F204AC7A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1450"/>
            <a:ext cx="176403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</a:rPr>
              <a:t>SIMCAR Proxy · &gt; 4 modules · APP vector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2211A3-1BBC-4544-B70A-BE1145827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704850"/>
            <a:ext cx="53340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1500">
                <a:solidFill>
                  <a:srgbClr val="5D716C"/>
                </a:solidFill>
              </a:rPr>
              <a:t>APP extent, vegetation relevant to APP, and pre-/post-2008 liabilities.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CCD6C4-B902-42F7-8951-496BC9946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06680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3F6B"/>
          </a:solidFill>
          <a:ln xmlns:a="http://schemas.openxmlformats.org/drawingml/2006/main" w="0">
            <a:solidFill>
              <a:srgbClr val="EC3F6B"/>
            </a:solidFill>
            <a:prstDash val="solid"/>
          </a:ln>
        </p:spPr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c3c4d86eaa4a8f"/>
          <a:stretch xmlns:a="http://schemas.openxmlformats.org/drawingml/2006/main"/>
        </p:blipFill>
        <p:spPr>
          <a:xfrm xmlns:a="http://schemas.openxmlformats.org/drawingml/2006/main">
            <a:off x="323850" y="3553123"/>
            <a:ext cx="17640300" cy="3961803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62F5BA-5EC3-4339-9421-9124B32A6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906000"/>
            <a:ext cx="1924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D716C"/>
                </a:solidFill>
              </a:defRPr>
            </a:pPr>
            <a:r>
              <a:rPr sz="750">
                <a:solidFill>
                  <a:srgbClr val="5D716C"/>
                </a:solidFill>
              </a:rPr>
              <a:t>Zero ha = source checked; no intersecting feature.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EE87C9-B4A0-4F8C-917D-E45872A1A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87900" y="9906000"/>
            <a:ext cx="4762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47D72"/>
                </a:solidFill>
              </a:defRPr>
            </a:pPr>
            <a:r>
              <a:rPr sz="825" b="1">
                <a:solidFill>
                  <a:srgbClr val="147D72"/>
                </a:solidFill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85757398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27">
            <a:extLst xmlns:a="http://schemas.openxmlformats.org/drawingml/2006/main">
              <a:ext uri="{FF2B5EF4-FFF2-40B4-BE49-F238E27FC236}">
                <a16:creationId xmlns:a16="http://schemas.microsoft.com/office/drawing/2014/main" id="{69BA6916-5308-41BD-9784-B1B6FFAD9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7200"/>
            <a:ext cx="167259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</a:rPr>
              <a:t>SIMCAR Proxy · &gt; 4 modules · calculation chain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1DD740-58C2-4EEF-B099-5AD2DB5A1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90600"/>
            <a:ext cx="66294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1500">
                <a:solidFill>
                  <a:srgbClr val="5D716C"/>
                </a:solidFill>
              </a:rPr>
              <a:t>Article 68 selects the LR requirement; APP and secondary vegetation remain separate.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A89B0E-C884-4282-9D6B-5A9A45F93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5255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B8B5"/>
          </a:solidFill>
          <a:ln xmlns:a="http://schemas.openxmlformats.org/drawingml/2006/main" w="0">
            <a:solidFill>
              <a:srgbClr val="11B8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50816A-A77D-415B-AF4B-14E415262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78867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1200" b="1">
                <a:solidFill>
                  <a:srgbClr val="147D72"/>
                </a:solidFill>
              </a:rPr>
              <a:t>Article 68 requirement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8CB108-E84F-4113-AEED-ECA972214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019300"/>
            <a:ext cx="788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3D2A87"/>
                </a:solidFill>
              </a:defRPr>
            </a:pPr>
            <a:r>
              <a:rPr sz="1350">
                <a:solidFill>
                  <a:srgbClr val="3D2A87"/>
                </a:solidFill>
              </a:rPr>
              <a:t>IF vegetation 2000 ≥ historical floor → floor; ELSE → Article 12 ceiling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7A19FE-7CEA-4639-86EE-1849F7371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81250"/>
            <a:ext cx="78867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47D72"/>
                </a:solidFill>
              </a:defRPr>
            </a:pPr>
            <a:r>
              <a:rPr sz="1725" b="1">
                <a:solidFill>
                  <a:srgbClr val="147D72"/>
                </a:solidFill>
              </a:rPr>
              <a:t>= 384.36 ha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E5D32B-A07F-4428-9779-53E47894E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1733550"/>
            <a:ext cx="78867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1200" b="1">
                <a:solidFill>
                  <a:srgbClr val="147D72"/>
                </a:solidFill>
              </a:rPr>
              <a:t>Legal Reserve deficit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06AEDA-E16B-4E3E-9DE7-8234D6C3E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019300"/>
            <a:ext cx="788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3D2A87"/>
                </a:solidFill>
              </a:defRPr>
            </a:pPr>
            <a:r>
              <a:rPr sz="1350">
                <a:solidFill>
                  <a:srgbClr val="3D2A87"/>
                </a:solidFill>
              </a:rPr>
              <a:t>384.36 ha − 277.93 ha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DDFF28-8D86-4190-8912-4D531664B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381250"/>
            <a:ext cx="78867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47D72"/>
                </a:solidFill>
              </a:defRPr>
            </a:pPr>
            <a:r>
              <a:rPr sz="1725" b="1">
                <a:solidFill>
                  <a:srgbClr val="147D72"/>
                </a:solidFill>
              </a:rPr>
              <a:t>= 106.43 ha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21A460-9312-4B97-AF74-169E5D3AC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143500"/>
            <a:ext cx="78867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1200" b="1">
                <a:solidFill>
                  <a:srgbClr val="147D72"/>
                </a:solidFill>
              </a:rPr>
              <a:t>LR pathway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C2F82B-FED0-4215-ACB3-5A24A16B3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429250"/>
            <a:ext cx="788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3D2A87"/>
                </a:solidFill>
              </a:defRPr>
            </a:pPr>
            <a:r>
              <a:rPr sz="1350">
                <a:solidFill>
                  <a:srgbClr val="3D2A87"/>
                </a:solidFill>
              </a:rPr>
              <a:t>Restore = MIN(post-2008 clearing, LR deficit)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5D8D33-C2C6-4C4D-A8EB-5F9A405A2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772150"/>
            <a:ext cx="78867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47D72"/>
                </a:solidFill>
              </a:defRPr>
            </a:pPr>
            <a:r>
              <a:rPr sz="1725" b="1">
                <a:solidFill>
                  <a:srgbClr val="147D72"/>
                </a:solidFill>
              </a:rPr>
              <a:t>= 106.43 ha restore · 0.00 ha compensate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45ABDF-A064-45F8-846C-3723EE993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5143500"/>
            <a:ext cx="78867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1200" b="1">
                <a:solidFill>
                  <a:srgbClr val="147D72"/>
                </a:solidFill>
              </a:rPr>
              <a:t>APP restoration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89C6BC-3AE9-4B10-A98B-CB5C2C68B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5429250"/>
            <a:ext cx="788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3D2A87"/>
                </a:solidFill>
              </a:defRPr>
            </a:pPr>
            <a:r>
              <a:rPr sz="1350">
                <a:solidFill>
                  <a:srgbClr val="3D2A87"/>
                </a:solidFill>
              </a:rPr>
              <a:t>Pre-2008 component after cap + post-2008 APP clearing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79DFA5-F606-412D-9A23-E1A23EB39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5772150"/>
            <a:ext cx="78867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47D72"/>
                </a:solidFill>
              </a:defRPr>
            </a:pPr>
            <a:r>
              <a:rPr sz="1725" b="1">
                <a:solidFill>
                  <a:srgbClr val="147D72"/>
                </a:solidFill>
              </a:rPr>
              <a:t>= 32.55 ha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03BBB7-2D60-40BC-B109-0F8A53B30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458200"/>
            <a:ext cx="6877050" cy="619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EC3F6B"/>
                </a:solidFill>
              </a:defRPr>
            </a:pPr>
            <a:r>
              <a:rPr sz="2625" b="1">
                <a:solidFill>
                  <a:srgbClr val="EC3F6B"/>
                </a:solidFill>
              </a:rPr>
              <a:t>BASELINE  138.98 ha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F6C786-4A4F-42C5-A481-048BC7A99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8458200"/>
            <a:ext cx="9620250" cy="619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47D72"/>
                </a:solidFill>
              </a:defRPr>
            </a:pPr>
            <a:r>
              <a:rPr sz="2400" b="1">
                <a:solidFill>
                  <a:srgbClr val="147D72"/>
                </a:solidFill>
              </a:rPr>
              <a:t>WITH SECONDARY  114.19 ha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93C798-B6CD-4E7E-957D-F87F26B98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20250"/>
            <a:ext cx="2362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D716C"/>
                </a:solidFill>
              </a:defRPr>
            </a:pPr>
            <a:r>
              <a:rPr sz="750">
                <a:solidFill>
                  <a:srgbClr val="5D716C"/>
                </a:solidFill>
              </a:rPr>
              <a:t>Source: final GTA-linked Forest Code mega table · 2026-09-30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147150-B9A9-4ABE-A61B-298896597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2600" y="9620250"/>
            <a:ext cx="523875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47D72"/>
                </a:solidFill>
              </a:defRPr>
            </a:pPr>
            <a:r>
              <a:rPr sz="825" b="1">
                <a:solidFill>
                  <a:srgbClr val="147D72"/>
                </a:solidFill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409852318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28">
            <a:extLst xmlns:a="http://schemas.openxmlformats.org/drawingml/2006/main">
              <a:ext uri="{FF2B5EF4-FFF2-40B4-BE49-F238E27FC236}">
                <a16:creationId xmlns:a16="http://schemas.microsoft.com/office/drawing/2014/main" id="{80C8CA64-AD6B-442E-AD4E-DB3C20C0F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173736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</a:rPr>
              <a:t>SIMCAR Proxy · ≤ 4 modules · property overview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D4935E-ECD7-4F91-B22F-2FAC46EF3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62000"/>
            <a:ext cx="474345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1500">
                <a:solidFill>
                  <a:srgbClr val="5D716C"/>
                </a:solidFill>
              </a:rPr>
              <a:t>1.87 fiscal modules · GTA direct supplier · 121 slaughter cattle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4EBD8A-708F-4004-A86E-944CC1A60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2395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3F6B"/>
          </a:solidFill>
          <a:ln xmlns:a="http://schemas.openxmlformats.org/drawingml/2006/main" w="0">
            <a:solidFill>
              <a:srgbClr val="EC3F6B"/>
            </a:solidFill>
            <a:prstDash val="solid"/>
          </a:ln>
        </p:spPr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6c55cf328f4b1b"/>
          <a:stretch xmlns:a="http://schemas.openxmlformats.org/drawingml/2006/main"/>
        </p:blipFill>
        <p:spPr>
          <a:xfrm xmlns:a="http://schemas.openxmlformats.org/drawingml/2006/main">
            <a:off x="1873050" y="1304925"/>
            <a:ext cx="9496508" cy="818197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AD4F9A-65E9-46B1-894C-AFD6EAB21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184785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200">
                <a:solidFill>
                  <a:srgbClr val="5D716C"/>
                </a:solidFill>
              </a:rPr>
              <a:t>Property area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CCD452-A8B0-4059-B6D5-7C747DD09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182880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2C94C"/>
                </a:solidFill>
              </a:defRPr>
            </a:pPr>
            <a:r>
              <a:rPr sz="1575" b="1">
                <a:solidFill>
                  <a:srgbClr val="F2C94C"/>
                </a:solidFill>
              </a:rPr>
              <a:t>186.59 ha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E4D69D-21E6-4F54-9960-BF9E0804C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320040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200">
                <a:solidFill>
                  <a:srgbClr val="5D716C"/>
                </a:solidFill>
              </a:rPr>
              <a:t>Forest formation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7C7845-B734-4D85-8914-1B4CDECAB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320040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2C94C"/>
                </a:solidFill>
              </a:defRPr>
            </a:pPr>
            <a:r>
              <a:rPr sz="1575" b="1">
                <a:solidFill>
                  <a:srgbClr val="F2C94C"/>
                </a:solidFill>
              </a:rPr>
              <a:t>183.31 ha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82F8CD-39EE-4280-BA41-B36876DE1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457200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200">
                <a:solidFill>
                  <a:srgbClr val="5D716C"/>
                </a:solidFill>
              </a:rPr>
              <a:t>Cerrado formation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33A5B1-BD44-4AB7-B8E3-79F3952C0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455295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2C94C"/>
                </a:solidFill>
              </a:defRPr>
            </a:pPr>
            <a:r>
              <a:rPr sz="1575" b="1">
                <a:solidFill>
                  <a:srgbClr val="F2C94C"/>
                </a:solidFill>
              </a:rPr>
              <a:t>3.28 ha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8C2BE1-0294-4935-AF14-1D2EDB3AB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594360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200">
                <a:solidFill>
                  <a:srgbClr val="5D716C"/>
                </a:solidFill>
              </a:rPr>
              <a:t>Current native vegetation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23C46C-4F0D-4141-8254-C737B0450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592455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2C94C"/>
                </a:solidFill>
              </a:defRPr>
            </a:pPr>
            <a:r>
              <a:rPr sz="1575" b="1">
                <a:solidFill>
                  <a:srgbClr val="F2C94C"/>
                </a:solidFill>
              </a:rPr>
              <a:t>43.83 ha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CB3A22-31A1-4D10-AF05-8BAEC3C93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729615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200">
                <a:solidFill>
                  <a:srgbClr val="5D716C"/>
                </a:solidFill>
              </a:rPr>
              <a:t>Baseline liability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6D36FB-8C58-4AE1-907E-A8904F518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729615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2C94C"/>
                </a:solidFill>
              </a:defRPr>
            </a:pPr>
            <a:r>
              <a:rPr sz="1575" b="1">
                <a:solidFill>
                  <a:srgbClr val="F2C94C"/>
                </a:solidFill>
              </a:rPr>
              <a:t>122.74 ha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A7F47E-5385-4464-B393-55E02C9EE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866775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200">
                <a:solidFill>
                  <a:srgbClr val="5D716C"/>
                </a:solidFill>
              </a:rPr>
              <a:t>With secondary vegetation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CAB555-8A74-4A18-9B8F-FE22BC234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864870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2C94C"/>
                </a:solidFill>
              </a:defRPr>
            </a:pPr>
            <a:r>
              <a:rPr sz="1575" b="1">
                <a:solidFill>
                  <a:srgbClr val="F2C94C"/>
                </a:solidFill>
              </a:rPr>
              <a:t>107.65 ha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9F21BA-7F5E-4116-9370-4751EC814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582150"/>
            <a:ext cx="173736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D716C"/>
                </a:solidFill>
              </a:defRPr>
            </a:pPr>
            <a:r>
              <a:rPr sz="750">
                <a:solidFill>
                  <a:srgbClr val="5D716C"/>
                </a:solidFill>
              </a:rPr>
              <a:t>CAR: MT-5103304-CDD5B177BF43405FA86B66729E82F424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C1E893-AC48-4049-BED3-5956346AB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48850"/>
            <a:ext cx="2362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D716C"/>
                </a:solidFill>
              </a:defRPr>
            </a:pPr>
            <a:r>
              <a:rPr sz="750">
                <a:solidFill>
                  <a:srgbClr val="5D716C"/>
                </a:solidFill>
              </a:rPr>
              <a:t>Source: final GTA-linked Forest Code mega table · 2026-09-30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6F7F21-9D14-4618-BECA-3C3825A21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16450" y="9848850"/>
            <a:ext cx="523875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47D72"/>
                </a:solidFill>
              </a:defRPr>
            </a:pPr>
            <a:r>
              <a:rPr sz="825" b="1">
                <a:solidFill>
                  <a:srgbClr val="147D72"/>
                </a:solidFill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243990446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29">
            <a:extLst xmlns:a="http://schemas.openxmlformats.org/drawingml/2006/main">
              <a:ext uri="{FF2B5EF4-FFF2-40B4-BE49-F238E27FC236}">
                <a16:creationId xmlns:a16="http://schemas.microsoft.com/office/drawing/2014/main" id="{1F72510B-8F72-4A9F-9702-61D35E890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1450"/>
            <a:ext cx="176403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</a:rPr>
              <a:t>SIMCAR Proxy · ≤ 4 modules · Legal Reserve vector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309A19-79EA-4069-9F89-D3404DC45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704850"/>
            <a:ext cx="47625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1500">
                <a:solidFill>
                  <a:srgbClr val="5D716C"/>
                </a:solidFill>
              </a:rPr>
              <a:t>RADAM, current native vegetation, and secondary vegetation.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4484B7-4266-4DC2-B92F-A161E612B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06680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B8B5"/>
          </a:solidFill>
          <a:ln xmlns:a="http://schemas.openxmlformats.org/drawingml/2006/main" w="0">
            <a:solidFill>
              <a:srgbClr val="11B8B5"/>
            </a:solidFill>
            <a:prstDash val="solid"/>
          </a:ln>
        </p:spPr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bc30e8f5534947"/>
          <a:stretch xmlns:a="http://schemas.openxmlformats.org/drawingml/2006/main"/>
        </p:blipFill>
        <p:spPr>
          <a:xfrm xmlns:a="http://schemas.openxmlformats.org/drawingml/2006/main">
            <a:off x="323850" y="3311480"/>
            <a:ext cx="17640300" cy="444509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424CD2-D52F-4D2B-AF25-7CC52BF7B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906000"/>
            <a:ext cx="1924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D716C"/>
                </a:solidFill>
              </a:defRPr>
            </a:pPr>
            <a:r>
              <a:rPr sz="750">
                <a:solidFill>
                  <a:srgbClr val="5D716C"/>
                </a:solidFill>
              </a:rPr>
              <a:t>Zero ha = source checked; no intersecting feature.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ED1ED4-25E6-4A34-A515-B43933C30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87900" y="9906000"/>
            <a:ext cx="4762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47D72"/>
                </a:solidFill>
              </a:defRPr>
            </a:pPr>
            <a:r>
              <a:rPr sz="825" b="1">
                <a:solidFill>
                  <a:srgbClr val="147D72"/>
                </a:solidFill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116593833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30">
            <a:extLst xmlns:a="http://schemas.openxmlformats.org/drawingml/2006/main">
              <a:ext uri="{FF2B5EF4-FFF2-40B4-BE49-F238E27FC236}">
                <a16:creationId xmlns:a16="http://schemas.microsoft.com/office/drawing/2014/main" id="{178125D8-C3F0-44BD-A879-E39DE2F09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1450"/>
            <a:ext cx="176403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</a:rPr>
              <a:t>SIMCAR Proxy · ≤ 4 modules · Temporal vector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66253B-ACF8-40F0-99C4-073EC443B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704850"/>
            <a:ext cx="48768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1500">
                <a:solidFill>
                  <a:srgbClr val="5D716C"/>
                </a:solidFill>
              </a:rPr>
              <a:t>The 2000 and 2008 cut-offs and post-2008 alternative land use.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F43D92-1D2F-4CE5-A198-40645BDF7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06680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3F6B"/>
          </a:solidFill>
          <a:ln xmlns:a="http://schemas.openxmlformats.org/drawingml/2006/main" w="0">
            <a:solidFill>
              <a:srgbClr val="EC3F6B"/>
            </a:solidFill>
            <a:prstDash val="solid"/>
          </a:ln>
        </p:spPr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5e7dda1467456e"/>
          <a:stretch xmlns:a="http://schemas.openxmlformats.org/drawingml/2006/main"/>
        </p:blipFill>
        <p:spPr>
          <a:xfrm xmlns:a="http://schemas.openxmlformats.org/drawingml/2006/main">
            <a:off x="323850" y="3311480"/>
            <a:ext cx="17640300" cy="444509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FF1ADC-19EC-4BF8-AD2A-2C4274E6D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906000"/>
            <a:ext cx="1924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D716C"/>
                </a:solidFill>
              </a:defRPr>
            </a:pPr>
            <a:r>
              <a:rPr sz="750">
                <a:solidFill>
                  <a:srgbClr val="5D716C"/>
                </a:solidFill>
              </a:rPr>
              <a:t>Zero ha = source checked; no intersecting feature.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662A86-CCDC-407E-A159-2C1A331A9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87900" y="9906000"/>
            <a:ext cx="4762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47D72"/>
                </a:solidFill>
              </a:defRPr>
            </a:pPr>
            <a:r>
              <a:rPr sz="825" b="1">
                <a:solidFill>
                  <a:srgbClr val="147D72"/>
                </a:solidFill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1757076552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31">
            <a:extLst xmlns:a="http://schemas.openxmlformats.org/drawingml/2006/main">
              <a:ext uri="{FF2B5EF4-FFF2-40B4-BE49-F238E27FC236}">
                <a16:creationId xmlns:a16="http://schemas.microsoft.com/office/drawing/2014/main" id="{9A28389A-7DAD-47DA-9EF5-21A2D2FBB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1450"/>
            <a:ext cx="176403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</a:rPr>
              <a:t>SIMCAR Proxy · ≤ 4 modules · APP vector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E392CA-2DED-43BD-BBE5-69FD7D8BC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704850"/>
            <a:ext cx="53340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1500">
                <a:solidFill>
                  <a:srgbClr val="5D716C"/>
                </a:solidFill>
              </a:rPr>
              <a:t>APP extent, vegetation relevant to APP, and pre-/post-2008 liabilities.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B26DD0-4E5B-4996-8A49-A08F5E404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06680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B8B5"/>
          </a:solidFill>
          <a:ln xmlns:a="http://schemas.openxmlformats.org/drawingml/2006/main" w="0">
            <a:solidFill>
              <a:srgbClr val="11B8B5"/>
            </a:solidFill>
            <a:prstDash val="solid"/>
          </a:ln>
        </p:spPr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936d148c9745af"/>
          <a:stretch xmlns:a="http://schemas.openxmlformats.org/drawingml/2006/main"/>
        </p:blipFill>
        <p:spPr>
          <a:xfrm xmlns:a="http://schemas.openxmlformats.org/drawingml/2006/main">
            <a:off x="323850" y="3376502"/>
            <a:ext cx="17640300" cy="431504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A4888D-E801-4BB2-A7CB-934E854DA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906000"/>
            <a:ext cx="1924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D716C"/>
                </a:solidFill>
              </a:defRPr>
            </a:pPr>
            <a:r>
              <a:rPr sz="750">
                <a:solidFill>
                  <a:srgbClr val="5D716C"/>
                </a:solidFill>
              </a:rPr>
              <a:t>Zero ha = source checked; no intersecting feature.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E6E20C-D824-4D34-8B79-EE23C3D62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87900" y="9906000"/>
            <a:ext cx="4762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47D72"/>
                </a:solidFill>
              </a:defRPr>
            </a:pPr>
            <a:r>
              <a:rPr sz="825" b="1">
                <a:solidFill>
                  <a:srgbClr val="147D72"/>
                </a:solidFill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187117389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32">
            <a:extLst xmlns:a="http://schemas.openxmlformats.org/drawingml/2006/main">
              <a:ext uri="{FF2B5EF4-FFF2-40B4-BE49-F238E27FC236}">
                <a16:creationId xmlns:a16="http://schemas.microsoft.com/office/drawing/2014/main" id="{CEFA142B-3615-4A7D-A2BB-5CE0C2E4A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7200"/>
            <a:ext cx="167259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</a:rPr>
              <a:t>SIMCAR Proxy · ≤ 4 modules · calculation chain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347163-67D8-47FE-92D3-F34CEE1FC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90600"/>
            <a:ext cx="66294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1500">
                <a:solidFill>
                  <a:srgbClr val="5D716C"/>
                </a:solidFill>
              </a:rPr>
              <a:t>Article 67 selects the LR requirement; APP and secondary vegetation remain separate.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BB1C53-D2D4-48CE-81EB-E83BF609F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5255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3F6B"/>
          </a:solidFill>
          <a:ln xmlns:a="http://schemas.openxmlformats.org/drawingml/2006/main" w="0">
            <a:solidFill>
              <a:srgbClr val="EC3F6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461DFB-F492-4065-9265-B19DA4FFA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78867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2C94C"/>
                </a:solidFill>
              </a:defRPr>
            </a:pPr>
            <a:r>
              <a:rPr sz="1200" b="1">
                <a:solidFill>
                  <a:srgbClr val="F2C94C"/>
                </a:solidFill>
              </a:rPr>
              <a:t>Article 67 requirement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C61410-E967-4E96-A3AD-397B38F7B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019300"/>
            <a:ext cx="788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3D2A87"/>
                </a:solidFill>
              </a:defRPr>
            </a:pPr>
            <a:r>
              <a:rPr sz="1350">
                <a:solidFill>
                  <a:srgbClr val="3D2A87"/>
                </a:solidFill>
              </a:rPr>
              <a:t>MIN(Article 12 ceiling, vegetation in 2008)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083CD6-0D33-4836-83A8-7F64143A5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81250"/>
            <a:ext cx="78867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2C94C"/>
                </a:solidFill>
              </a:defRPr>
            </a:pPr>
            <a:r>
              <a:rPr sz="1725" b="1">
                <a:solidFill>
                  <a:srgbClr val="F2C94C"/>
                </a:solidFill>
              </a:rPr>
              <a:t>= 147.79 ha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75E4A0-80F8-4A9A-A782-3E5B8F276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1733550"/>
            <a:ext cx="78867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2C94C"/>
                </a:solidFill>
              </a:defRPr>
            </a:pPr>
            <a:r>
              <a:rPr sz="1200" b="1">
                <a:solidFill>
                  <a:srgbClr val="F2C94C"/>
                </a:solidFill>
              </a:rPr>
              <a:t>Legal Reserve deficit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B4240F-D12E-46EB-BB1C-B0414D15E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019300"/>
            <a:ext cx="788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3D2A87"/>
                </a:solidFill>
              </a:defRPr>
            </a:pPr>
            <a:r>
              <a:rPr sz="1350">
                <a:solidFill>
                  <a:srgbClr val="3D2A87"/>
                </a:solidFill>
              </a:rPr>
              <a:t>147.79 ha − 43.83 ha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6CE01D-6951-406D-A3BA-B2A19E8EB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381250"/>
            <a:ext cx="78867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2C94C"/>
                </a:solidFill>
              </a:defRPr>
            </a:pPr>
            <a:r>
              <a:rPr sz="1725" b="1">
                <a:solidFill>
                  <a:srgbClr val="F2C94C"/>
                </a:solidFill>
              </a:rPr>
              <a:t>= 103.96 ha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CEC2EB-D483-45B3-B28A-47E94D488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143500"/>
            <a:ext cx="78867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2C94C"/>
                </a:solidFill>
              </a:defRPr>
            </a:pPr>
            <a:r>
              <a:rPr sz="1200" b="1">
                <a:solidFill>
                  <a:srgbClr val="F2C94C"/>
                </a:solidFill>
              </a:rPr>
              <a:t>LR pathway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98F3BD-40C2-49B8-8E3E-CE49DBCFA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429250"/>
            <a:ext cx="788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3D2A87"/>
                </a:solidFill>
              </a:defRPr>
            </a:pPr>
            <a:r>
              <a:rPr sz="1350">
                <a:solidFill>
                  <a:srgbClr val="3D2A87"/>
                </a:solidFill>
              </a:rPr>
              <a:t>Restore = MIN(post-2008 clearing, LR deficit)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52C42F-D99F-4313-BC40-EF826AFEC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772150"/>
            <a:ext cx="78867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2C94C"/>
                </a:solidFill>
              </a:defRPr>
            </a:pPr>
            <a:r>
              <a:rPr sz="1725" b="1">
                <a:solidFill>
                  <a:srgbClr val="F2C94C"/>
                </a:solidFill>
              </a:rPr>
              <a:t>= 103.96 ha restore · 0.00 ha compensate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A8859D-FD23-4DCE-A4A2-C0365090D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5143500"/>
            <a:ext cx="78867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2C94C"/>
                </a:solidFill>
              </a:defRPr>
            </a:pPr>
            <a:r>
              <a:rPr sz="1200" b="1">
                <a:solidFill>
                  <a:srgbClr val="F2C94C"/>
                </a:solidFill>
              </a:rPr>
              <a:t>APP restoration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102445-2EED-4720-B564-6BA72D825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5429250"/>
            <a:ext cx="788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3D2A87"/>
                </a:solidFill>
              </a:defRPr>
            </a:pPr>
            <a:r>
              <a:rPr sz="1350">
                <a:solidFill>
                  <a:srgbClr val="3D2A87"/>
                </a:solidFill>
              </a:rPr>
              <a:t>Pre-2008 component after cap + post-2008 APP clearing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6C9FC0-808A-4E0E-8CD6-D581E8242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5772150"/>
            <a:ext cx="78867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2C94C"/>
                </a:solidFill>
              </a:defRPr>
            </a:pPr>
            <a:r>
              <a:rPr sz="1725" b="1">
                <a:solidFill>
                  <a:srgbClr val="F2C94C"/>
                </a:solidFill>
              </a:rPr>
              <a:t>= 18.78 ha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855832-A2FD-4C5D-8357-2DB06B184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458200"/>
            <a:ext cx="6877050" cy="619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EC3F6B"/>
                </a:solidFill>
              </a:defRPr>
            </a:pPr>
            <a:r>
              <a:rPr sz="2625" b="1">
                <a:solidFill>
                  <a:srgbClr val="EC3F6B"/>
                </a:solidFill>
              </a:rPr>
              <a:t>BASELINE  122.74 ha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B9DD7A-DC50-4A3D-B0A8-8C84BA257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8458200"/>
            <a:ext cx="9620250" cy="619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47D72"/>
                </a:solidFill>
              </a:defRPr>
            </a:pPr>
            <a:r>
              <a:rPr sz="2400" b="1">
                <a:solidFill>
                  <a:srgbClr val="147D72"/>
                </a:solidFill>
              </a:rPr>
              <a:t>WITH SECONDARY  107.65 ha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F78AB0B-3C13-462B-9689-784CC01AE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20250"/>
            <a:ext cx="2362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D716C"/>
                </a:solidFill>
              </a:defRPr>
            </a:pPr>
            <a:r>
              <a:rPr sz="750">
                <a:solidFill>
                  <a:srgbClr val="5D716C"/>
                </a:solidFill>
              </a:rPr>
              <a:t>Source: final GTA-linked Forest Code mega table · 2026-09-30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2212A8-6DF7-486E-9D4F-B31FCA5B7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2600" y="9620250"/>
            <a:ext cx="523875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47D72"/>
                </a:solidFill>
              </a:defRPr>
            </a:pPr>
            <a:r>
              <a:rPr sz="825" b="1">
                <a:solidFill>
                  <a:srgbClr val="147D72"/>
                </a:solidFill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1213689758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33">
            <a:extLst xmlns:a="http://schemas.openxmlformats.org/drawingml/2006/main">
              <a:ext uri="{FF2B5EF4-FFF2-40B4-BE49-F238E27FC236}">
                <a16:creationId xmlns:a16="http://schemas.microsoft.com/office/drawing/2014/main" id="{32744222-1CFB-4720-812D-C10262128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7200"/>
            <a:ext cx="167259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</a:rPr>
              <a:t>What the six examples make visible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F9053B-7C42-4B61-A595-14CE1D460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90600"/>
            <a:ext cx="56769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1500">
                <a:solidFill>
                  <a:srgbClr val="5D716C"/>
                </a:solidFill>
              </a:rPr>
              <a:t>Source-specific vector inputs feed the same legal calculation architecture.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1164A5-0545-4A30-AAAF-515320890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5255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B8B5"/>
          </a:solidFill>
          <a:ln xmlns:a="http://schemas.openxmlformats.org/drawingml/2006/main" w="0">
            <a:solidFill>
              <a:srgbClr val="11B8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E2C342-900C-44BF-9140-AC0169C0F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52650"/>
            <a:ext cx="2952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200">
                <a:solidFill>
                  <a:srgbClr val="5D716C"/>
                </a:solidFill>
              </a:rPr>
              <a:t>&gt; 4 modules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A9D2EE-3D9C-4D91-8BB4-1E58C3D11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152650"/>
            <a:ext cx="2190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2"/>
                </a:solidFill>
              </a:defRPr>
            </a:pPr>
            <a:r>
              <a:rPr sz="1575" b="1">
                <a:solidFill>
                  <a:srgbClr val="147D72"/>
                </a:solidFill>
              </a:rPr>
              <a:t>MT-5107602-4838366C…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6D257D-2139-4AF2-9537-E76AB7D6B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448050"/>
            <a:ext cx="2952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200">
                <a:solidFill>
                  <a:srgbClr val="5D716C"/>
                </a:solidFill>
              </a:rPr>
              <a:t>Baseline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1656CB-86C0-4690-8140-8FAB40345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448050"/>
            <a:ext cx="2190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2"/>
                </a:solidFill>
              </a:defRPr>
            </a:pPr>
            <a:r>
              <a:rPr sz="1575" b="1">
                <a:solidFill>
                  <a:srgbClr val="147D72"/>
                </a:solidFill>
              </a:rPr>
              <a:t>395.23 ha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B1AB0B-A2E0-4F68-A873-B3AA2A4D0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743450"/>
            <a:ext cx="2952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200">
                <a:solidFill>
                  <a:srgbClr val="5D716C"/>
                </a:solidFill>
              </a:rPr>
              <a:t>With secondary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DE62C6-ED76-45C9-85D0-1F9558BA3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4743450"/>
            <a:ext cx="2190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2"/>
                </a:solidFill>
              </a:defRPr>
            </a:pPr>
            <a:r>
              <a:rPr sz="1575" b="1">
                <a:solidFill>
                  <a:srgbClr val="147D72"/>
                </a:solidFill>
              </a:rPr>
              <a:t>301.01 ha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BF8775-6387-4C79-AD05-C626ED630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6038850"/>
            <a:ext cx="2952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200">
                <a:solidFill>
                  <a:srgbClr val="5D716C"/>
                </a:solidFill>
              </a:rPr>
              <a:t>≤ 4 modules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ECAAC8-E559-47D7-9356-C8D95FEBB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6019800"/>
            <a:ext cx="2190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2"/>
                </a:solidFill>
              </a:defRPr>
            </a:pPr>
            <a:r>
              <a:rPr sz="1575" b="1">
                <a:solidFill>
                  <a:srgbClr val="147D72"/>
                </a:solidFill>
              </a:rPr>
              <a:t>MT-5106257-60F736EB…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99EBAB-DF4C-40B7-9F4B-CC82BC7E2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7334250"/>
            <a:ext cx="2952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200">
                <a:solidFill>
                  <a:srgbClr val="5D716C"/>
                </a:solidFill>
              </a:rPr>
              <a:t>Baseline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DFC384-75B7-4BDF-B1C7-C7352154E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7315200"/>
            <a:ext cx="2190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2"/>
                </a:solidFill>
              </a:defRPr>
            </a:pPr>
            <a:r>
              <a:rPr sz="1575" b="1">
                <a:solidFill>
                  <a:srgbClr val="147D72"/>
                </a:solidFill>
              </a:rPr>
              <a:t>66.59 ha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811885-2335-4948-9AEC-87651F387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8629650"/>
            <a:ext cx="2952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200">
                <a:solidFill>
                  <a:srgbClr val="5D716C"/>
                </a:solidFill>
              </a:rPr>
              <a:t>With secondary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7EC223-F97A-4F71-9EE3-42DC52742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8610600"/>
            <a:ext cx="2190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2"/>
                </a:solidFill>
              </a:defRPr>
            </a:pPr>
            <a:r>
              <a:rPr sz="1575" b="1">
                <a:solidFill>
                  <a:srgbClr val="147D72"/>
                </a:solidFill>
              </a:rPr>
              <a:t>65.19 ha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45EC88-78F9-47B3-822A-59C848831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52650"/>
            <a:ext cx="2952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200">
                <a:solidFill>
                  <a:srgbClr val="5D716C"/>
                </a:solidFill>
              </a:rPr>
              <a:t>&gt; 4 modules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6E5207-D46B-4957-8E41-3124F8AE9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152650"/>
            <a:ext cx="2190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2"/>
                </a:solidFill>
              </a:defRPr>
            </a:pPr>
            <a:r>
              <a:rPr sz="1575" b="1">
                <a:solidFill>
                  <a:srgbClr val="147D72"/>
                </a:solidFill>
              </a:rPr>
              <a:t>MT-5107750-3D69A53C…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C52C6C-9DA0-4F6B-9087-950AFF4A5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448050"/>
            <a:ext cx="2952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200">
                <a:solidFill>
                  <a:srgbClr val="5D716C"/>
                </a:solidFill>
              </a:rPr>
              <a:t>Baseline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ABDDA4-C055-4C2A-ADEF-FF97F37BC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448050"/>
            <a:ext cx="2190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2"/>
                </a:solidFill>
              </a:defRPr>
            </a:pPr>
            <a:r>
              <a:rPr sz="1575" b="1">
                <a:solidFill>
                  <a:srgbClr val="147D72"/>
                </a:solidFill>
              </a:rPr>
              <a:t>1,076.81 ha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D8DE36-F351-4D18-8247-DD7F17667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743450"/>
            <a:ext cx="2952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200">
                <a:solidFill>
                  <a:srgbClr val="5D716C"/>
                </a:solidFill>
              </a:rPr>
              <a:t>With secondary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07EDC14-B386-47AA-9718-C8A961D99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743450"/>
            <a:ext cx="2190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2"/>
                </a:solidFill>
              </a:defRPr>
            </a:pPr>
            <a:r>
              <a:rPr sz="1575" b="1">
                <a:solidFill>
                  <a:srgbClr val="147D72"/>
                </a:solidFill>
              </a:rPr>
              <a:t>929.67 ha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41DC8BA-2DD5-433A-BFBB-097C5EC75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038850"/>
            <a:ext cx="2952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200">
                <a:solidFill>
                  <a:srgbClr val="5D716C"/>
                </a:solidFill>
              </a:rPr>
              <a:t>≤ 4 modules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1864C10-B040-4B28-9156-5FC5052AF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019800"/>
            <a:ext cx="2190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2"/>
                </a:solidFill>
              </a:defRPr>
            </a:pPr>
            <a:r>
              <a:rPr sz="1575" b="1">
                <a:solidFill>
                  <a:srgbClr val="147D72"/>
                </a:solidFill>
              </a:rPr>
              <a:t>MT-5102603-D132829C…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F2289C3-C45D-4CF8-86AF-DDB6DEFD1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7334250"/>
            <a:ext cx="2952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200">
                <a:solidFill>
                  <a:srgbClr val="5D716C"/>
                </a:solidFill>
              </a:rPr>
              <a:t>Baseline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62CB270-A161-4AAD-8D99-6C5DF39AA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7315200"/>
            <a:ext cx="2190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2"/>
                </a:solidFill>
              </a:defRPr>
            </a:pPr>
            <a:r>
              <a:rPr sz="1575" b="1">
                <a:solidFill>
                  <a:srgbClr val="147D72"/>
                </a:solidFill>
              </a:rPr>
              <a:t>104.30 ha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4CCF5E3-D3CC-47AD-A108-42815DF3E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8629650"/>
            <a:ext cx="2952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200">
                <a:solidFill>
                  <a:srgbClr val="5D716C"/>
                </a:solidFill>
              </a:rPr>
              <a:t>With secondary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1003C33-157B-43B8-82B8-67F63F105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8610600"/>
            <a:ext cx="2190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2"/>
                </a:solidFill>
              </a:defRPr>
            </a:pPr>
            <a:r>
              <a:rPr sz="1575" b="1">
                <a:solidFill>
                  <a:srgbClr val="147D72"/>
                </a:solidFill>
              </a:rPr>
              <a:t>76.44 ha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089D412-5C18-416C-9582-F6B6B465E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0100" y="2152650"/>
            <a:ext cx="2952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200">
                <a:solidFill>
                  <a:srgbClr val="5D716C"/>
                </a:solidFill>
              </a:rPr>
              <a:t>&gt; 4 modules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91F29A0-8FB8-41C7-B3B6-92B67BDB5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63800" y="2152650"/>
            <a:ext cx="2190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2C94C"/>
                </a:solidFill>
              </a:defRPr>
            </a:pPr>
            <a:r>
              <a:rPr sz="1575" b="1">
                <a:solidFill>
                  <a:srgbClr val="F2C94C"/>
                </a:solidFill>
              </a:rPr>
              <a:t>MT-5106828-23ABB407…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0970D3F-CF69-4CCA-8DE6-40BB74658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0100" y="3448050"/>
            <a:ext cx="2952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200">
                <a:solidFill>
                  <a:srgbClr val="5D716C"/>
                </a:solidFill>
              </a:rPr>
              <a:t>Baseline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41A64EA-EE39-4C0F-B0E4-53C5275F4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63800" y="3448050"/>
            <a:ext cx="2190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2C94C"/>
                </a:solidFill>
              </a:defRPr>
            </a:pPr>
            <a:r>
              <a:rPr sz="1575" b="1">
                <a:solidFill>
                  <a:srgbClr val="F2C94C"/>
                </a:solidFill>
              </a:rPr>
              <a:t>138.98 ha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69F4AB1-9A1C-495D-B9C1-DAEC636A2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0100" y="4743450"/>
            <a:ext cx="2952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200">
                <a:solidFill>
                  <a:srgbClr val="5D716C"/>
                </a:solidFill>
              </a:rPr>
              <a:t>With secondary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8AE54EC-A402-428B-899E-62CB96F18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63800" y="4743450"/>
            <a:ext cx="2190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2C94C"/>
                </a:solidFill>
              </a:defRPr>
            </a:pPr>
            <a:r>
              <a:rPr sz="1575" b="1">
                <a:solidFill>
                  <a:srgbClr val="F2C94C"/>
                </a:solidFill>
              </a:rPr>
              <a:t>114.19 ha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05DDF62-DAE8-43C1-B53F-B9A05D1E7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0100" y="6038850"/>
            <a:ext cx="2952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200">
                <a:solidFill>
                  <a:srgbClr val="5D716C"/>
                </a:solidFill>
              </a:rPr>
              <a:t>≤ 4 modules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A035282-740A-484C-B673-EA0395530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63800" y="6019800"/>
            <a:ext cx="2190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2C94C"/>
                </a:solidFill>
              </a:defRPr>
            </a:pPr>
            <a:r>
              <a:rPr sz="1575" b="1">
                <a:solidFill>
                  <a:srgbClr val="F2C94C"/>
                </a:solidFill>
              </a:rPr>
              <a:t>MT-5103304-CDD5B177…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4FE56CB-AC2C-41BA-894E-EEE9354F8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0100" y="7334250"/>
            <a:ext cx="2952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200">
                <a:solidFill>
                  <a:srgbClr val="5D716C"/>
                </a:solidFill>
              </a:rPr>
              <a:t>Baseline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4E9E995-6892-4908-A10F-CCA483880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63800" y="7315200"/>
            <a:ext cx="2190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2C94C"/>
                </a:solidFill>
              </a:defRPr>
            </a:pPr>
            <a:r>
              <a:rPr sz="1575" b="1">
                <a:solidFill>
                  <a:srgbClr val="F2C94C"/>
                </a:solidFill>
              </a:rPr>
              <a:t>122.74 ha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549739D-ED38-45E7-9DAC-9F633DEE7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0100" y="8629650"/>
            <a:ext cx="2952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200">
                <a:solidFill>
                  <a:srgbClr val="5D716C"/>
                </a:solidFill>
              </a:rPr>
              <a:t>With secondary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B6D4CE4-CB0E-4A8B-A049-BE608C29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63800" y="8610600"/>
            <a:ext cx="2190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2C94C"/>
                </a:solidFill>
              </a:defRPr>
            </a:pPr>
            <a:r>
              <a:rPr sz="1575" b="1">
                <a:solidFill>
                  <a:srgbClr val="F2C94C"/>
                </a:solidFill>
              </a:rPr>
              <a:t>107.65 ha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25ADD72-EF78-4219-931D-581095EC4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20250"/>
            <a:ext cx="2362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D716C"/>
                </a:solidFill>
              </a:defRPr>
            </a:pPr>
            <a:r>
              <a:rPr sz="750">
                <a:solidFill>
                  <a:srgbClr val="5D716C"/>
                </a:solidFill>
              </a:rPr>
              <a:t>Source: final GTA-linked Forest Code mega table · 2026-09-30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D41DF78-0FDC-494D-A005-902D31964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2600" y="9620250"/>
            <a:ext cx="523875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47D72"/>
                </a:solidFill>
              </a:defRPr>
            </a:pPr>
            <a:r>
              <a:rPr sz="825" b="1">
                <a:solidFill>
                  <a:srgbClr val="147D72"/>
                </a:solidFill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124651900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2026-10-01T11:21:39.0170000Z</dcterms:created>
  <dcterms:modified xsi:type="dcterms:W3CDTF">2026-10-01T11:21:39.0170000Z</dcterms:modified>
</coreProperties>
</file>