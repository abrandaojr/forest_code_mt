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79ae9d660243f5" /><Relationship Type="http://schemas.openxmlformats.org/officeDocument/2006/relationships/extended-properties" Target="/docProps/app.xml" Id="R91669c9071df4227" /><Relationship Type="http://schemas.openxmlformats.org/officeDocument/2006/relationships/officeDocument" Target="/ppt/presentation.xml" Id="R66d306b5eebd44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b21347a01d40b3"/>
  </p:sldMasterIdLst>
  <p:notesMasterIdLst>
    <p:notesMasterId xmlns:r="http://schemas.openxmlformats.org/officeDocument/2006/relationships" r:id="R9e65ab6ec8b14fc8"/>
  </p:notesMasterIdLst>
  <p:sldIdLst>
    <p:sldId xmlns:r="http://schemas.openxmlformats.org/officeDocument/2006/relationships" id="256" r:id="Rf2c557e97dc2439b"/>
    <p:sldId xmlns:r="http://schemas.openxmlformats.org/officeDocument/2006/relationships" id="257" r:id="Rb7fabeaef2ba4db4"/>
    <p:sldId xmlns:r="http://schemas.openxmlformats.org/officeDocument/2006/relationships" id="258" r:id="R14f777738b624d21"/>
    <p:sldId xmlns:r="http://schemas.openxmlformats.org/officeDocument/2006/relationships" id="259" r:id="R2542e2cb047f4469"/>
    <p:sldId xmlns:r="http://schemas.openxmlformats.org/officeDocument/2006/relationships" id="260" r:id="Rce3e4039948347d4"/>
    <p:sldId xmlns:r="http://schemas.openxmlformats.org/officeDocument/2006/relationships" id="261" r:id="R9ced658e5d364ffe"/>
    <p:sldId xmlns:r="http://schemas.openxmlformats.org/officeDocument/2006/relationships" id="262" r:id="Rdc851c395a9c41be"/>
    <p:sldId xmlns:r="http://schemas.openxmlformats.org/officeDocument/2006/relationships" id="263" r:id="R60e2335b26bd4da1"/>
    <p:sldId xmlns:r="http://schemas.openxmlformats.org/officeDocument/2006/relationships" id="264" r:id="Rf18960c034344a10"/>
    <p:sldId xmlns:r="http://schemas.openxmlformats.org/officeDocument/2006/relationships" id="265" r:id="R7091d1eb65114680"/>
    <p:sldId xmlns:r="http://schemas.openxmlformats.org/officeDocument/2006/relationships" id="266" r:id="R1aa0a214ee944241"/>
    <p:sldId xmlns:r="http://schemas.openxmlformats.org/officeDocument/2006/relationships" id="267" r:id="R2e0c5573ae9e49ef"/>
    <p:sldId xmlns:r="http://schemas.openxmlformats.org/officeDocument/2006/relationships" id="268" r:id="Rc2a32f2dccf5485d"/>
    <p:sldId xmlns:r="http://schemas.openxmlformats.org/officeDocument/2006/relationships" id="269" r:id="R69dd185533054407"/>
    <p:sldId xmlns:r="http://schemas.openxmlformats.org/officeDocument/2006/relationships" id="270" r:id="R27e6cb7366704f16"/>
    <p:sldId xmlns:r="http://schemas.openxmlformats.org/officeDocument/2006/relationships" id="271" r:id="R01a7555009c34c50"/>
    <p:sldId xmlns:r="http://schemas.openxmlformats.org/officeDocument/2006/relationships" id="272" r:id="Rc59acbb900c34fd4"/>
    <p:sldId xmlns:r="http://schemas.openxmlformats.org/officeDocument/2006/relationships" id="273" r:id="Rc6eaacba9f9b4f47"/>
    <p:sldId xmlns:r="http://schemas.openxmlformats.org/officeDocument/2006/relationships" id="274" r:id="R9298ace8cd674d85"/>
    <p:sldId xmlns:r="http://schemas.openxmlformats.org/officeDocument/2006/relationships" id="275" r:id="R3590fd91c0e641c0"/>
    <p:sldId xmlns:r="http://schemas.openxmlformats.org/officeDocument/2006/relationships" id="276" r:id="Rc44185af2ab2483d"/>
    <p:sldId xmlns:r="http://schemas.openxmlformats.org/officeDocument/2006/relationships" id="277" r:id="R4de7da71d8b74a67"/>
    <p:sldId xmlns:r="http://schemas.openxmlformats.org/officeDocument/2006/relationships" id="278" r:id="Re833c1c4f7284c8b"/>
    <p:sldId xmlns:r="http://schemas.openxmlformats.org/officeDocument/2006/relationships" id="279" r:id="R798635f6ab1e4997"/>
    <p:sldId xmlns:r="http://schemas.openxmlformats.org/officeDocument/2006/relationships" id="280" r:id="R294d618dfdb1439f"/>
    <p:sldId xmlns:r="http://schemas.openxmlformats.org/officeDocument/2006/relationships" id="281" r:id="Rd5400e61777b49f4"/>
    <p:sldId xmlns:r="http://schemas.openxmlformats.org/officeDocument/2006/relationships" id="282" r:id="Rf139b8bdef624477"/>
    <p:sldId xmlns:r="http://schemas.openxmlformats.org/officeDocument/2006/relationships" id="283" r:id="R7928c927e83a4d00"/>
    <p:sldId xmlns:r="http://schemas.openxmlformats.org/officeDocument/2006/relationships" id="284" r:id="R5c47465020e74942"/>
    <p:sldId xmlns:r="http://schemas.openxmlformats.org/officeDocument/2006/relationships" id="285" r:id="Ra838eb3aee7b4323"/>
    <p:sldId xmlns:r="http://schemas.openxmlformats.org/officeDocument/2006/relationships" id="286" r:id="Rca7c73c09e9c4d68"/>
    <p:sldId xmlns:r="http://schemas.openxmlformats.org/officeDocument/2006/relationships" id="287" r:id="R418e479f395a4ade"/>
    <p:sldId xmlns:r="http://schemas.openxmlformats.org/officeDocument/2006/relationships" id="288" r:id="R3e7d832749554dd9"/>
    <p:sldId xmlns:r="http://schemas.openxmlformats.org/officeDocument/2006/relationships" id="289" r:id="R1f08bfe5a45141c8"/>
    <p:sldId xmlns:r="http://schemas.openxmlformats.org/officeDocument/2006/relationships" id="290" r:id="R4321d5c05eb14373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b21347a01d40b3" /><Relationship Type="http://schemas.openxmlformats.org/officeDocument/2006/relationships/theme" Target="/ppt/theme/theme1.xml" Id="R5f9e9a2ca48a44ad" /><Relationship Type="http://schemas.openxmlformats.org/officeDocument/2006/relationships/notesMaster" Target="/ppt/notesMasters/notesMaster1.xml" Id="R9e65ab6ec8b14fc8" /><Relationship Type="http://schemas.openxmlformats.org/officeDocument/2006/relationships/presProps" Target="/ppt/presProps.xml" Id="Rd40a71db728f4594" /><Relationship Type="http://schemas.openxmlformats.org/officeDocument/2006/relationships/viewProps" Target="/ppt/viewProps.xml" Id="R6a0d0015b1724a0e" /><Relationship Type="http://schemas.openxmlformats.org/officeDocument/2006/relationships/tableStyles" Target="/ppt/tableStyles.xml" Id="Rd64e8c576ca94acd" /><Relationship Type="http://schemas.openxmlformats.org/officeDocument/2006/relationships/slide" Target="/ppt/slides/slide1.xml" Id="Rf2c557e97dc2439b" /><Relationship Type="http://schemas.openxmlformats.org/officeDocument/2006/relationships/slide" Target="/ppt/slides/slide2.xml" Id="Rb7fabeaef2ba4db4" /><Relationship Type="http://schemas.openxmlformats.org/officeDocument/2006/relationships/slide" Target="/ppt/slides/slide3.xml" Id="R14f777738b624d21" /><Relationship Type="http://schemas.openxmlformats.org/officeDocument/2006/relationships/slide" Target="/ppt/slides/slide4.xml" Id="R2542e2cb047f4469" /><Relationship Type="http://schemas.openxmlformats.org/officeDocument/2006/relationships/slide" Target="/ppt/slides/slide5.xml" Id="Rce3e4039948347d4" /><Relationship Type="http://schemas.openxmlformats.org/officeDocument/2006/relationships/slide" Target="/ppt/slides/slide6.xml" Id="R9ced658e5d364ffe" /><Relationship Type="http://schemas.openxmlformats.org/officeDocument/2006/relationships/slide" Target="/ppt/slides/slide7.xml" Id="Rdc851c395a9c41be" /><Relationship Type="http://schemas.openxmlformats.org/officeDocument/2006/relationships/slide" Target="/ppt/slides/slide8.xml" Id="R60e2335b26bd4da1" /><Relationship Type="http://schemas.openxmlformats.org/officeDocument/2006/relationships/slide" Target="/ppt/slides/slide9.xml" Id="Rf18960c034344a10" /><Relationship Type="http://schemas.openxmlformats.org/officeDocument/2006/relationships/slide" Target="/ppt/slides/slide10.xml" Id="R7091d1eb65114680" /><Relationship Type="http://schemas.openxmlformats.org/officeDocument/2006/relationships/slide" Target="/ppt/slides/slide11.xml" Id="R1aa0a214ee944241" /><Relationship Type="http://schemas.openxmlformats.org/officeDocument/2006/relationships/slide" Target="/ppt/slides/slide12.xml" Id="R2e0c5573ae9e49ef" /><Relationship Type="http://schemas.openxmlformats.org/officeDocument/2006/relationships/slide" Target="/ppt/slides/slide13.xml" Id="Rc2a32f2dccf5485d" /><Relationship Type="http://schemas.openxmlformats.org/officeDocument/2006/relationships/slide" Target="/ppt/slides/slide14.xml" Id="R69dd185533054407" /><Relationship Type="http://schemas.openxmlformats.org/officeDocument/2006/relationships/slide" Target="/ppt/slides/slide15.xml" Id="R27e6cb7366704f16" /><Relationship Type="http://schemas.openxmlformats.org/officeDocument/2006/relationships/slide" Target="/ppt/slides/slide16.xml" Id="R01a7555009c34c50" /><Relationship Type="http://schemas.openxmlformats.org/officeDocument/2006/relationships/slide" Target="/ppt/slides/slide17.xml" Id="Rc59acbb900c34fd4" /><Relationship Type="http://schemas.openxmlformats.org/officeDocument/2006/relationships/slide" Target="/ppt/slides/slide18.xml" Id="Rc6eaacba9f9b4f47" /><Relationship Type="http://schemas.openxmlformats.org/officeDocument/2006/relationships/slide" Target="/ppt/slides/slide19.xml" Id="R9298ace8cd674d85" /><Relationship Type="http://schemas.openxmlformats.org/officeDocument/2006/relationships/slide" Target="/ppt/slides/slide20.xml" Id="R3590fd91c0e641c0" /><Relationship Type="http://schemas.openxmlformats.org/officeDocument/2006/relationships/slide" Target="/ppt/slides/slide21.xml" Id="Rc44185af2ab2483d" /><Relationship Type="http://schemas.openxmlformats.org/officeDocument/2006/relationships/slide" Target="/ppt/slides/slide22.xml" Id="R4de7da71d8b74a67" /><Relationship Type="http://schemas.openxmlformats.org/officeDocument/2006/relationships/slide" Target="/ppt/slides/slide23.xml" Id="Re833c1c4f7284c8b" /><Relationship Type="http://schemas.openxmlformats.org/officeDocument/2006/relationships/slide" Target="/ppt/slides/slide24.xml" Id="R798635f6ab1e4997" /><Relationship Type="http://schemas.openxmlformats.org/officeDocument/2006/relationships/slide" Target="/ppt/slides/slide25.xml" Id="R294d618dfdb1439f" /><Relationship Type="http://schemas.openxmlformats.org/officeDocument/2006/relationships/slide" Target="/ppt/slides/slide26.xml" Id="Rd5400e61777b49f4" /><Relationship Type="http://schemas.openxmlformats.org/officeDocument/2006/relationships/slide" Target="/ppt/slides/slide27.xml" Id="Rf139b8bdef624477" /><Relationship Type="http://schemas.openxmlformats.org/officeDocument/2006/relationships/slide" Target="/ppt/slides/slide28.xml" Id="R7928c927e83a4d00" /><Relationship Type="http://schemas.openxmlformats.org/officeDocument/2006/relationships/slide" Target="/ppt/slides/slide29.xml" Id="R5c47465020e74942" /><Relationship Type="http://schemas.openxmlformats.org/officeDocument/2006/relationships/slide" Target="/ppt/slides/slide30.xml" Id="Ra838eb3aee7b4323" /><Relationship Type="http://schemas.openxmlformats.org/officeDocument/2006/relationships/slide" Target="/ppt/slides/slide31.xml" Id="Rca7c73c09e9c4d68" /><Relationship Type="http://schemas.openxmlformats.org/officeDocument/2006/relationships/slide" Target="/ppt/slides/slide32.xml" Id="R418e479f395a4ade" /><Relationship Type="http://schemas.openxmlformats.org/officeDocument/2006/relationships/slide" Target="/ppt/slides/slide33.xml" Id="R3e7d832749554dd9" /><Relationship Type="http://schemas.openxmlformats.org/officeDocument/2006/relationships/slide" Target="/ppt/slides/slide34.xml" Id="R1f08bfe5a45141c8" /><Relationship Type="http://schemas.openxmlformats.org/officeDocument/2006/relationships/slide" Target="/ppt/slides/slide35.xml" Id="R4321d5c05eb143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0a961464be245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84ad0a1f594902" /><Relationship Type="http://schemas.openxmlformats.org/officeDocument/2006/relationships/notesMaster" Target="/ppt/notesMasters/notesMaster1.xml" Id="R1cd7b2b628b84e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0f5ee0031a4100" /><Relationship Type="http://schemas.openxmlformats.org/officeDocument/2006/relationships/notesMaster" Target="/ppt/notesMasters/notesMaster1.xml" Id="R7f2ce5d459fe42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452944e8b44aa7" /><Relationship Type="http://schemas.openxmlformats.org/officeDocument/2006/relationships/notesMaster" Target="/ppt/notesMasters/notesMaster1.xml" Id="Rb7fa5531a4794d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a8de50cd294d35" /><Relationship Type="http://schemas.openxmlformats.org/officeDocument/2006/relationships/notesMaster" Target="/ppt/notesMasters/notesMaster1.xml" Id="R8c20dc44b57448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57871de7cb4926" /><Relationship Type="http://schemas.openxmlformats.org/officeDocument/2006/relationships/notesMaster" Target="/ppt/notesMasters/notesMaster1.xml" Id="Rd3f4e88011234a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76b6cff56c4977" /><Relationship Type="http://schemas.openxmlformats.org/officeDocument/2006/relationships/notesMaster" Target="/ppt/notesMasters/notesMaster1.xml" Id="Rfad5d325a70a46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341e733bfc4b64" /><Relationship Type="http://schemas.openxmlformats.org/officeDocument/2006/relationships/notesMaster" Target="/ppt/notesMasters/notesMaster1.xml" Id="R7f8b6a1e934b41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6e611723b44f65" /><Relationship Type="http://schemas.openxmlformats.org/officeDocument/2006/relationships/notesMaster" Target="/ppt/notesMasters/notesMaster1.xml" Id="Rec5ec8aef4a74af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91d54f0bac4efc" /><Relationship Type="http://schemas.openxmlformats.org/officeDocument/2006/relationships/notesMaster" Target="/ppt/notesMasters/notesMaster1.xml" Id="R013f41d12d54498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47a39bcce9046e1" /><Relationship Type="http://schemas.openxmlformats.org/officeDocument/2006/relationships/notesMaster" Target="/ppt/notesMasters/notesMaster1.xml" Id="R908025453fd4485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e5e0a2d469a4192" /><Relationship Type="http://schemas.openxmlformats.org/officeDocument/2006/relationships/notesMaster" Target="/ppt/notesMasters/notesMaster1.xml" Id="R8dd831c1b11c48a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40379370dd9423f" /><Relationship Type="http://schemas.openxmlformats.org/officeDocument/2006/relationships/notesMaster" Target="/ppt/notesMasters/notesMaster1.xml" Id="Ra3ac230a41c8404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51d102c57824500" /><Relationship Type="http://schemas.openxmlformats.org/officeDocument/2006/relationships/notesMaster" Target="/ppt/notesMasters/notesMaster1.xml" Id="R5b4cd9ae4b41417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362a0f4c2174ad3" /><Relationship Type="http://schemas.openxmlformats.org/officeDocument/2006/relationships/notesMaster" Target="/ppt/notesMasters/notesMaster1.xml" Id="Rdb2be793e93f463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cea9ee18a8841ff" /><Relationship Type="http://schemas.openxmlformats.org/officeDocument/2006/relationships/notesMaster" Target="/ppt/notesMasters/notesMaster1.xml" Id="Rbe8cdcefc735443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adeaa7fa68346cc" /><Relationship Type="http://schemas.openxmlformats.org/officeDocument/2006/relationships/notesMaster" Target="/ppt/notesMasters/notesMaster1.xml" Id="Rc16d62773b134b1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c56f7db01b74909" /><Relationship Type="http://schemas.openxmlformats.org/officeDocument/2006/relationships/notesMaster" Target="/ppt/notesMasters/notesMaster1.xml" Id="Rf7038932b8f84d4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19a67eeca4848e6" /><Relationship Type="http://schemas.openxmlformats.org/officeDocument/2006/relationships/notesMaster" Target="/ppt/notesMasters/notesMaster1.xml" Id="Rd53e22c975434dc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81887ac133540d0" /><Relationship Type="http://schemas.openxmlformats.org/officeDocument/2006/relationships/notesMaster" Target="/ppt/notesMasters/notesMaster1.xml" Id="R7e321b23e4894bd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013e4b8192c41d9" /><Relationship Type="http://schemas.openxmlformats.org/officeDocument/2006/relationships/notesMaster" Target="/ppt/notesMasters/notesMaster1.xml" Id="Rd5c192dd5a00473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db72f4e5f57438f" /><Relationship Type="http://schemas.openxmlformats.org/officeDocument/2006/relationships/notesMaster" Target="/ppt/notesMasters/notesMaster1.xml" Id="R49c2603e0bd9476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74502d1f2e24b70" /><Relationship Type="http://schemas.openxmlformats.org/officeDocument/2006/relationships/notesMaster" Target="/ppt/notesMasters/notesMaster1.xml" Id="Rb59852608cff430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563928301aa4dfd" /><Relationship Type="http://schemas.openxmlformats.org/officeDocument/2006/relationships/notesMaster" Target="/ppt/notesMasters/notesMaster1.xml" Id="R01b12f5039024d3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231f80abeb74dce" /><Relationship Type="http://schemas.openxmlformats.org/officeDocument/2006/relationships/notesMaster" Target="/ppt/notesMasters/notesMaster1.xml" Id="R7b39368bd3b0440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9fe21a81aa141d4" /><Relationship Type="http://schemas.openxmlformats.org/officeDocument/2006/relationships/notesMaster" Target="/ppt/notesMasters/notesMaster1.xml" Id="R36dfd363d6b1409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54e56b462e147bb" /><Relationship Type="http://schemas.openxmlformats.org/officeDocument/2006/relationships/notesMaster" Target="/ppt/notesMasters/notesMaster1.xml" Id="R2f35a6193c444a1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0efda6981104bc1" /><Relationship Type="http://schemas.openxmlformats.org/officeDocument/2006/relationships/notesMaster" Target="/ppt/notesMasters/notesMaster1.xml" Id="R1f54f8e69b24437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9f1051889824fb9" /><Relationship Type="http://schemas.openxmlformats.org/officeDocument/2006/relationships/notesMaster" Target="/ppt/notesMasters/notesMaster1.xml" Id="R0161289aec03443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342bd52db19483e" /><Relationship Type="http://schemas.openxmlformats.org/officeDocument/2006/relationships/notesMaster" Target="/ppt/notesMasters/notesMaster1.xml" Id="R8b4f92f97707424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2a991ff2d724a64" /><Relationship Type="http://schemas.openxmlformats.org/officeDocument/2006/relationships/notesMaster" Target="/ppt/notesMasters/notesMaster1.xml" Id="R6193481220bc483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60416e4e57d4056" /><Relationship Type="http://schemas.openxmlformats.org/officeDocument/2006/relationships/notesMaster" Target="/ppt/notesMasters/notesMaster1.xml" Id="R4a72759ec7884aa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2d61b11ae1944bb" /><Relationship Type="http://schemas.openxmlformats.org/officeDocument/2006/relationships/notesMaster" Target="/ppt/notesMasters/notesMaster1.xml" Id="R16cffe92aa6a4da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affb049ec7b4220" /><Relationship Type="http://schemas.openxmlformats.org/officeDocument/2006/relationships/notesMaster" Target="/ppt/notesMasters/notesMaster1.xml" Id="R8b695a775464457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cd0ed3cf06b4f60" /><Relationship Type="http://schemas.openxmlformats.org/officeDocument/2006/relationships/notesMaster" Target="/ppt/notesMasters/notesMaster1.xml" Id="R8f48e34dff14421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7d825b5c43c490d" /><Relationship Type="http://schemas.openxmlformats.org/officeDocument/2006/relationships/notesMaster" Target="/ppt/notesMasters/notesMaster1.xml" Id="R93841db12b2745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35f164cbd148e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872c04ba4b746ca" /><Relationship Type="http://schemas.openxmlformats.org/officeDocument/2006/relationships/slideLayout" Target="/ppt/slideLayouts/slideLayout2.xml" Id="R51041d1e66384e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041d1e66384e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749a0201de4da8" /><Relationship Type="http://schemas.openxmlformats.org/officeDocument/2006/relationships/image" Target="/ppt/media/image.jpeg" Id="Rbbf070d386a648e7" /><Relationship Type="http://schemas.openxmlformats.org/officeDocument/2006/relationships/notesSlide" Target="/ppt/notesSlides/notesSlide1.xml" Id="R8a0f4533652742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a4177b096945c5" /><Relationship Type="http://schemas.openxmlformats.org/officeDocument/2006/relationships/notesSlide" Target="/ppt/notesSlides/notesSlide2.xml" Id="R750710beeacd48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5f1f2bda5d4b6f" /><Relationship Type="http://schemas.openxmlformats.org/officeDocument/2006/relationships/image" Target="/ppt/media/image.png" Id="R7e5a30027c504513" /><Relationship Type="http://schemas.openxmlformats.org/officeDocument/2006/relationships/notesSlide" Target="/ppt/notesSlides/notesSlide3.xml" Id="R3613f82ad8da48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7b615fb9da4498" /><Relationship Type="http://schemas.openxmlformats.org/officeDocument/2006/relationships/image" Target="/ppt/media/image2.png" Id="R50b43bc1e71b4f96" /><Relationship Type="http://schemas.openxmlformats.org/officeDocument/2006/relationships/notesSlide" Target="/ppt/notesSlides/notesSlide4.xml" Id="R2a7db615a83f40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3064f12656455c" /><Relationship Type="http://schemas.openxmlformats.org/officeDocument/2006/relationships/image" Target="/ppt/media/image3.png" Id="R7f9603544ded4236" /><Relationship Type="http://schemas.openxmlformats.org/officeDocument/2006/relationships/notesSlide" Target="/ppt/notesSlides/notesSlide5.xml" Id="Rbae519a62b614d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3482dcb9644480" /><Relationship Type="http://schemas.openxmlformats.org/officeDocument/2006/relationships/image" Target="/ppt/media/image4.png" Id="R3e6f19d430f248b6" /><Relationship Type="http://schemas.openxmlformats.org/officeDocument/2006/relationships/notesSlide" Target="/ppt/notesSlides/notesSlide6.xml" Id="R07f6bb695fc34f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a828fcd1e04896" /><Relationship Type="http://schemas.openxmlformats.org/officeDocument/2006/relationships/notesSlide" Target="/ppt/notesSlides/notesSlide7.xml" Id="R25de7bac767f4d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3175375ca44c63" /><Relationship Type="http://schemas.openxmlformats.org/officeDocument/2006/relationships/image" Target="/ppt/media/image5.png" Id="R2b2f305720da472b" /><Relationship Type="http://schemas.openxmlformats.org/officeDocument/2006/relationships/notesSlide" Target="/ppt/notesSlides/notesSlide8.xml" Id="R6de360b0e5e84c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412f4bc4da4650" /><Relationship Type="http://schemas.openxmlformats.org/officeDocument/2006/relationships/image" Target="/ppt/media/image6.png" Id="Rdec1347ca4da4cde" /><Relationship Type="http://schemas.openxmlformats.org/officeDocument/2006/relationships/notesSlide" Target="/ppt/notesSlides/notesSlide9.xml" Id="R5c45dbcfc91b418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51db03f46a4f78" /><Relationship Type="http://schemas.openxmlformats.org/officeDocument/2006/relationships/image" Target="/ppt/media/image7.png" Id="R16177754334d47e0" /><Relationship Type="http://schemas.openxmlformats.org/officeDocument/2006/relationships/notesSlide" Target="/ppt/notesSlides/notesSlide10.xml" Id="Ra1b569fead33467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81142dd49a4e0b" /><Relationship Type="http://schemas.openxmlformats.org/officeDocument/2006/relationships/image" Target="/ppt/media/image8.png" Id="R48852ee609d344ce" /><Relationship Type="http://schemas.openxmlformats.org/officeDocument/2006/relationships/notesSlide" Target="/ppt/notesSlides/notesSlide11.xml" Id="Ra37f9c78b0ee4fe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6f0d100ade450e" /><Relationship Type="http://schemas.openxmlformats.org/officeDocument/2006/relationships/notesSlide" Target="/ppt/notesSlides/notesSlide12.xml" Id="R1369644d496f446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6a0b1ad9b14535" /><Relationship Type="http://schemas.openxmlformats.org/officeDocument/2006/relationships/image" Target="/ppt/media/image9.png" Id="R4c3ea29161de4f1a" /><Relationship Type="http://schemas.openxmlformats.org/officeDocument/2006/relationships/notesSlide" Target="/ppt/notesSlides/notesSlide13.xml" Id="Rdacc71b6006545a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36ff6117c047d6" /><Relationship Type="http://schemas.openxmlformats.org/officeDocument/2006/relationships/image" Target="/ppt/media/image10.png" Id="R15d1c49fb0a14a23" /><Relationship Type="http://schemas.openxmlformats.org/officeDocument/2006/relationships/notesSlide" Target="/ppt/notesSlides/notesSlide14.xml" Id="Rc3f7c0dca19d4b0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205e2e72b34bb0" /><Relationship Type="http://schemas.openxmlformats.org/officeDocument/2006/relationships/image" Target="/ppt/media/image11.png" Id="Rc8848d4074ba4703" /><Relationship Type="http://schemas.openxmlformats.org/officeDocument/2006/relationships/notesSlide" Target="/ppt/notesSlides/notesSlide15.xml" Id="Ra43f7b4edf51418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fe06b85c074ff3" /><Relationship Type="http://schemas.openxmlformats.org/officeDocument/2006/relationships/image" Target="/ppt/media/image12.png" Id="R59d2420b05a64228" /><Relationship Type="http://schemas.openxmlformats.org/officeDocument/2006/relationships/notesSlide" Target="/ppt/notesSlides/notesSlide16.xml" Id="Rbd5bc39e1bbc40e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4da07008ac4e7b" /><Relationship Type="http://schemas.openxmlformats.org/officeDocument/2006/relationships/notesSlide" Target="/ppt/notesSlides/notesSlide17.xml" Id="Rd6eb3e970d45492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dc7ea0158b4037" /><Relationship Type="http://schemas.openxmlformats.org/officeDocument/2006/relationships/image" Target="/ppt/media/image13.png" Id="R3ade295a429144fb" /><Relationship Type="http://schemas.openxmlformats.org/officeDocument/2006/relationships/notesSlide" Target="/ppt/notesSlides/notesSlide18.xml" Id="R14d1ebf1e2c1403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e0df6f522d4526" /><Relationship Type="http://schemas.openxmlformats.org/officeDocument/2006/relationships/image" Target="/ppt/media/image14.png" Id="Rf8676336bd2b43f9" /><Relationship Type="http://schemas.openxmlformats.org/officeDocument/2006/relationships/notesSlide" Target="/ppt/notesSlides/notesSlide19.xml" Id="Re230d788511d46a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0a096dd7be43f0" /><Relationship Type="http://schemas.openxmlformats.org/officeDocument/2006/relationships/image" Target="/ppt/media/image15.png" Id="Rdd9c899f4f214a2d" /><Relationship Type="http://schemas.openxmlformats.org/officeDocument/2006/relationships/notesSlide" Target="/ppt/notesSlides/notesSlide20.xml" Id="Raa07e6466cfd4a6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12e2520b6c4234" /><Relationship Type="http://schemas.openxmlformats.org/officeDocument/2006/relationships/image" Target="/ppt/media/image16.png" Id="R82482626c666473e" /><Relationship Type="http://schemas.openxmlformats.org/officeDocument/2006/relationships/notesSlide" Target="/ppt/notesSlides/notesSlide21.xml" Id="Reed51cd8a8ce4b5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fd0c854dd4439e" /><Relationship Type="http://schemas.openxmlformats.org/officeDocument/2006/relationships/notesSlide" Target="/ppt/notesSlides/notesSlide22.xml" Id="R80c71b620876427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7687a9a3c14298" /><Relationship Type="http://schemas.openxmlformats.org/officeDocument/2006/relationships/image" Target="/ppt/media/image17.png" Id="R3c373ae872084fe3" /><Relationship Type="http://schemas.openxmlformats.org/officeDocument/2006/relationships/notesSlide" Target="/ppt/notesSlides/notesSlide23.xml" Id="Race1163094464df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3b603e5c7640c5" /><Relationship Type="http://schemas.openxmlformats.org/officeDocument/2006/relationships/image" Target="/ppt/media/image18.png" Id="Reac76878fc0a4403" /><Relationship Type="http://schemas.openxmlformats.org/officeDocument/2006/relationships/notesSlide" Target="/ppt/notesSlides/notesSlide24.xml" Id="Ra04f8f4c3d62414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5251f17aee4c60" /><Relationship Type="http://schemas.openxmlformats.org/officeDocument/2006/relationships/image" Target="/ppt/media/image19.png" Id="R9ad497d5f0454abb" /><Relationship Type="http://schemas.openxmlformats.org/officeDocument/2006/relationships/notesSlide" Target="/ppt/notesSlides/notesSlide25.xml" Id="Rd3d8a61bf580433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cdafc752f548cb" /><Relationship Type="http://schemas.openxmlformats.org/officeDocument/2006/relationships/image" Target="/ppt/media/image20.png" Id="R3d3518e756f74fcb" /><Relationship Type="http://schemas.openxmlformats.org/officeDocument/2006/relationships/notesSlide" Target="/ppt/notesSlides/notesSlide26.xml" Id="R25b4c1031bd54a9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b33a709d2147f6" /><Relationship Type="http://schemas.openxmlformats.org/officeDocument/2006/relationships/notesSlide" Target="/ppt/notesSlides/notesSlide27.xml" Id="Rf109d0925a134c3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b001996600458c" /><Relationship Type="http://schemas.openxmlformats.org/officeDocument/2006/relationships/image" Target="/ppt/media/image21.png" Id="Rbdee6befa5284fb6" /><Relationship Type="http://schemas.openxmlformats.org/officeDocument/2006/relationships/notesSlide" Target="/ppt/notesSlides/notesSlide28.xml" Id="Rf8cbe1540fa5492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4ab688cdd44de7" /><Relationship Type="http://schemas.openxmlformats.org/officeDocument/2006/relationships/image" Target="/ppt/media/image22.png" Id="R75e9e6e368d44931" /><Relationship Type="http://schemas.openxmlformats.org/officeDocument/2006/relationships/notesSlide" Target="/ppt/notesSlides/notesSlide29.xml" Id="R21fdd37105954c9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618294ffec4b2d" /><Relationship Type="http://schemas.openxmlformats.org/officeDocument/2006/relationships/image" Target="/ppt/media/image23.png" Id="R2f6873ee706a4af8" /><Relationship Type="http://schemas.openxmlformats.org/officeDocument/2006/relationships/notesSlide" Target="/ppt/notesSlides/notesSlide30.xml" Id="Re43f9eefd7ad4fb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ed5c9c150248be" /><Relationship Type="http://schemas.openxmlformats.org/officeDocument/2006/relationships/image" Target="/ppt/media/image24.png" Id="R984d8ce469f340e5" /><Relationship Type="http://schemas.openxmlformats.org/officeDocument/2006/relationships/notesSlide" Target="/ppt/notesSlides/notesSlide31.xml" Id="Rffa1348c1f7c4ca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a400dc24474508" /><Relationship Type="http://schemas.openxmlformats.org/officeDocument/2006/relationships/notesSlide" Target="/ppt/notesSlides/notesSlide32.xml" Id="Rdfca3a9c381c4ab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d885f448014317" /><Relationship Type="http://schemas.openxmlformats.org/officeDocument/2006/relationships/notesSlide" Target="/ppt/notesSlides/notesSlide33.xml" Id="R66a5ac18f979427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0eff84e80447e0" /><Relationship Type="http://schemas.openxmlformats.org/officeDocument/2006/relationships/notesSlide" Target="/ppt/notesSlides/notesSlide34.xml" Id="R7aa3d077f43643f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70effd04f144b4" /><Relationship Type="http://schemas.openxmlformats.org/officeDocument/2006/relationships/notesSlide" Target="/ppt/notesSlides/notesSlide35.xml" Id="Recf7c617e5b440f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63794D-9BDA-433B-BF8E-D9772AEC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42950"/>
            <a:ext cx="7334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C3F6B"/>
                </a:solidFill>
              </a:defRPr>
            </a:pPr>
            <a:r>
              <a:rPr sz="1500" b="1">
                <a:solidFill>
                  <a:srgbClr val="EC3F6B"/>
                </a:solidFill>
              </a:rPr>
              <a:t>FOREST CODE · GTA-LINKED WORKED EXAMPLES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5F995C-2F68-4235-A4CD-D5558FBD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90650"/>
            <a:ext cx="733425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Six properties.</a:t>
            </a:r>
          </a:p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Three source bases.</a:t>
            </a:r>
          </a:p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Every vector layer visible.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0A14B-5BF6-45D2-B901-A6261A87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2476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F6B"/>
          </a:solidFill>
          <a:ln xmlns:a="http://schemas.openxmlformats.org/drawingml/2006/main" w="0">
            <a:solidFill>
              <a:srgbClr val="EC3F6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7B76C5-B5F8-4F8C-AE87-A64435A2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6350"/>
            <a:ext cx="7334250" cy="1571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D716C"/>
                </a:solidFill>
              </a:defRPr>
            </a:pPr>
            <a:r>
              <a:rPr sz="2025">
                <a:solidFill>
                  <a:srgbClr val="5D716C"/>
                </a:solidFill>
              </a:rPr>
              <a:t>Validated, Digital, and Proxy — one property above and one property up to four fiscal modules in each base, all linked to GTA and containing both forest and cerrado.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B9D995-3938-4DC1-8158-A8C6B28D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96100"/>
            <a:ext cx="7334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Mato Grosso · final model run · 6 October 2026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f070d386a648e7"/>
          <a:srcRect xmlns:a="http://schemas.openxmlformats.org/drawingml/2006/main" l="23754" t="0" r="237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48750" y="0"/>
            <a:ext cx="9239250" cy="9886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87BA97-83D0-47B8-A2F2-259A87FE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9886950"/>
            <a:ext cx="9239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D2A87"/>
                </a:solidFill>
              </a:defRPr>
            </a:pPr>
            <a:r>
              <a:rPr sz="1500">
                <a:solidFill>
                  <a:srgbClr val="3D2A87"/>
                </a:solidFill>
              </a:rPr>
              <a:t>Photo: UN PAGE · Mato Grosso Goes Green</a:t>
            </a:r>
          </a:p>
        </p:txBody>
      </p:sp>
    </p:spTree>
    <p:extLst>
      <p:ext uri="{BB962C8B-B14F-4D97-AF65-F5344CB8AC3E}">
        <p14:creationId xmlns:p14="http://schemas.microsoft.com/office/powerpoint/2010/main" val="190392236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">
            <a:extLst xmlns:a="http://schemas.openxmlformats.org/drawingml/2006/main">
              <a:ext uri="{FF2B5EF4-FFF2-40B4-BE49-F238E27FC236}">
                <a16:creationId xmlns:a16="http://schemas.microsoft.com/office/drawing/2014/main" id="{6D1D05E0-4E3B-477D-AB6E-135217C4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6916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The six examples satisfy the same selection rules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4C34FD-EB82-4151-94B3-CF1AE965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239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Every row is GTA-linked, contains forest and cerrado, and represents one source × size branch.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CE384-567C-4905-AB73-5D980187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F6B"/>
          </a:solidFill>
          <a:ln xmlns:a="http://schemas.openxmlformats.org/drawingml/2006/main" w="0">
            <a:solidFill>
              <a:srgbClr val="EC3F6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7CB467-A6C3-4F65-A86F-F9F4661A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38300"/>
            <a:ext cx="2724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2A87"/>
                </a:solidFill>
              </a:defRPr>
            </a:pPr>
            <a:r>
              <a:rPr sz="1500" b="1">
                <a:solidFill>
                  <a:srgbClr val="3D2A87"/>
                </a:solidFill>
              </a:rPr>
              <a:t>Source base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2A4D03-B8A0-4BCF-BE23-961636DE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38300"/>
            <a:ext cx="2114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2A87"/>
                </a:solidFill>
              </a:defRPr>
            </a:pPr>
            <a:r>
              <a:rPr sz="1500" b="1">
                <a:solidFill>
                  <a:srgbClr val="3D2A87"/>
                </a:solidFill>
              </a:rPr>
              <a:t>Size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1EF12-53C5-414A-A97E-E9FB7742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38300"/>
            <a:ext cx="6343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2A87"/>
                </a:solidFill>
              </a:defRPr>
            </a:pPr>
            <a:r>
              <a:rPr sz="1500" b="1">
                <a:solidFill>
                  <a:srgbClr val="3D2A87"/>
                </a:solidFill>
              </a:rPr>
              <a:t>CAR record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B408D8-1047-4EA9-A1EB-6E1EE8A6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1638300"/>
            <a:ext cx="499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2A87"/>
                </a:solidFill>
              </a:defRPr>
            </a:pPr>
            <a:r>
              <a:rPr sz="1500" b="1">
                <a:solidFill>
                  <a:srgbClr val="3D2A87"/>
                </a:solidFill>
              </a:rPr>
              <a:t>Modules · area · cattle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D6C191-8FF8-49AD-B49C-91304C6F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2724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2A87"/>
                </a:solidFill>
              </a:defRPr>
            </a:pPr>
            <a:r>
              <a:rPr sz="1500" b="1">
                <a:solidFill>
                  <a:srgbClr val="3D2A87"/>
                </a:solidFill>
              </a:rPr>
              <a:t>SIMCAR Validated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1490D6-A706-4266-A0E5-5F6A7DB8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19350"/>
            <a:ext cx="2114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7D72"/>
                </a:solidFill>
              </a:defRPr>
            </a:pPr>
            <a:r>
              <a:rPr sz="1500" b="0">
                <a:solidFill>
                  <a:srgbClr val="147D72"/>
                </a:solidFill>
              </a:rPr>
              <a:t>&gt; 4 modules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86B881-88C1-408D-B464-D207177C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19350"/>
            <a:ext cx="63436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MT-5107602-4838366C339B4</a:t>
            </a:r>
          </a:p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9D69077F3DC87A8074C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5DF828-034A-4F59-8816-E283E077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2419350"/>
            <a:ext cx="4991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13.36 modules · 801.37 ha · 939 cattle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825F87-F72A-45DA-A3BB-8A2AACA0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2724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2A87"/>
                </a:solidFill>
              </a:defRPr>
            </a:pPr>
            <a:r>
              <a:rPr sz="1500" b="1">
                <a:solidFill>
                  <a:srgbClr val="3D2A87"/>
                </a:solidFill>
              </a:rPr>
              <a:t>SIMCAR Validated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B33DFC-8E6C-4084-9204-2C66321A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38550"/>
            <a:ext cx="2114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7D72"/>
                </a:solidFill>
              </a:defRPr>
            </a:pPr>
            <a:r>
              <a:rPr sz="1500" b="0">
                <a:solidFill>
                  <a:srgbClr val="147D72"/>
                </a:solidFill>
              </a:rPr>
              <a:t>≤ 4 modules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114734-EE16-4783-B5B9-74A8B633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638550"/>
            <a:ext cx="63436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MT-5106257-60F736EB772F4</a:t>
            </a:r>
          </a:p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CF6A460A8D0BE0ADCBB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6117CC-9318-4D08-A52C-2238BBCE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3638550"/>
            <a:ext cx="4991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1.39 modules · 111.27 ha · 36 cattle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92AF7D-4497-4A1E-BDE8-17BD2FD2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2724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2A87"/>
                </a:solidFill>
              </a:defRPr>
            </a:pPr>
            <a:r>
              <a:rPr sz="1500" b="1">
                <a:solidFill>
                  <a:srgbClr val="3D2A87"/>
                </a:solidFill>
              </a:rPr>
              <a:t>SIMCAR Digital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F6E878-DCEA-44F6-A2CB-75529897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38700"/>
            <a:ext cx="2114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7D72"/>
                </a:solidFill>
              </a:defRPr>
            </a:pPr>
            <a:r>
              <a:rPr sz="1500" b="0">
                <a:solidFill>
                  <a:srgbClr val="147D72"/>
                </a:solidFill>
              </a:rPr>
              <a:t>&gt; 4 modules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9F8734-BE0C-4AC8-B3E5-6A614C46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838700"/>
            <a:ext cx="63436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MT-5107750-3D69A53C7D644</a:t>
            </a:r>
          </a:p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B4098DE759BD0FE2AF1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8FDB59-269D-4A12-A698-4883FF72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4838700"/>
            <a:ext cx="4991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19.54 modules · 1,564.00 ha · 2,131 cattle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9351AD-3BF8-4E6B-9E63-FDB34238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57900"/>
            <a:ext cx="2724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2A87"/>
                </a:solidFill>
              </a:defRPr>
            </a:pPr>
            <a:r>
              <a:rPr sz="1500" b="1">
                <a:solidFill>
                  <a:srgbClr val="3D2A87"/>
                </a:solidFill>
              </a:rPr>
              <a:t>SIMCAR Digital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B4C323-9F34-453F-9936-5B4E130E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057900"/>
            <a:ext cx="2114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7D72"/>
                </a:solidFill>
              </a:defRPr>
            </a:pPr>
            <a:r>
              <a:rPr sz="1500" b="0">
                <a:solidFill>
                  <a:srgbClr val="147D72"/>
                </a:solidFill>
              </a:rPr>
              <a:t>≤ 4 modules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5CC73A-CE0D-44B1-8B81-5A94D1EE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057900"/>
            <a:ext cx="63436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MT-5102603-D132829CFF784</a:t>
            </a:r>
          </a:p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C919A4FA35C7A5F32A5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95138D-410F-4C8A-8855-9B9D0687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6057900"/>
            <a:ext cx="4991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3.54 modules · 283.08 ha · 588 cattle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8FA3F7-9832-4A74-8F8D-8095358E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258050"/>
            <a:ext cx="2724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2A87"/>
                </a:solidFill>
              </a:defRPr>
            </a:pPr>
            <a:r>
              <a:rPr sz="1500" b="1">
                <a:solidFill>
                  <a:srgbClr val="3D2A87"/>
                </a:solidFill>
              </a:rPr>
              <a:t>SIMCAR Proxy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E647E7-9E42-4E50-BF99-7176AADA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258050"/>
            <a:ext cx="2114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7D72"/>
                </a:solidFill>
              </a:defRPr>
            </a:pPr>
            <a:r>
              <a:rPr sz="1500" b="0">
                <a:solidFill>
                  <a:srgbClr val="147D72"/>
                </a:solidFill>
              </a:rPr>
              <a:t>&gt; 4 modules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796624-90FA-4550-A752-BA4B6BA8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7258050"/>
            <a:ext cx="63436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MT-5106828-23ABB407C9334</a:t>
            </a:r>
          </a:p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E9F864BC6C07D00148C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07B3CD-9C6E-408D-A17F-CFFD12B6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7258050"/>
            <a:ext cx="4991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10.51 modules · 839.84 ha · 591 cattle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5F10FF-A824-4DD8-B2EA-0C552C56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477250"/>
            <a:ext cx="2724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2A87"/>
                </a:solidFill>
              </a:defRPr>
            </a:pPr>
            <a:r>
              <a:rPr sz="1500" b="1">
                <a:solidFill>
                  <a:srgbClr val="3D2A87"/>
                </a:solidFill>
              </a:rPr>
              <a:t>SIMCAR Proxy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A91112-2DC0-42D8-A532-5D10B6B7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477250"/>
            <a:ext cx="2114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7D72"/>
                </a:solidFill>
              </a:defRPr>
            </a:pPr>
            <a:r>
              <a:rPr sz="1500" b="0">
                <a:solidFill>
                  <a:srgbClr val="147D72"/>
                </a:solidFill>
              </a:rPr>
              <a:t>≤ 4 modules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FEAF17-7FEA-4ADC-9AFF-051AC81A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8477250"/>
            <a:ext cx="63436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MT-5103304-CDD5B177BF434</a:t>
            </a:r>
          </a:p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05FA86B66729E82F424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C1576E-9B0C-4939-8D35-3A3848DF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8477250"/>
            <a:ext cx="4991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1.87 modules · 186.59 ha · 121 cattle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FBB335-E386-4B41-A326-F699A0E3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Source: final GTA compliance mega table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4E443C-1634-4FDF-BF47-6E5BF070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66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72"/>
                </a:solidFill>
              </a:defRPr>
            </a:pPr>
            <a:r>
              <a:rPr sz="1500" b="1">
                <a:solidFill>
                  <a:srgbClr val="147D72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3186176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">
            <a:extLst xmlns:a="http://schemas.openxmlformats.org/drawingml/2006/main">
              <a:ext uri="{FF2B5EF4-FFF2-40B4-BE49-F238E27FC236}">
                <a16:creationId xmlns:a16="http://schemas.microsoft.com/office/drawing/2014/main" id="{E85795D1-7E77-4B2A-8976-C9D1CFEB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7373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Validated · &gt; 4 modules · property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5620FD-470A-4C84-82DA-E54B6C8B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48387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13.36 fiscal modules · GTA direct supplier · 939 slaughter cattle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EE6529-F55F-49C3-8FE9-EF229FBF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B5"/>
          </a:solidFill>
          <a:ln xmlns:a="http://schemas.openxmlformats.org/drawingml/2006/main" w="0">
            <a:solidFill>
              <a:srgbClr val="11B8B5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5a30027c504513"/>
          <a:stretch xmlns:a="http://schemas.openxmlformats.org/drawingml/2006/main"/>
        </p:blipFill>
        <p:spPr>
          <a:xfrm xmlns:a="http://schemas.openxmlformats.org/drawingml/2006/main">
            <a:off x="2533050" y="1304925"/>
            <a:ext cx="8176508" cy="78771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ED3550-AB8C-4564-84B0-A1562767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180975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Property area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84B21D-03D1-4659-B2B2-3F731E20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180975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7D72"/>
                </a:solidFill>
              </a:defRPr>
            </a:pPr>
            <a:r>
              <a:rPr sz="1650" b="1">
                <a:solidFill>
                  <a:srgbClr val="147D72"/>
                </a:solidFill>
              </a:rPr>
              <a:t>801.37 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430543-1DB4-4EE4-9BE1-510E663F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312420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Forest formation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342760-5400-4DE1-AE6B-E27EA7A3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312420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7D72"/>
                </a:solidFill>
              </a:defRPr>
            </a:pPr>
            <a:r>
              <a:rPr sz="1650" b="1">
                <a:solidFill>
                  <a:srgbClr val="147D72"/>
                </a:solidFill>
              </a:rPr>
              <a:t>552.09 ha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DB19D8-7CC0-4416-8F88-B01ADE7D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443865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Cerrado formation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02B956-AD2C-4DBE-896C-CA3461C2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443865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7D72"/>
                </a:solidFill>
              </a:defRPr>
            </a:pPr>
            <a:r>
              <a:rPr sz="1650" b="1">
                <a:solidFill>
                  <a:srgbClr val="147D72"/>
                </a:solidFill>
              </a:rPr>
              <a:t>247.92 ha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44FA85-9163-4FF5-A4FF-D15B0642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575310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Current native vegetation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0A4574-CD08-4C13-8572-F2697802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575310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7D72"/>
                </a:solidFill>
              </a:defRPr>
            </a:pPr>
            <a:r>
              <a:rPr sz="1650" b="1">
                <a:solidFill>
                  <a:srgbClr val="147D72"/>
                </a:solidFill>
              </a:rPr>
              <a:t>133.87 ha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E59F43-81F9-47F7-8C70-9E259925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706755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Baseline liability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4C84FB-DFBC-4AC1-B61E-6E0D16A3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706755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7D72"/>
                </a:solidFill>
              </a:defRPr>
            </a:pPr>
            <a:r>
              <a:rPr sz="1650" b="1">
                <a:solidFill>
                  <a:srgbClr val="147D72"/>
                </a:solidFill>
              </a:rPr>
              <a:t>435.06 ha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EAE7D0-9C0F-42CF-BFCD-97CD29B2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838200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With secondary vegetation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4E291E-0DBC-47A9-9A59-A649DF99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838200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7D72"/>
                </a:solidFill>
              </a:defRPr>
            </a:pPr>
            <a:r>
              <a:rPr sz="1650" b="1">
                <a:solidFill>
                  <a:srgbClr val="147D72"/>
                </a:solidFill>
              </a:rPr>
              <a:t>340.83 ha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17897E-E80D-4E1D-8A4E-13AF9426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277350"/>
            <a:ext cx="17373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CAR: MT-5107602-4838366C339B49D69077F3DC87A8074C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E8B599-1284-41C1-A4DC-DE56346A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9645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Source: final GTA compliance mega table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81A85F-FDCA-4F04-8D98-06D36D16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4050" y="9696450"/>
            <a:ext cx="66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72"/>
                </a:solidFill>
              </a:defRPr>
            </a:pPr>
            <a:r>
              <a:rPr sz="1500" b="1">
                <a:solidFill>
                  <a:srgbClr val="147D72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6801451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">
            <a:extLst xmlns:a="http://schemas.openxmlformats.org/drawingml/2006/main">
              <a:ext uri="{FF2B5EF4-FFF2-40B4-BE49-F238E27FC236}">
                <a16:creationId xmlns:a16="http://schemas.microsoft.com/office/drawing/2014/main" id="{5CA0221E-96B3-4462-8859-F46A8374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17640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Validated · &gt; 4 modules · Legal Reserve vector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876876-9680-4983-A4DF-06B84277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04850"/>
            <a:ext cx="4762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RADAM, current native vegetation, and secondary vegetation.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5ABF2-3C1A-411E-A775-F8940044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F6B"/>
          </a:solidFill>
          <a:ln xmlns:a="http://schemas.openxmlformats.org/drawingml/2006/main" w="0">
            <a:solidFill>
              <a:srgbClr val="EC3F6B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b43bc1e71b4f96"/>
          <a:stretch xmlns:a="http://schemas.openxmlformats.org/drawingml/2006/main"/>
        </p:blipFill>
        <p:spPr>
          <a:xfrm xmlns:a="http://schemas.openxmlformats.org/drawingml/2006/main">
            <a:off x="323850" y="3158103"/>
            <a:ext cx="17640300" cy="456134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A00322-8CF9-48DD-970F-43F3FFB9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753600"/>
            <a:ext cx="3543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Class totals close exactly to mapped APP area.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88FBF-8718-4267-8428-970198BD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7726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72"/>
                </a:solidFill>
              </a:defRPr>
            </a:pPr>
            <a:r>
              <a:rPr sz="1500" b="1">
                <a:solidFill>
                  <a:srgbClr val="147D72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990844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5">
            <a:extLst xmlns:a="http://schemas.openxmlformats.org/drawingml/2006/main">
              <a:ext uri="{FF2B5EF4-FFF2-40B4-BE49-F238E27FC236}">
                <a16:creationId xmlns:a16="http://schemas.microsoft.com/office/drawing/2014/main" id="{84C6EDA2-6FE1-427F-96A4-003ED94C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17640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Validated · &gt; 4 modules · Temporal vector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431188-11EE-48F6-BE45-5BAD5DAE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04850"/>
            <a:ext cx="48768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The 2000 and 2008 cut-offs and post-2008 alternative land use.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594400-C390-41C9-9C9E-C97E5226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B5"/>
          </a:solidFill>
          <a:ln xmlns:a="http://schemas.openxmlformats.org/drawingml/2006/main" w="0">
            <a:solidFill>
              <a:srgbClr val="11B8B5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9603544ded4236"/>
          <a:stretch xmlns:a="http://schemas.openxmlformats.org/drawingml/2006/main"/>
        </p:blipFill>
        <p:spPr>
          <a:xfrm xmlns:a="http://schemas.openxmlformats.org/drawingml/2006/main">
            <a:off x="323850" y="3226212"/>
            <a:ext cx="17640300" cy="442512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08DA40-DA0A-47D6-8344-3C91758E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753600"/>
            <a:ext cx="3543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Class totals close exactly to mapped APP area.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25ECFF-BA97-43CF-ACAF-7B73D4CB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7726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72"/>
                </a:solidFill>
              </a:defRPr>
            </a:pPr>
            <a:r>
              <a:rPr sz="1500" b="1">
                <a:solidFill>
                  <a:srgbClr val="147D72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7417013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">
            <a:extLst xmlns:a="http://schemas.openxmlformats.org/drawingml/2006/main">
              <a:ext uri="{FF2B5EF4-FFF2-40B4-BE49-F238E27FC236}">
                <a16:creationId xmlns:a16="http://schemas.microsoft.com/office/drawing/2014/main" id="{29DB3CCA-DC7E-4445-A218-3E9682C8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17640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Validated · &gt; 4 modules · APP vector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73025-6597-464E-8BD1-C5CEB7BE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04850"/>
            <a:ext cx="58864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APP extent partitioned into mutually exclusive current and temporal classes.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39FED-D3C1-4FE7-B6CD-03A8BE8D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F6B"/>
          </a:solidFill>
          <a:ln xmlns:a="http://schemas.openxmlformats.org/drawingml/2006/main" w="0">
            <a:solidFill>
              <a:srgbClr val="EC3F6B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6f19d430f248b6"/>
          <a:stretch xmlns:a="http://schemas.openxmlformats.org/drawingml/2006/main"/>
        </p:blipFill>
        <p:spPr>
          <a:xfrm xmlns:a="http://schemas.openxmlformats.org/drawingml/2006/main">
            <a:off x="323850" y="3457873"/>
            <a:ext cx="17640300" cy="396180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CD991-CEF2-42BB-BCCA-91916DA8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753600"/>
            <a:ext cx="3543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Class totals close exactly to mapped APP area.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073ED3-41E6-42E8-B599-CE6C567F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7726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72"/>
                </a:solidFill>
              </a:defRPr>
            </a:pPr>
            <a:r>
              <a:rPr sz="1500" b="1">
                <a:solidFill>
                  <a:srgbClr val="147D72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9726046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">
            <a:extLst xmlns:a="http://schemas.openxmlformats.org/drawingml/2006/main">
              <a:ext uri="{FF2B5EF4-FFF2-40B4-BE49-F238E27FC236}">
                <a16:creationId xmlns:a16="http://schemas.microsoft.com/office/drawing/2014/main" id="{11D81809-5C43-4DC5-AD20-AD3F0D0A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16725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Validated · &gt; 4 modules · calculation chain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C4FB1-0A7C-451B-938D-6C9243DD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90600"/>
            <a:ext cx="66294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Article 68 selects the LR requirement; APP and secondary vegetation remain separate.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39B65-8243-49B4-BEB5-4F298E2B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B5"/>
          </a:solidFill>
          <a:ln xmlns:a="http://schemas.openxmlformats.org/drawingml/2006/main" w="0">
            <a:solidFill>
              <a:srgbClr val="11B8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AFFDB-129C-49F5-857F-54FCE757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165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72"/>
                </a:solidFill>
              </a:defRPr>
            </a:pPr>
            <a:r>
              <a:rPr sz="1500" b="1">
                <a:solidFill>
                  <a:srgbClr val="147D72"/>
                </a:solidFill>
              </a:rPr>
              <a:t>Article 68 requirement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795A0E-6788-46EE-BEF5-4F41AD90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3360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D2A87"/>
                </a:solidFill>
              </a:defRPr>
            </a:pPr>
            <a:r>
              <a:rPr sz="1500">
                <a:solidFill>
                  <a:srgbClr val="3D2A87"/>
                </a:solidFill>
              </a:rPr>
              <a:t>IF vegetation 2000 ≥ historical floor → floor; ELSE → Article 12 ceiling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5F6CBD-42DC-4E69-BF9D-6200ED43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7D72"/>
                </a:solidFill>
              </a:defRPr>
            </a:pPr>
            <a:r>
              <a:rPr sz="1800" b="1">
                <a:solidFill>
                  <a:srgbClr val="147D72"/>
                </a:solidFill>
              </a:rPr>
              <a:t>= 528.44 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F7D9D8-9974-425B-8DD4-F4037723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77165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72"/>
                </a:solidFill>
              </a:defRPr>
            </a:pPr>
            <a:r>
              <a:rPr sz="1500" b="1">
                <a:solidFill>
                  <a:srgbClr val="147D72"/>
                </a:solidFill>
              </a:rPr>
              <a:t>Legal Reserve deficit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C508AD-978B-4476-AC01-1A830AA5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3360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D2A87"/>
                </a:solidFill>
              </a:defRPr>
            </a:pPr>
            <a:r>
              <a:rPr sz="1500">
                <a:solidFill>
                  <a:srgbClr val="3D2A87"/>
                </a:solidFill>
              </a:rPr>
              <a:t>528.44 ha − 133.87 ha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9B4982-ACA1-435A-9284-61D5582A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2415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7D72"/>
                </a:solidFill>
              </a:defRPr>
            </a:pPr>
            <a:r>
              <a:rPr sz="1800" b="1">
                <a:solidFill>
                  <a:srgbClr val="147D72"/>
                </a:solidFill>
              </a:rPr>
              <a:t>= 394.57 ha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62F953-E7F8-4BA9-BB67-8B061253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6730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72"/>
                </a:solidFill>
              </a:defRPr>
            </a:pPr>
            <a:r>
              <a:rPr sz="1500" b="1">
                <a:solidFill>
                  <a:srgbClr val="147D72"/>
                </a:solidFill>
              </a:rPr>
              <a:t>LR pathway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229C9A-93F1-4C9B-9E82-98E1680A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2925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D2A87"/>
                </a:solidFill>
              </a:defRPr>
            </a:pPr>
            <a:r>
              <a:rPr sz="1500">
                <a:solidFill>
                  <a:srgbClr val="3D2A87"/>
                </a:solidFill>
              </a:rPr>
              <a:t>Restore = MIN(post-2008 clearing, LR deficit)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584034-A375-4464-85B7-07581DE0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01980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7D72"/>
                </a:solidFill>
              </a:defRPr>
            </a:pPr>
            <a:r>
              <a:rPr sz="1800" b="1">
                <a:solidFill>
                  <a:srgbClr val="147D72"/>
                </a:solidFill>
              </a:rPr>
              <a:t>= 1.82 ha restore · 392.75 ha compensate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8389BB-364D-40B2-9A04-8F72A76D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6730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72"/>
                </a:solidFill>
              </a:defRPr>
            </a:pPr>
            <a:r>
              <a:rPr sz="1500" b="1">
                <a:solidFill>
                  <a:srgbClr val="147D72"/>
                </a:solidFill>
              </a:rPr>
              <a:t>APP restoration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9C223A-D53B-448E-8C15-3E876291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42925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D2A87"/>
                </a:solidFill>
              </a:defRPr>
            </a:pPr>
            <a:r>
              <a:rPr sz="1500">
                <a:solidFill>
                  <a:srgbClr val="3D2A87"/>
                </a:solidFill>
              </a:rPr>
              <a:t>Pre-2008 component after cap + post-2008 APP clearing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86366D-EDE5-412B-B728-BF17CAB8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01980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7D72"/>
                </a:solidFill>
              </a:defRPr>
            </a:pPr>
            <a:r>
              <a:rPr sz="1800" b="1">
                <a:solidFill>
                  <a:srgbClr val="147D72"/>
                </a:solidFill>
              </a:rPr>
              <a:t>= 40.49 ha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595843-2017-4C34-AF3E-E0BD5432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248650"/>
            <a:ext cx="68770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EC3F6B"/>
                </a:solidFill>
              </a:defRPr>
            </a:pPr>
            <a:r>
              <a:rPr sz="2625" b="1">
                <a:solidFill>
                  <a:srgbClr val="EC3F6B"/>
                </a:solidFill>
              </a:rPr>
              <a:t>BASELINE  435.06 ha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84256C-21B7-4630-9610-92F9E391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8248650"/>
            <a:ext cx="96202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7D72"/>
                </a:solidFill>
              </a:defRPr>
            </a:pPr>
            <a:r>
              <a:rPr sz="2400" b="1">
                <a:solidFill>
                  <a:srgbClr val="147D72"/>
                </a:solidFill>
              </a:rPr>
              <a:t>WITH SECONDARY  340.83 ha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B5C146-B23A-4F3B-9D0E-55F1BF9E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6785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Source: final GTA compliance mega table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F90EBA-4B7D-438B-B40F-B66988BA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0" y="9467850"/>
            <a:ext cx="66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72"/>
                </a:solidFill>
              </a:defRPr>
            </a:pPr>
            <a:r>
              <a:rPr sz="1500" b="1">
                <a:solidFill>
                  <a:srgbClr val="147D72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3952124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8">
            <a:extLst xmlns:a="http://schemas.openxmlformats.org/drawingml/2006/main">
              <a:ext uri="{FF2B5EF4-FFF2-40B4-BE49-F238E27FC236}">
                <a16:creationId xmlns:a16="http://schemas.microsoft.com/office/drawing/2014/main" id="{642A8186-41BA-47CC-B467-0C96EB45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7373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Validated · ≤ 4 modules · property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A2D2E5-F947-4EC7-8C49-92AEC5AC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46291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1.39 fiscal modules · GTA direct supplier · 36 slaughter cattle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043185-1822-4360-8328-4F7ED16D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F6B"/>
          </a:solidFill>
          <a:ln xmlns:a="http://schemas.openxmlformats.org/drawingml/2006/main" w="0">
            <a:solidFill>
              <a:srgbClr val="EC3F6B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2f305720da472b"/>
          <a:stretch xmlns:a="http://schemas.openxmlformats.org/drawingml/2006/main"/>
        </p:blipFill>
        <p:spPr>
          <a:xfrm xmlns:a="http://schemas.openxmlformats.org/drawingml/2006/main">
            <a:off x="1897298" y="1304925"/>
            <a:ext cx="9448012" cy="78771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210C3-98BF-49B2-86B5-B4FAC78F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180975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Property area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A0665E-AB2D-458C-8847-45182B27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180975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C94C"/>
                </a:solidFill>
              </a:defRPr>
            </a:pPr>
            <a:r>
              <a:rPr sz="1650" b="1">
                <a:solidFill>
                  <a:srgbClr val="F2C94C"/>
                </a:solidFill>
              </a:rPr>
              <a:t>111.27 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2A8CE5-421D-48BC-960E-724138E8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312420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Forest formation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E60ADC-5F92-4781-8CBB-10876156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312420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C94C"/>
                </a:solidFill>
              </a:defRPr>
            </a:pPr>
            <a:r>
              <a:rPr sz="1650" b="1">
                <a:solidFill>
                  <a:srgbClr val="F2C94C"/>
                </a:solidFill>
              </a:rPr>
              <a:t>95.53 ha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6E5FFA-003D-40D8-93A9-29D5EEF0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443865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Cerrado formation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E251C0-A7E8-432D-AEF5-CEABB258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443865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C94C"/>
                </a:solidFill>
              </a:defRPr>
            </a:pPr>
            <a:r>
              <a:rPr sz="1650" b="1">
                <a:solidFill>
                  <a:srgbClr val="F2C94C"/>
                </a:solidFill>
              </a:rPr>
              <a:t>15.73 ha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94A769-1F85-40C0-AB1D-DA2BBF17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575310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Current native vegetation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A5FC4C-B319-4ACA-B017-8FF3AC57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575310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C94C"/>
                </a:solidFill>
              </a:defRPr>
            </a:pPr>
            <a:r>
              <a:rPr sz="1650" b="1">
                <a:solidFill>
                  <a:srgbClr val="F2C94C"/>
                </a:solidFill>
              </a:rPr>
              <a:t>16.40 ha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B824FC-4F18-422D-AE5A-1385A87A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706755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Baseline liability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38FE20-D96F-45E1-B9A9-8B577793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706755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C94C"/>
                </a:solidFill>
              </a:defRPr>
            </a:pPr>
            <a:r>
              <a:rPr sz="1650" b="1">
                <a:solidFill>
                  <a:srgbClr val="F2C94C"/>
                </a:solidFill>
              </a:rPr>
              <a:t>79.54 ha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EED563-70D0-4239-B37F-0813E952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838200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With secondary vegetation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29B64D-64C3-4BDC-9BA4-7AEEC974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838200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C94C"/>
                </a:solidFill>
              </a:defRPr>
            </a:pPr>
            <a:r>
              <a:rPr sz="1650" b="1">
                <a:solidFill>
                  <a:srgbClr val="F2C94C"/>
                </a:solidFill>
              </a:rPr>
              <a:t>78.14 ha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2C8C37-BFAD-41BC-B787-098EC89E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277350"/>
            <a:ext cx="17373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CAR: MT-5106257-60F736EB772F4CF6A460A8D0BE0ADCBB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B8F051-B70B-4C25-BC22-A559C2D0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9645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Source: final GTA compliance mega table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EE9725-E651-466E-80D8-5AE336B0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4050" y="9696450"/>
            <a:ext cx="66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72"/>
                </a:solidFill>
              </a:defRPr>
            </a:pPr>
            <a:r>
              <a:rPr sz="1500" b="1">
                <a:solidFill>
                  <a:srgbClr val="147D72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775256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">
            <a:extLst xmlns:a="http://schemas.openxmlformats.org/drawingml/2006/main">
              <a:ext uri="{FF2B5EF4-FFF2-40B4-BE49-F238E27FC236}">
                <a16:creationId xmlns:a16="http://schemas.microsoft.com/office/drawing/2014/main" id="{AF59A009-493C-4A47-A513-09BB1711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17640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Validated · ≤ 4 modules · Legal Reserve vector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C5A48F-44E7-4D67-9D4A-66B12306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04850"/>
            <a:ext cx="4762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RADAM, current native vegetation, and secondary vegetation.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0DB515-2D3A-4C6F-BD18-5FFC225A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B5"/>
          </a:solidFill>
          <a:ln xmlns:a="http://schemas.openxmlformats.org/drawingml/2006/main" w="0">
            <a:solidFill>
              <a:srgbClr val="11B8B5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c1347ca4da4cde"/>
          <a:stretch xmlns:a="http://schemas.openxmlformats.org/drawingml/2006/main"/>
        </p:blipFill>
        <p:spPr>
          <a:xfrm xmlns:a="http://schemas.openxmlformats.org/drawingml/2006/main">
            <a:off x="323850" y="3179692"/>
            <a:ext cx="17640300" cy="451816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14F144-F82B-4256-8E5B-FAC45965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753600"/>
            <a:ext cx="3543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Class totals close exactly to mapped APP area.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DBCF5C-CD48-4A08-95B1-C61156A6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7726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72"/>
                </a:solidFill>
              </a:defRPr>
            </a:pPr>
            <a:r>
              <a:rPr sz="1500" b="1">
                <a:solidFill>
                  <a:srgbClr val="147D72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5614379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">
            <a:extLst xmlns:a="http://schemas.openxmlformats.org/drawingml/2006/main">
              <a:ext uri="{FF2B5EF4-FFF2-40B4-BE49-F238E27FC236}">
                <a16:creationId xmlns:a16="http://schemas.microsoft.com/office/drawing/2014/main" id="{B4DEC42D-BD09-4E4E-8083-1B851B58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17640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Validated · ≤ 4 modules · Temporal vector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0DBB7B-0349-43C3-A313-0AB244D6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04850"/>
            <a:ext cx="48768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The 2000 and 2008 cut-offs and post-2008 alternative land use.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636614-E790-46D8-98A2-217C6C99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F6B"/>
          </a:solidFill>
          <a:ln xmlns:a="http://schemas.openxmlformats.org/drawingml/2006/main" w="0">
            <a:solidFill>
              <a:srgbClr val="EC3F6B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177754334d47e0"/>
          <a:stretch xmlns:a="http://schemas.openxmlformats.org/drawingml/2006/main"/>
        </p:blipFill>
        <p:spPr>
          <a:xfrm xmlns:a="http://schemas.openxmlformats.org/drawingml/2006/main">
            <a:off x="323850" y="3179692"/>
            <a:ext cx="17640300" cy="451816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25D5B-53C8-44C3-AF4B-D444D760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753600"/>
            <a:ext cx="3543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Class totals close exactly to mapped APP area.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8B4EE4-1A80-4087-8DEE-EB392E99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7726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72"/>
                </a:solidFill>
              </a:defRPr>
            </a:pPr>
            <a:r>
              <a:rPr sz="1500" b="1">
                <a:solidFill>
                  <a:srgbClr val="147D72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87334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1">
            <a:extLst xmlns:a="http://schemas.openxmlformats.org/drawingml/2006/main">
              <a:ext uri="{FF2B5EF4-FFF2-40B4-BE49-F238E27FC236}">
                <a16:creationId xmlns:a16="http://schemas.microsoft.com/office/drawing/2014/main" id="{995FC53E-A58A-4B48-B34F-50B5CE5E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17640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Validated · ≤ 4 modules · APP vector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A29397-24D2-4302-AA85-B75391CD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04850"/>
            <a:ext cx="58864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APP extent partitioned into mutually exclusive current and temporal classes.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3E610F-BE4A-41DA-AC97-0B1DD80D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B5"/>
          </a:solidFill>
          <a:ln xmlns:a="http://schemas.openxmlformats.org/drawingml/2006/main" w="0">
            <a:solidFill>
              <a:srgbClr val="11B8B5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852ee609d344ce"/>
          <a:stretch xmlns:a="http://schemas.openxmlformats.org/drawingml/2006/main"/>
        </p:blipFill>
        <p:spPr>
          <a:xfrm xmlns:a="http://schemas.openxmlformats.org/drawingml/2006/main">
            <a:off x="323850" y="3328540"/>
            <a:ext cx="17640300" cy="422047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7DF152-2B8D-4926-AF9D-E22092FE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753600"/>
            <a:ext cx="3543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Class totals close exactly to mapped APP area.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3F2CE-B0B7-4041-B99F-95416E4C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7726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72"/>
                </a:solidFill>
              </a:defRPr>
            </a:pPr>
            <a:r>
              <a:rPr sz="1500" b="1">
                <a:solidFill>
                  <a:srgbClr val="147D72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2791793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">
            <a:extLst xmlns:a="http://schemas.openxmlformats.org/drawingml/2006/main">
              <a:ext uri="{FF2B5EF4-FFF2-40B4-BE49-F238E27FC236}">
                <a16:creationId xmlns:a16="http://schemas.microsoft.com/office/drawing/2014/main" id="{6469DD65-6F75-4203-9269-8A3C8D01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16725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Validated · ≤ 4 modules · calculation chain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080CF-0E1C-48FA-B60B-50F42EE4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90600"/>
            <a:ext cx="66294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Article 67 selects the LR requirement; APP and secondary vegetation remain separate.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B79CF-4E93-477D-9EBC-6BB58529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F6B"/>
          </a:solidFill>
          <a:ln xmlns:a="http://schemas.openxmlformats.org/drawingml/2006/main" w="0">
            <a:solidFill>
              <a:srgbClr val="EC3F6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33E00C-B59C-49C8-A7AD-15DEA12B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165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2C94C"/>
                </a:solidFill>
              </a:defRPr>
            </a:pPr>
            <a:r>
              <a:rPr sz="1500" b="1">
                <a:solidFill>
                  <a:srgbClr val="F2C94C"/>
                </a:solidFill>
              </a:rPr>
              <a:t>Article 67 requirement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5D73EF-1674-410C-A023-F832CAF3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3360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D2A87"/>
                </a:solidFill>
              </a:defRPr>
            </a:pPr>
            <a:r>
              <a:rPr sz="1500">
                <a:solidFill>
                  <a:srgbClr val="3D2A87"/>
                </a:solidFill>
              </a:rPr>
              <a:t>MIN(Article 12 ceiling, vegetation in 2008)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A777D-BF3E-442C-9A9A-3D5A47E3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C94C"/>
                </a:solidFill>
              </a:defRPr>
            </a:pPr>
            <a:r>
              <a:rPr sz="1800" b="1">
                <a:solidFill>
                  <a:srgbClr val="F2C94C"/>
                </a:solidFill>
              </a:rPr>
              <a:t>= 80.18 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DA0F8F-7D0D-45C3-8073-6854DFF9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77165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2C94C"/>
                </a:solidFill>
              </a:defRPr>
            </a:pPr>
            <a:r>
              <a:rPr sz="1500" b="1">
                <a:solidFill>
                  <a:srgbClr val="F2C94C"/>
                </a:solidFill>
              </a:rPr>
              <a:t>Legal Reserve deficit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26AF7B-793C-4FC6-8D71-5BA45F12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3360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D2A87"/>
                </a:solidFill>
              </a:defRPr>
            </a:pPr>
            <a:r>
              <a:rPr sz="1500">
                <a:solidFill>
                  <a:srgbClr val="3D2A87"/>
                </a:solidFill>
              </a:rPr>
              <a:t>80.18 ha − 16.40 ha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530AFC-8C22-4175-ABF6-85BFA11C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2415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C94C"/>
                </a:solidFill>
              </a:defRPr>
            </a:pPr>
            <a:r>
              <a:rPr sz="1800" b="1">
                <a:solidFill>
                  <a:srgbClr val="F2C94C"/>
                </a:solidFill>
              </a:rPr>
              <a:t>= 63.78 ha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9F76BE-50CA-4FC2-8C76-D1CD4BB3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6730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2C94C"/>
                </a:solidFill>
              </a:defRPr>
            </a:pPr>
            <a:r>
              <a:rPr sz="1500" b="1">
                <a:solidFill>
                  <a:srgbClr val="F2C94C"/>
                </a:solidFill>
              </a:rPr>
              <a:t>LR pathway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41A817-38F4-41A3-B94B-E37A6D04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2925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D2A87"/>
                </a:solidFill>
              </a:defRPr>
            </a:pPr>
            <a:r>
              <a:rPr sz="1500">
                <a:solidFill>
                  <a:srgbClr val="3D2A87"/>
                </a:solidFill>
              </a:rPr>
              <a:t>Restore = MIN(post-2008 clearing, LR deficit)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CB22F9-C2BA-4AFA-92E9-23121384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01980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C94C"/>
                </a:solidFill>
              </a:defRPr>
            </a:pPr>
            <a:r>
              <a:rPr sz="1800" b="1">
                <a:solidFill>
                  <a:srgbClr val="F2C94C"/>
                </a:solidFill>
              </a:rPr>
              <a:t>= 58.79 ha restore · 4.98 ha compensate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98B80E-0878-4100-A6EB-2BEECD7C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6730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2C94C"/>
                </a:solidFill>
              </a:defRPr>
            </a:pPr>
            <a:r>
              <a:rPr sz="1500" b="1">
                <a:solidFill>
                  <a:srgbClr val="F2C94C"/>
                </a:solidFill>
              </a:rPr>
              <a:t>APP restoration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BE4739-474D-4988-8DEF-1699F071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42925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D2A87"/>
                </a:solidFill>
              </a:defRPr>
            </a:pPr>
            <a:r>
              <a:rPr sz="1500">
                <a:solidFill>
                  <a:srgbClr val="3D2A87"/>
                </a:solidFill>
              </a:rPr>
              <a:t>Pre-2008 component after cap + post-2008 APP clearing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9EEAB8-176B-42E9-A7CD-5DF65BD2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01980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C94C"/>
                </a:solidFill>
              </a:defRPr>
            </a:pPr>
            <a:r>
              <a:rPr sz="1800" b="1">
                <a:solidFill>
                  <a:srgbClr val="F2C94C"/>
                </a:solidFill>
              </a:rPr>
              <a:t>= 15.76 ha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16F30D-2994-4F18-B436-35539C02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248650"/>
            <a:ext cx="68770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EC3F6B"/>
                </a:solidFill>
              </a:defRPr>
            </a:pPr>
            <a:r>
              <a:rPr sz="2625" b="1">
                <a:solidFill>
                  <a:srgbClr val="EC3F6B"/>
                </a:solidFill>
              </a:rPr>
              <a:t>BASELINE  79.54 ha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F821EF-61DD-458A-B7E7-6FB7F77C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8248650"/>
            <a:ext cx="96202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7D72"/>
                </a:solidFill>
              </a:defRPr>
            </a:pPr>
            <a:r>
              <a:rPr sz="2400" b="1">
                <a:solidFill>
                  <a:srgbClr val="147D72"/>
                </a:solidFill>
              </a:rPr>
              <a:t>WITH SECONDARY  78.14 ha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24A0BA-DC35-4E6C-B85E-A6497737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6785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Source: final GTA compliance mega table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BE587F-8822-4299-8929-70DD0BFE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0" y="9467850"/>
            <a:ext cx="66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72"/>
                </a:solidFill>
              </a:defRPr>
            </a:pPr>
            <a:r>
              <a:rPr sz="1500" b="1">
                <a:solidFill>
                  <a:srgbClr val="147D72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4105251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">
            <a:extLst xmlns:a="http://schemas.openxmlformats.org/drawingml/2006/main">
              <a:ext uri="{FF2B5EF4-FFF2-40B4-BE49-F238E27FC236}">
                <a16:creationId xmlns:a16="http://schemas.microsoft.com/office/drawing/2014/main" id="{D2662224-E910-4032-935D-1BF34D6D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7373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Digital · &gt; 4 modules · property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1C5299-9D88-45A4-987B-BBB6EFF1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49720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19.54 fiscal modules · GTA direct supplier · 2,131 slaughter cattle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2BE283-3F29-4C73-86FE-B12301D7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B5"/>
          </a:solidFill>
          <a:ln xmlns:a="http://schemas.openxmlformats.org/drawingml/2006/main" w="0">
            <a:solidFill>
              <a:srgbClr val="11B8B5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3ea29161de4f1a"/>
          <a:stretch xmlns:a="http://schemas.openxmlformats.org/drawingml/2006/main"/>
        </p:blipFill>
        <p:spPr>
          <a:xfrm xmlns:a="http://schemas.openxmlformats.org/drawingml/2006/main">
            <a:off x="3068698" y="1304925"/>
            <a:ext cx="7105212" cy="78771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51F2E6-3EEB-430A-B2F1-6091D980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180975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Property area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379C2D-1B6A-4675-8423-D55AD6AC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180975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7D72"/>
                </a:solidFill>
              </a:defRPr>
            </a:pPr>
            <a:r>
              <a:rPr sz="1650" b="1">
                <a:solidFill>
                  <a:srgbClr val="147D72"/>
                </a:solidFill>
              </a:rPr>
              <a:t>1,564.00 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D47BE0-EF80-4C79-A1D2-7017EBCF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312420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Forest formation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6C2C51-6145-4A82-B6E5-15F2CF49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312420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7D72"/>
                </a:solidFill>
              </a:defRPr>
            </a:pPr>
            <a:r>
              <a:rPr sz="1650" b="1">
                <a:solidFill>
                  <a:srgbClr val="147D72"/>
                </a:solidFill>
              </a:rPr>
              <a:t>1,502.11 ha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861ECC-559F-4EAF-9C4D-3AD90BAA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443865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Cerrado formation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344F8D-34AD-400E-9630-67A91D31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443865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7D72"/>
                </a:solidFill>
              </a:defRPr>
            </a:pPr>
            <a:r>
              <a:rPr sz="1650" b="1">
                <a:solidFill>
                  <a:srgbClr val="147D72"/>
                </a:solidFill>
              </a:rPr>
              <a:t>61.89 ha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5C1A3A-147C-4D47-A46C-84A1141F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575310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Current native vegetation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CCA0E6-2F58-44C1-94CE-F26414E4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575310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7D72"/>
                </a:solidFill>
              </a:defRPr>
            </a:pPr>
            <a:r>
              <a:rPr sz="1650" b="1">
                <a:solidFill>
                  <a:srgbClr val="147D72"/>
                </a:solidFill>
              </a:rPr>
              <a:t>162.98 ha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8A5785-E706-40BA-B2FC-55CEEF2C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706755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Baseline liability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29CF6A-41D5-4728-B862-A61FFABA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706755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7D72"/>
                </a:solidFill>
              </a:defRPr>
            </a:pPr>
            <a:r>
              <a:rPr sz="1650" b="1">
                <a:solidFill>
                  <a:srgbClr val="147D72"/>
                </a:solidFill>
              </a:rPr>
              <a:t>1,146.59 ha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7D9451-D212-49AA-942A-52A9BD3A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838200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With secondary vegetation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6F1FFA-1D87-448C-B88F-A47D24DC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838200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7D72"/>
                </a:solidFill>
              </a:defRPr>
            </a:pPr>
            <a:r>
              <a:rPr sz="1650" b="1">
                <a:solidFill>
                  <a:srgbClr val="147D72"/>
                </a:solidFill>
              </a:rPr>
              <a:t>999.45 ha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D20115-7C4D-4528-BAC3-A7FD64E1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277350"/>
            <a:ext cx="17373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CAR: MT-5107750-3D69A53C7D644B4098DE759BD0FE2AF1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09981F-9646-4962-B1C4-2B58B746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9645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Source: final GTA compliance mega table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07D0BE-23CF-4724-A520-2C3E57ED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4050" y="9696450"/>
            <a:ext cx="66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72"/>
                </a:solidFill>
              </a:defRPr>
            </a:pPr>
            <a:r>
              <a:rPr sz="1500" b="1">
                <a:solidFill>
                  <a:srgbClr val="147D72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874661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4">
            <a:extLst xmlns:a="http://schemas.openxmlformats.org/drawingml/2006/main">
              <a:ext uri="{FF2B5EF4-FFF2-40B4-BE49-F238E27FC236}">
                <a16:creationId xmlns:a16="http://schemas.microsoft.com/office/drawing/2014/main" id="{2CD74C20-0CA3-4398-9303-0EF25DCF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17640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Digital · &gt; 4 modules · Legal Reserve vector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CD1910-8260-4CD5-A340-D266D6A3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04850"/>
            <a:ext cx="4762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RADAM, current native vegetation, and secondary vegetation.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8C5FFB-00D6-41DA-8468-3F8D9F26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F6B"/>
          </a:solidFill>
          <a:ln xmlns:a="http://schemas.openxmlformats.org/drawingml/2006/main" w="0">
            <a:solidFill>
              <a:srgbClr val="EC3F6B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d1c49fb0a14a23"/>
          <a:stretch xmlns:a="http://schemas.openxmlformats.org/drawingml/2006/main"/>
        </p:blipFill>
        <p:spPr>
          <a:xfrm xmlns:a="http://schemas.openxmlformats.org/drawingml/2006/main">
            <a:off x="323850" y="3113103"/>
            <a:ext cx="17640300" cy="465134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51B64D-F131-4CE8-89B5-C4E788F0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753600"/>
            <a:ext cx="3543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Class totals close exactly to mapped APP area.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B4189-6DAE-4FDD-871E-EDB0551C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7726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72"/>
                </a:solidFill>
              </a:defRPr>
            </a:pPr>
            <a:r>
              <a:rPr sz="1500" b="1">
                <a:solidFill>
                  <a:srgbClr val="147D72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3794396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CE84CC43-EE49-4952-B093-A2CA3156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17640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Digital · &gt; 4 modules · Temporal vector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6111AF-0FFB-4CE6-B6E6-7F23BD29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04850"/>
            <a:ext cx="48768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The 2000 and 2008 cut-offs and post-2008 alternative land use.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DC491-D931-4D3C-AA88-15E50BDF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B5"/>
          </a:solidFill>
          <a:ln xmlns:a="http://schemas.openxmlformats.org/drawingml/2006/main" w="0">
            <a:solidFill>
              <a:srgbClr val="11B8B5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848d4074ba4703"/>
          <a:stretch xmlns:a="http://schemas.openxmlformats.org/drawingml/2006/main"/>
        </p:blipFill>
        <p:spPr>
          <a:xfrm xmlns:a="http://schemas.openxmlformats.org/drawingml/2006/main">
            <a:off x="323850" y="3244002"/>
            <a:ext cx="17640300" cy="438954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5A220C-E043-4170-816B-BDBCBEAB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753600"/>
            <a:ext cx="3543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Class totals close exactly to mapped APP area.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5AB72B-3F6A-4A9C-A6D6-B673BA42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7726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72"/>
                </a:solidFill>
              </a:defRPr>
            </a:pPr>
            <a:r>
              <a:rPr sz="1500" b="1">
                <a:solidFill>
                  <a:srgbClr val="147D72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5752784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6">
            <a:extLst xmlns:a="http://schemas.openxmlformats.org/drawingml/2006/main">
              <a:ext uri="{FF2B5EF4-FFF2-40B4-BE49-F238E27FC236}">
                <a16:creationId xmlns:a16="http://schemas.microsoft.com/office/drawing/2014/main" id="{0BB9795A-E3C4-4625-8363-D0D216CE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17640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Digital · &gt; 4 modules · APP vector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557C95-BEAD-4793-B1A7-C4CF11FD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04850"/>
            <a:ext cx="58864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APP extent partitioned into mutually exclusive current and temporal classes.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55D93-783B-45DA-BE39-8084015F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F6B"/>
          </a:solidFill>
          <a:ln xmlns:a="http://schemas.openxmlformats.org/drawingml/2006/main" w="0">
            <a:solidFill>
              <a:srgbClr val="EC3F6B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d2420b05a64228"/>
          <a:stretch xmlns:a="http://schemas.openxmlformats.org/drawingml/2006/main"/>
        </p:blipFill>
        <p:spPr>
          <a:xfrm xmlns:a="http://schemas.openxmlformats.org/drawingml/2006/main">
            <a:off x="323850" y="3495471"/>
            <a:ext cx="17640300" cy="388660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5E3A1B-1C85-4418-A016-3CE2305B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753600"/>
            <a:ext cx="3543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Class totals close exactly to mapped APP area.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24FE9E-95F5-4C18-98AE-107C0AA3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7726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72"/>
                </a:solidFill>
              </a:defRPr>
            </a:pPr>
            <a:r>
              <a:rPr sz="1500" b="1">
                <a:solidFill>
                  <a:srgbClr val="147D72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91720523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7">
            <a:extLst xmlns:a="http://schemas.openxmlformats.org/drawingml/2006/main">
              <a:ext uri="{FF2B5EF4-FFF2-40B4-BE49-F238E27FC236}">
                <a16:creationId xmlns:a16="http://schemas.microsoft.com/office/drawing/2014/main" id="{BA085374-EF35-4C92-AEE8-B25F9B96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16725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Digital · &gt; 4 modules · calculation chain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C2361-476D-4BBD-A667-9D60C096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90600"/>
            <a:ext cx="66294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Article 68 selects the LR requirement; APP and secondary vegetation remain separate.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5D0B56-E20D-46F1-BF68-8B4740DA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B5"/>
          </a:solidFill>
          <a:ln xmlns:a="http://schemas.openxmlformats.org/drawingml/2006/main" w="0">
            <a:solidFill>
              <a:srgbClr val="11B8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B27F8A-E0D2-4E8A-9EEF-8331E81B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165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72"/>
                </a:solidFill>
              </a:defRPr>
            </a:pPr>
            <a:r>
              <a:rPr sz="1500" b="1">
                <a:solidFill>
                  <a:srgbClr val="147D72"/>
                </a:solidFill>
              </a:rPr>
              <a:t>Article 68 requirement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44AED4-496C-4343-83C1-7C27A707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3360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D2A87"/>
                </a:solidFill>
              </a:defRPr>
            </a:pPr>
            <a:r>
              <a:rPr sz="1500">
                <a:solidFill>
                  <a:srgbClr val="3D2A87"/>
                </a:solidFill>
              </a:rPr>
              <a:t>IF vegetation 2000 ≥ historical floor → floor; ELSE → Article 12 ceiling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5B07B7-F989-4390-A820-92199147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7D72"/>
                </a:solidFill>
              </a:defRPr>
            </a:pPr>
            <a:r>
              <a:rPr sz="1800" b="1">
                <a:solidFill>
                  <a:srgbClr val="147D72"/>
                </a:solidFill>
              </a:rPr>
              <a:t>= 1,223.35 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7EAF20-E66F-4014-AAE0-4E144331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77165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72"/>
                </a:solidFill>
              </a:defRPr>
            </a:pPr>
            <a:r>
              <a:rPr sz="1500" b="1">
                <a:solidFill>
                  <a:srgbClr val="147D72"/>
                </a:solidFill>
              </a:rPr>
              <a:t>Legal Reserve deficit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E97501-9068-4236-B5A3-5AE1DA43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3360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D2A87"/>
                </a:solidFill>
              </a:defRPr>
            </a:pPr>
            <a:r>
              <a:rPr sz="1500">
                <a:solidFill>
                  <a:srgbClr val="3D2A87"/>
                </a:solidFill>
              </a:rPr>
              <a:t>1,223.35 ha − 162.98 ha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A3FFDB-C23E-415C-BF35-AED72B6C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2415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7D72"/>
                </a:solidFill>
              </a:defRPr>
            </a:pPr>
            <a:r>
              <a:rPr sz="1800" b="1">
                <a:solidFill>
                  <a:srgbClr val="147D72"/>
                </a:solidFill>
              </a:rPr>
              <a:t>= 1,060.36 ha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1D6E4B-7A6C-4566-AFAE-F22B12DE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6730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72"/>
                </a:solidFill>
              </a:defRPr>
            </a:pPr>
            <a:r>
              <a:rPr sz="1500" b="1">
                <a:solidFill>
                  <a:srgbClr val="147D72"/>
                </a:solidFill>
              </a:rPr>
              <a:t>LR pathway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AA601C-1960-42BD-8DC9-B9D1CDD1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2925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D2A87"/>
                </a:solidFill>
              </a:defRPr>
            </a:pPr>
            <a:r>
              <a:rPr sz="1500">
                <a:solidFill>
                  <a:srgbClr val="3D2A87"/>
                </a:solidFill>
              </a:rPr>
              <a:t>Restore = MIN(post-2008 clearing, LR deficit)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C7FF5C-A535-4AED-8CAF-B3944182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01980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7D72"/>
                </a:solidFill>
              </a:defRPr>
            </a:pPr>
            <a:r>
              <a:rPr sz="1800" b="1">
                <a:solidFill>
                  <a:srgbClr val="147D72"/>
                </a:solidFill>
              </a:rPr>
              <a:t>= 0.07 ha restore · 1,060.29 ha compensate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58C2D1-8994-45B4-B31E-F73AA4E1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6730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72"/>
                </a:solidFill>
              </a:defRPr>
            </a:pPr>
            <a:r>
              <a:rPr sz="1500" b="1">
                <a:solidFill>
                  <a:srgbClr val="147D72"/>
                </a:solidFill>
              </a:rPr>
              <a:t>APP restoration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DA6EE3-6FE7-4882-B719-0F5BBE65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42925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D2A87"/>
                </a:solidFill>
              </a:defRPr>
            </a:pPr>
            <a:r>
              <a:rPr sz="1500">
                <a:solidFill>
                  <a:srgbClr val="3D2A87"/>
                </a:solidFill>
              </a:rPr>
              <a:t>Pre-2008 component after cap + post-2008 APP clearing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184F36-A60E-45B9-B159-D065E12C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01980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7D72"/>
                </a:solidFill>
              </a:defRPr>
            </a:pPr>
            <a:r>
              <a:rPr sz="1800" b="1">
                <a:solidFill>
                  <a:srgbClr val="147D72"/>
                </a:solidFill>
              </a:rPr>
              <a:t>= 86.22 ha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32C597-111E-41A7-9E11-0541B90C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248650"/>
            <a:ext cx="68770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EC3F6B"/>
                </a:solidFill>
              </a:defRPr>
            </a:pPr>
            <a:r>
              <a:rPr sz="2625" b="1">
                <a:solidFill>
                  <a:srgbClr val="EC3F6B"/>
                </a:solidFill>
              </a:rPr>
              <a:t>BASELINE  1,146.59 ha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8C864D-B2DB-49C5-A292-5E69CB8E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8248650"/>
            <a:ext cx="96202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7D72"/>
                </a:solidFill>
              </a:defRPr>
            </a:pPr>
            <a:r>
              <a:rPr sz="2400" b="1">
                <a:solidFill>
                  <a:srgbClr val="147D72"/>
                </a:solidFill>
              </a:rPr>
              <a:t>WITH SECONDARY  999.45 ha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92A325-A78C-441A-B6CB-C386A743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6785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Source: final GTA compliance mega table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6CA7C4-62F1-4214-A548-38DC4C88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0" y="9467850"/>
            <a:ext cx="66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72"/>
                </a:solidFill>
              </a:defRPr>
            </a:pPr>
            <a:r>
              <a:rPr sz="1500" b="1">
                <a:solidFill>
                  <a:srgbClr val="147D72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6918117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8">
            <a:extLst xmlns:a="http://schemas.openxmlformats.org/drawingml/2006/main">
              <a:ext uri="{FF2B5EF4-FFF2-40B4-BE49-F238E27FC236}">
                <a16:creationId xmlns:a16="http://schemas.microsoft.com/office/drawing/2014/main" id="{05C9AAE6-1691-47D6-9A9A-9387DDDF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7373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Digital · ≤ 4 modules · property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83C5EB-4A52-40A6-8A48-1B76B3FB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47434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3.54 fiscal modules · GTA direct supplier · 588 slaughter cattle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5D37C7-6FA2-493E-8999-E468B467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F6B"/>
          </a:solidFill>
          <a:ln xmlns:a="http://schemas.openxmlformats.org/drawingml/2006/main" w="0">
            <a:solidFill>
              <a:srgbClr val="EC3F6B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de295a429144fb"/>
          <a:stretch xmlns:a="http://schemas.openxmlformats.org/drawingml/2006/main"/>
        </p:blipFill>
        <p:spPr>
          <a:xfrm xmlns:a="http://schemas.openxmlformats.org/drawingml/2006/main">
            <a:off x="2533050" y="1304925"/>
            <a:ext cx="8176508" cy="78771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60BE5E-DDB6-4B8C-AB14-ADE85546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180975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Property area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45118-B2ED-4AE4-8907-006A2E2E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180975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C94C"/>
                </a:solidFill>
              </a:defRPr>
            </a:pPr>
            <a:r>
              <a:rPr sz="1650" b="1">
                <a:solidFill>
                  <a:srgbClr val="F2C94C"/>
                </a:solidFill>
              </a:rPr>
              <a:t>283.08 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F136B2-EA5B-49D8-911A-0ADB59BE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312420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Forest formation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564E5E-37AE-430A-BAF7-620B7D4C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312420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C94C"/>
                </a:solidFill>
              </a:defRPr>
            </a:pPr>
            <a:r>
              <a:rPr sz="1650" b="1">
                <a:solidFill>
                  <a:srgbClr val="F2C94C"/>
                </a:solidFill>
              </a:rPr>
              <a:t>127.12 ha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372375-8831-42C7-969D-EC437AE7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443865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Cerrado formation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C45BCD-5D4A-4DE6-8C97-41F80BA9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443865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C94C"/>
                </a:solidFill>
              </a:defRPr>
            </a:pPr>
            <a:r>
              <a:rPr sz="1650" b="1">
                <a:solidFill>
                  <a:srgbClr val="F2C94C"/>
                </a:solidFill>
              </a:rPr>
              <a:t>155.96 ha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32F865-336E-42A2-8C99-1ACAA2CE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575310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Current native vegetation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FF7C2F-40F4-4715-8F75-E6AF6004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575310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C94C"/>
                </a:solidFill>
              </a:defRPr>
            </a:pPr>
            <a:r>
              <a:rPr sz="1650" b="1">
                <a:solidFill>
                  <a:srgbClr val="F2C94C"/>
                </a:solidFill>
              </a:rPr>
              <a:t>52.15 ha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9EF2BF-899D-4EE4-9970-F8399E9A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706755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Baseline liability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A0A493-9B33-42DC-817C-A421FF29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706755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C94C"/>
                </a:solidFill>
              </a:defRPr>
            </a:pPr>
            <a:r>
              <a:rPr sz="1650" b="1">
                <a:solidFill>
                  <a:srgbClr val="F2C94C"/>
                </a:solidFill>
              </a:rPr>
              <a:t>107.44 ha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ECB9DD-4E30-4640-BAC8-D5C1554A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838200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With secondary vegetation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BB6444-9D3B-488B-A0E4-1C6C20E0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838200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C94C"/>
                </a:solidFill>
              </a:defRPr>
            </a:pPr>
            <a:r>
              <a:rPr sz="1650" b="1">
                <a:solidFill>
                  <a:srgbClr val="F2C94C"/>
                </a:solidFill>
              </a:rPr>
              <a:t>79.58 ha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3DB8DB-A387-4FEC-AB43-99DC12D9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277350"/>
            <a:ext cx="17373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CAR: MT-5102603-D132829CFF784C919A4FA35C7A5F32A5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07C899-645F-48B6-81E2-285740DD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9645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Source: final GTA compliance mega table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BD23E3-0A01-40BB-AA2F-3247EBE5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4050" y="9696450"/>
            <a:ext cx="66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72"/>
                </a:solidFill>
              </a:defRPr>
            </a:pPr>
            <a:r>
              <a:rPr sz="1500" b="1">
                <a:solidFill>
                  <a:srgbClr val="147D72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53593855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9">
            <a:extLst xmlns:a="http://schemas.openxmlformats.org/drawingml/2006/main">
              <a:ext uri="{FF2B5EF4-FFF2-40B4-BE49-F238E27FC236}">
                <a16:creationId xmlns:a16="http://schemas.microsoft.com/office/drawing/2014/main" id="{9B4E425A-D8CE-435C-A6EF-49D63C3D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17640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Digital · ≤ 4 modules · Legal Reserve vector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9E7D2E-F08A-4B20-A9BF-C1A93D0B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04850"/>
            <a:ext cx="4762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RADAM, current native vegetation, and secondary vegetation.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896A12-BC6D-4750-ABF6-D0CBFA65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B5"/>
          </a:solidFill>
          <a:ln xmlns:a="http://schemas.openxmlformats.org/drawingml/2006/main" w="0">
            <a:solidFill>
              <a:srgbClr val="11B8B5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76336bd2b43f9"/>
          <a:stretch xmlns:a="http://schemas.openxmlformats.org/drawingml/2006/main"/>
        </p:blipFill>
        <p:spPr>
          <a:xfrm xmlns:a="http://schemas.openxmlformats.org/drawingml/2006/main">
            <a:off x="323850" y="3158103"/>
            <a:ext cx="17640300" cy="456134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3333B7-F5B2-4AE9-9806-1A298FF9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753600"/>
            <a:ext cx="3543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Class totals close exactly to mapped APP area.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66D4B8-83E5-4DCE-86F6-8E924459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7726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72"/>
                </a:solidFill>
              </a:defRPr>
            </a:pPr>
            <a:r>
              <a:rPr sz="1500" b="1">
                <a:solidFill>
                  <a:srgbClr val="147D72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94158590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0">
            <a:extLst xmlns:a="http://schemas.openxmlformats.org/drawingml/2006/main">
              <a:ext uri="{FF2B5EF4-FFF2-40B4-BE49-F238E27FC236}">
                <a16:creationId xmlns:a16="http://schemas.microsoft.com/office/drawing/2014/main" id="{5730576C-F011-4C5C-9522-33B55D4B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17640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Digital · ≤ 4 modules · Temporal vector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E59F1A-2A35-4ECB-ADBD-0C1C3701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04850"/>
            <a:ext cx="48768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The 2000 and 2008 cut-offs and post-2008 alternative land use.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CB1906-54AB-4274-BC0C-61CB677D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F6B"/>
          </a:solidFill>
          <a:ln xmlns:a="http://schemas.openxmlformats.org/drawingml/2006/main" w="0">
            <a:solidFill>
              <a:srgbClr val="EC3F6B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9c899f4f214a2d"/>
          <a:stretch xmlns:a="http://schemas.openxmlformats.org/drawingml/2006/main"/>
        </p:blipFill>
        <p:spPr>
          <a:xfrm xmlns:a="http://schemas.openxmlformats.org/drawingml/2006/main">
            <a:off x="323850" y="3226212"/>
            <a:ext cx="17640300" cy="442512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BB5D7E-877E-4090-ADCB-E36FE53E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753600"/>
            <a:ext cx="3543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Class totals close exactly to mapped APP area.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5764C6-CCD5-44E7-8A43-7DB08A0D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7726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72"/>
                </a:solidFill>
              </a:defRPr>
            </a:pPr>
            <a:r>
              <a:rPr sz="1500" b="1">
                <a:solidFill>
                  <a:srgbClr val="147D72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019254432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1">
            <a:extLst xmlns:a="http://schemas.openxmlformats.org/drawingml/2006/main">
              <a:ext uri="{FF2B5EF4-FFF2-40B4-BE49-F238E27FC236}">
                <a16:creationId xmlns:a16="http://schemas.microsoft.com/office/drawing/2014/main" id="{4DD90625-DC73-4164-B0A1-DEC3C20E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17640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Digital · ≤ 4 modules · APP vector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7C016F-D376-4626-8572-897FAE71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04850"/>
            <a:ext cx="58864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APP extent partitioned into mutually exclusive current and temporal classes.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CA2E14-4995-4458-80FB-1EA9F05A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B5"/>
          </a:solidFill>
          <a:ln xmlns:a="http://schemas.openxmlformats.org/drawingml/2006/main" w="0">
            <a:solidFill>
              <a:srgbClr val="11B8B5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482626c666473e"/>
          <a:stretch xmlns:a="http://schemas.openxmlformats.org/drawingml/2006/main"/>
        </p:blipFill>
        <p:spPr>
          <a:xfrm xmlns:a="http://schemas.openxmlformats.org/drawingml/2006/main">
            <a:off x="323850" y="3457873"/>
            <a:ext cx="17640300" cy="396180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29D72B-F659-4617-9349-3A5EDD33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753600"/>
            <a:ext cx="3543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Class totals close exactly to mapped APP area.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F33E6-9D29-4EE0-9C1B-B96931B7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7726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72"/>
                </a:solidFill>
              </a:defRPr>
            </a:pPr>
            <a:r>
              <a:rPr sz="1500" b="1">
                <a:solidFill>
                  <a:srgbClr val="147D72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65397308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2">
            <a:extLst xmlns:a="http://schemas.openxmlformats.org/drawingml/2006/main">
              <a:ext uri="{FF2B5EF4-FFF2-40B4-BE49-F238E27FC236}">
                <a16:creationId xmlns:a16="http://schemas.microsoft.com/office/drawing/2014/main" id="{C5DFE158-862B-4F9F-83AD-4C4E8E26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16725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Digital · ≤ 4 modules · calculation chain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ED68A9-0FB9-440B-A0C9-2C56B612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90600"/>
            <a:ext cx="66294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Article 67 selects the LR requirement; APP and secondary vegetation remain separate.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B3C8E9-AFF5-49C2-80CE-E7936335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F6B"/>
          </a:solidFill>
          <a:ln xmlns:a="http://schemas.openxmlformats.org/drawingml/2006/main" w="0">
            <a:solidFill>
              <a:srgbClr val="EC3F6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AF7163-CC98-4EBE-AF19-116F3F75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165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2C94C"/>
                </a:solidFill>
              </a:defRPr>
            </a:pPr>
            <a:r>
              <a:rPr sz="1500" b="1">
                <a:solidFill>
                  <a:srgbClr val="F2C94C"/>
                </a:solidFill>
              </a:rPr>
              <a:t>Article 67 requirement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1B5B90-4CA3-47A3-8046-D3085BAF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3360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D2A87"/>
                </a:solidFill>
              </a:defRPr>
            </a:pPr>
            <a:r>
              <a:rPr sz="1500">
                <a:solidFill>
                  <a:srgbClr val="3D2A87"/>
                </a:solidFill>
              </a:rPr>
              <a:t>MIN(Article 12 ceiling, vegetation in 2008)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7ABC66-EB54-4EA8-806B-1327D650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C94C"/>
                </a:solidFill>
              </a:defRPr>
            </a:pPr>
            <a:r>
              <a:rPr sz="1800" b="1">
                <a:solidFill>
                  <a:srgbClr val="F2C94C"/>
                </a:solidFill>
              </a:rPr>
              <a:t>= 154.64 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B3F012-2524-4500-A090-DDB4E25B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77165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2C94C"/>
                </a:solidFill>
              </a:defRPr>
            </a:pPr>
            <a:r>
              <a:rPr sz="1500" b="1">
                <a:solidFill>
                  <a:srgbClr val="F2C94C"/>
                </a:solidFill>
              </a:rPr>
              <a:t>Legal Reserve deficit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767AD5-AA96-44D9-AC88-7FBDFE86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3360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D2A87"/>
                </a:solidFill>
              </a:defRPr>
            </a:pPr>
            <a:r>
              <a:rPr sz="1500">
                <a:solidFill>
                  <a:srgbClr val="3D2A87"/>
                </a:solidFill>
              </a:rPr>
              <a:t>154.64 ha − 52.15 ha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96B2F1-62F6-43D4-9BA7-FF62B1AC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2415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C94C"/>
                </a:solidFill>
              </a:defRPr>
            </a:pPr>
            <a:r>
              <a:rPr sz="1800" b="1">
                <a:solidFill>
                  <a:srgbClr val="F2C94C"/>
                </a:solidFill>
              </a:rPr>
              <a:t>= 102.50 ha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E761DE-BE9B-4D06-B96B-CD76348C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6730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2C94C"/>
                </a:solidFill>
              </a:defRPr>
            </a:pPr>
            <a:r>
              <a:rPr sz="1500" b="1">
                <a:solidFill>
                  <a:srgbClr val="F2C94C"/>
                </a:solidFill>
              </a:rPr>
              <a:t>LR pathway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0902A7-2E66-4648-BC38-EF3500D3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2925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D2A87"/>
                </a:solidFill>
              </a:defRPr>
            </a:pPr>
            <a:r>
              <a:rPr sz="1500">
                <a:solidFill>
                  <a:srgbClr val="3D2A87"/>
                </a:solidFill>
              </a:rPr>
              <a:t>Restore = MIN(post-2008 clearing, LR deficit)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D05D65-56A0-49C3-9BEE-3D4C2541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01980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C94C"/>
                </a:solidFill>
              </a:defRPr>
            </a:pPr>
            <a:r>
              <a:rPr sz="1800" b="1">
                <a:solidFill>
                  <a:srgbClr val="F2C94C"/>
                </a:solidFill>
              </a:rPr>
              <a:t>= 18.96 ha restore · 83.54 ha compensate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0A6A43-3C13-495B-A7B2-D07D1BB4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6730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2C94C"/>
                </a:solidFill>
              </a:defRPr>
            </a:pPr>
            <a:r>
              <a:rPr sz="1500" b="1">
                <a:solidFill>
                  <a:srgbClr val="F2C94C"/>
                </a:solidFill>
              </a:rPr>
              <a:t>APP restoration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A82592-A369-4329-84A4-8462FAD4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42925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D2A87"/>
                </a:solidFill>
              </a:defRPr>
            </a:pPr>
            <a:r>
              <a:rPr sz="1500">
                <a:solidFill>
                  <a:srgbClr val="3D2A87"/>
                </a:solidFill>
              </a:rPr>
              <a:t>Pre-2008 component after cap + post-2008 APP clearing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2C9675-29C7-46A3-A82E-E5E48E23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01980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C94C"/>
                </a:solidFill>
              </a:defRPr>
            </a:pPr>
            <a:r>
              <a:rPr sz="1800" b="1">
                <a:solidFill>
                  <a:srgbClr val="F2C94C"/>
                </a:solidFill>
              </a:rPr>
              <a:t>= 4.94 ha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7FD8D1-9A7E-40C9-9A82-8FA89D8F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248650"/>
            <a:ext cx="68770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EC3F6B"/>
                </a:solidFill>
              </a:defRPr>
            </a:pPr>
            <a:r>
              <a:rPr sz="2625" b="1">
                <a:solidFill>
                  <a:srgbClr val="EC3F6B"/>
                </a:solidFill>
              </a:rPr>
              <a:t>BASELINE  107.44 ha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B758E5-7CB1-4CCC-B58C-B2EA6673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8248650"/>
            <a:ext cx="96202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7D72"/>
                </a:solidFill>
              </a:defRPr>
            </a:pPr>
            <a:r>
              <a:rPr sz="2400" b="1">
                <a:solidFill>
                  <a:srgbClr val="147D72"/>
                </a:solidFill>
              </a:rPr>
              <a:t>WITH SECONDARY  79.58 ha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F49C77-D162-4AA4-B111-5BFDD644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6785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Source: final GTA compliance mega table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A33328-43BA-45D1-B8C4-AF23F903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0" y="9467850"/>
            <a:ext cx="66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72"/>
                </a:solidFill>
              </a:defRPr>
            </a:pPr>
            <a:r>
              <a:rPr sz="1500" b="1">
                <a:solidFill>
                  <a:srgbClr val="147D72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810716123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3">
            <a:extLst xmlns:a="http://schemas.openxmlformats.org/drawingml/2006/main">
              <a:ext uri="{FF2B5EF4-FFF2-40B4-BE49-F238E27FC236}">
                <a16:creationId xmlns:a16="http://schemas.microsoft.com/office/drawing/2014/main" id="{6BCA7B93-610E-4180-859D-5C24BCDC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7373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Proxy · &gt; 4 modules · property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E6011-CA75-41E1-9EC4-A7D888CC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48387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10.51 fiscal modules · GTA direct supplier · 591 slaughter cattle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628D3E-2D96-4FEB-BE86-D00FF2C1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B5"/>
          </a:solidFill>
          <a:ln xmlns:a="http://schemas.openxmlformats.org/drawingml/2006/main" w="0">
            <a:solidFill>
              <a:srgbClr val="11B8B5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373ae872084fe3"/>
          <a:stretch xmlns:a="http://schemas.openxmlformats.org/drawingml/2006/main"/>
        </p:blipFill>
        <p:spPr>
          <a:xfrm xmlns:a="http://schemas.openxmlformats.org/drawingml/2006/main">
            <a:off x="2533050" y="1304925"/>
            <a:ext cx="8176508" cy="78771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9A747E-BF54-4BCD-A677-02A2C417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180975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Property area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AB94C-E408-4716-9249-43DC7AAA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180975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7D72"/>
                </a:solidFill>
              </a:defRPr>
            </a:pPr>
            <a:r>
              <a:rPr sz="1650" b="1">
                <a:solidFill>
                  <a:srgbClr val="147D72"/>
                </a:solidFill>
              </a:rPr>
              <a:t>839.84 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EB087B-231F-4AE0-B0CC-114D82F8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312420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Forest formation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6120C5-A732-4112-AE03-AAA93DA5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312420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7D72"/>
                </a:solidFill>
              </a:defRPr>
            </a:pPr>
            <a:r>
              <a:rPr sz="1650" b="1">
                <a:solidFill>
                  <a:srgbClr val="147D72"/>
                </a:solidFill>
              </a:rPr>
              <a:t>721.30 ha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0A86DF-CB7E-49B5-8860-FB73DBAF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443865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Cerrado formation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463A30-FFAE-4398-9A39-248C30AE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443865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7D72"/>
                </a:solidFill>
              </a:defRPr>
            </a:pPr>
            <a:r>
              <a:rPr sz="1650" b="1">
                <a:solidFill>
                  <a:srgbClr val="147D72"/>
                </a:solidFill>
              </a:rPr>
              <a:t>118.54 ha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91AEBA-AC8F-499E-8C40-0907CB08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575310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Current native vegetation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3F4228-7CBA-4F2F-B25F-809BB6DB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575310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7D72"/>
                </a:solidFill>
              </a:defRPr>
            </a:pPr>
            <a:r>
              <a:rPr sz="1650" b="1">
                <a:solidFill>
                  <a:srgbClr val="147D72"/>
                </a:solidFill>
              </a:rPr>
              <a:t>277.93 ha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728F8C-29CB-4913-92A8-F2B8C340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706755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Baseline liability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B67925-774D-420C-98B0-C085B820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706755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7D72"/>
                </a:solidFill>
              </a:defRPr>
            </a:pPr>
            <a:r>
              <a:rPr sz="1650" b="1">
                <a:solidFill>
                  <a:srgbClr val="147D72"/>
                </a:solidFill>
              </a:rPr>
              <a:t>137.41 ha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866674-D4F0-4F04-A65E-985371C0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838200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With secondary vegetation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285A9-48AD-4A86-8904-F185D8C2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838200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7D72"/>
                </a:solidFill>
              </a:defRPr>
            </a:pPr>
            <a:r>
              <a:rPr sz="1650" b="1">
                <a:solidFill>
                  <a:srgbClr val="147D72"/>
                </a:solidFill>
              </a:rPr>
              <a:t>112.62 ha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307CD6-425C-46F4-B7C7-BE88FDEF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277350"/>
            <a:ext cx="17373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CAR: MT-5106828-23ABB407C9334E9F864BC6C07D00148C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3A44CE-ED13-4F41-BAFC-AF65FA4F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9645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Source: final GTA compliance mega table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02565B-0F7D-41A1-90C4-09500C2A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4050" y="9696450"/>
            <a:ext cx="66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72"/>
                </a:solidFill>
              </a:defRPr>
            </a:pPr>
            <a:r>
              <a:rPr sz="1500" b="1">
                <a:solidFill>
                  <a:srgbClr val="147D72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204950313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4">
            <a:extLst xmlns:a="http://schemas.openxmlformats.org/drawingml/2006/main">
              <a:ext uri="{FF2B5EF4-FFF2-40B4-BE49-F238E27FC236}">
                <a16:creationId xmlns:a16="http://schemas.microsoft.com/office/drawing/2014/main" id="{05E97692-15B2-4712-B1FC-AF759856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17640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Proxy · &gt; 4 modules · Legal Reserve vector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2E6B00-3CC8-4607-B769-6FAD9077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04850"/>
            <a:ext cx="4762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RADAM, current native vegetation, and secondary vegetation.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83D248-CC84-4B44-8F80-91F9F4A6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F6B"/>
          </a:solidFill>
          <a:ln xmlns:a="http://schemas.openxmlformats.org/drawingml/2006/main" w="0">
            <a:solidFill>
              <a:srgbClr val="EC3F6B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c76878fc0a4403"/>
          <a:stretch xmlns:a="http://schemas.openxmlformats.org/drawingml/2006/main"/>
        </p:blipFill>
        <p:spPr>
          <a:xfrm xmlns:a="http://schemas.openxmlformats.org/drawingml/2006/main">
            <a:off x="323850" y="3158103"/>
            <a:ext cx="17640300" cy="456134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AF3F79-E84A-491B-8D74-FA93D52C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753600"/>
            <a:ext cx="3543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Class totals close exactly to mapped APP area.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310556-CE2D-4493-B0A0-67671964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7726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72"/>
                </a:solidFill>
              </a:defRPr>
            </a:pPr>
            <a:r>
              <a:rPr sz="1500" b="1">
                <a:solidFill>
                  <a:srgbClr val="147D72"/>
                </a:solidFill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767577012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5">
            <a:extLst xmlns:a="http://schemas.openxmlformats.org/drawingml/2006/main">
              <a:ext uri="{FF2B5EF4-FFF2-40B4-BE49-F238E27FC236}">
                <a16:creationId xmlns:a16="http://schemas.microsoft.com/office/drawing/2014/main" id="{ED73E8E5-4F4A-4205-ABB2-31C7B2A5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17640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Proxy · &gt; 4 modules · Temporal vector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74F2F9-CBFB-4AB2-9D28-2E7E5522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04850"/>
            <a:ext cx="48768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The 2000 and 2008 cut-offs and post-2008 alternative land use.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478CA2-3AB8-4549-B0BC-17A7448C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B5"/>
          </a:solidFill>
          <a:ln xmlns:a="http://schemas.openxmlformats.org/drawingml/2006/main" w="0">
            <a:solidFill>
              <a:srgbClr val="11B8B5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d497d5f0454abb"/>
          <a:stretch xmlns:a="http://schemas.openxmlformats.org/drawingml/2006/main"/>
        </p:blipFill>
        <p:spPr>
          <a:xfrm xmlns:a="http://schemas.openxmlformats.org/drawingml/2006/main">
            <a:off x="323850" y="3226212"/>
            <a:ext cx="17640300" cy="442512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270D9-F3AA-441B-BDB0-A1F9E6E0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753600"/>
            <a:ext cx="3543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Class totals close exactly to mapped APP area.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89BEBE-7CC8-4964-9331-D9A0536A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7726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72"/>
                </a:solidFill>
              </a:defRPr>
            </a:pPr>
            <a:r>
              <a:rPr sz="1500" b="1">
                <a:solidFill>
                  <a:srgbClr val="147D72"/>
                </a:solidFill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71084352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6">
            <a:extLst xmlns:a="http://schemas.openxmlformats.org/drawingml/2006/main">
              <a:ext uri="{FF2B5EF4-FFF2-40B4-BE49-F238E27FC236}">
                <a16:creationId xmlns:a16="http://schemas.microsoft.com/office/drawing/2014/main" id="{CC4893F7-46FE-4322-B130-198DED57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17640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Proxy · &gt; 4 modules · APP vector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865A93-718F-4DE3-9CEA-6B8A9CD2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04850"/>
            <a:ext cx="58864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APP extent partitioned into mutually exclusive current and temporal classes.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B5D006-1793-4CB4-BF46-192C8B37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F6B"/>
          </a:solidFill>
          <a:ln xmlns:a="http://schemas.openxmlformats.org/drawingml/2006/main" w="0">
            <a:solidFill>
              <a:srgbClr val="EC3F6B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3518e756f74fcb"/>
          <a:stretch xmlns:a="http://schemas.openxmlformats.org/drawingml/2006/main"/>
        </p:blipFill>
        <p:spPr>
          <a:xfrm xmlns:a="http://schemas.openxmlformats.org/drawingml/2006/main">
            <a:off x="323850" y="3457873"/>
            <a:ext cx="17640300" cy="396180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EDAAB-5616-44C7-808F-646776BB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753600"/>
            <a:ext cx="3543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Class totals close exactly to mapped APP area.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B92AF6-9389-461F-95F9-7D9C2E73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7726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72"/>
                </a:solidFill>
              </a:defRPr>
            </a:pPr>
            <a:r>
              <a:rPr sz="1500" b="1">
                <a:solidFill>
                  <a:srgbClr val="147D72"/>
                </a:solidFill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28153256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7">
            <a:extLst xmlns:a="http://schemas.openxmlformats.org/drawingml/2006/main">
              <a:ext uri="{FF2B5EF4-FFF2-40B4-BE49-F238E27FC236}">
                <a16:creationId xmlns:a16="http://schemas.microsoft.com/office/drawing/2014/main" id="{C04D43E1-504A-4D96-B254-FE9199B6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16725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Proxy · &gt; 4 modules · calculation chain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625656-1439-4E54-87D7-64ABE8DC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90600"/>
            <a:ext cx="66294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Article 68 selects the LR requirement; APP and secondary vegetation remain separate.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EF2E6E-871C-436A-A554-16E6F75C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B5"/>
          </a:solidFill>
          <a:ln xmlns:a="http://schemas.openxmlformats.org/drawingml/2006/main" w="0">
            <a:solidFill>
              <a:srgbClr val="11B8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30DF7C-01BB-43E0-BDD6-14CE5B20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165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72"/>
                </a:solidFill>
              </a:defRPr>
            </a:pPr>
            <a:r>
              <a:rPr sz="1500" b="1">
                <a:solidFill>
                  <a:srgbClr val="147D72"/>
                </a:solidFill>
              </a:rPr>
              <a:t>Article 68 requirement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EF510-DFD1-4990-B686-E523DD05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3360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D2A87"/>
                </a:solidFill>
              </a:defRPr>
            </a:pPr>
            <a:r>
              <a:rPr sz="1500">
                <a:solidFill>
                  <a:srgbClr val="3D2A87"/>
                </a:solidFill>
              </a:rPr>
              <a:t>IF vegetation 2000 ≥ historical floor → floor; ELSE → Article 12 ceiling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4F7958-CA52-4142-852C-3D8F50B9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7D72"/>
                </a:solidFill>
              </a:defRPr>
            </a:pPr>
            <a:r>
              <a:rPr sz="1800" b="1">
                <a:solidFill>
                  <a:srgbClr val="147D72"/>
                </a:solidFill>
              </a:rPr>
              <a:t>= 384.36 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E009A-D3FB-46EA-A9C8-ABFA6328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77165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72"/>
                </a:solidFill>
              </a:defRPr>
            </a:pPr>
            <a:r>
              <a:rPr sz="1500" b="1">
                <a:solidFill>
                  <a:srgbClr val="147D72"/>
                </a:solidFill>
              </a:rPr>
              <a:t>Legal Reserve deficit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27AE2B-1398-489B-B0B4-2F53AB07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3360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D2A87"/>
                </a:solidFill>
              </a:defRPr>
            </a:pPr>
            <a:r>
              <a:rPr sz="1500">
                <a:solidFill>
                  <a:srgbClr val="3D2A87"/>
                </a:solidFill>
              </a:rPr>
              <a:t>384.36 ha − 277.93 ha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D51E8F-3629-45A0-B27C-4B15BC23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2415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7D72"/>
                </a:solidFill>
              </a:defRPr>
            </a:pPr>
            <a:r>
              <a:rPr sz="1800" b="1">
                <a:solidFill>
                  <a:srgbClr val="147D72"/>
                </a:solidFill>
              </a:rPr>
              <a:t>= 106.43 ha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17A6DE-3A5B-4A4F-A946-26941EDA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6730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72"/>
                </a:solidFill>
              </a:defRPr>
            </a:pPr>
            <a:r>
              <a:rPr sz="1500" b="1">
                <a:solidFill>
                  <a:srgbClr val="147D72"/>
                </a:solidFill>
              </a:rPr>
              <a:t>LR pathway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0BE91B-8D95-4455-8135-AEED53D1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2925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D2A87"/>
                </a:solidFill>
              </a:defRPr>
            </a:pPr>
            <a:r>
              <a:rPr sz="1500">
                <a:solidFill>
                  <a:srgbClr val="3D2A87"/>
                </a:solidFill>
              </a:rPr>
              <a:t>Restore = MIN(post-2008 clearing, LR deficit)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A3C4C9-EC29-4BA1-8F2E-B7F88E0A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01980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7D72"/>
                </a:solidFill>
              </a:defRPr>
            </a:pPr>
            <a:r>
              <a:rPr sz="1800" b="1">
                <a:solidFill>
                  <a:srgbClr val="147D72"/>
                </a:solidFill>
              </a:rPr>
              <a:t>= 106.43 ha restore · 0.00 ha compensate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E46B5F-786C-478A-9975-35466A51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6730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72"/>
                </a:solidFill>
              </a:defRPr>
            </a:pPr>
            <a:r>
              <a:rPr sz="1500" b="1">
                <a:solidFill>
                  <a:srgbClr val="147D72"/>
                </a:solidFill>
              </a:rPr>
              <a:t>APP restoration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0CEF23-8FDE-4E60-9604-99809D72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42925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D2A87"/>
                </a:solidFill>
              </a:defRPr>
            </a:pPr>
            <a:r>
              <a:rPr sz="1500">
                <a:solidFill>
                  <a:srgbClr val="3D2A87"/>
                </a:solidFill>
              </a:rPr>
              <a:t>Pre-2008 component after cap + post-2008 APP clearing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45436E-0EA9-437F-9D78-CE6620AC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01980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7D72"/>
                </a:solidFill>
              </a:defRPr>
            </a:pPr>
            <a:r>
              <a:rPr sz="1800" b="1">
                <a:solidFill>
                  <a:srgbClr val="147D72"/>
                </a:solidFill>
              </a:rPr>
              <a:t>= 30.98 ha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B792D5-2446-4DAF-8242-C64FCE31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248650"/>
            <a:ext cx="68770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EC3F6B"/>
                </a:solidFill>
              </a:defRPr>
            </a:pPr>
            <a:r>
              <a:rPr sz="2625" b="1">
                <a:solidFill>
                  <a:srgbClr val="EC3F6B"/>
                </a:solidFill>
              </a:rPr>
              <a:t>BASELINE  137.41 ha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99A4ED-5258-4550-BB8D-D780B761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8248650"/>
            <a:ext cx="96202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7D72"/>
                </a:solidFill>
              </a:defRPr>
            </a:pPr>
            <a:r>
              <a:rPr sz="2400" b="1">
                <a:solidFill>
                  <a:srgbClr val="147D72"/>
                </a:solidFill>
              </a:rPr>
              <a:t>WITH SECONDARY  112.62 ha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8D59B7-FF73-4429-A450-7D6292DA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6785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Source: final GTA compliance mega table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3EDE7F-322E-41D8-92F4-29D3AEEA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0" y="9467850"/>
            <a:ext cx="66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72"/>
                </a:solidFill>
              </a:defRPr>
            </a:pPr>
            <a:r>
              <a:rPr sz="1500" b="1">
                <a:solidFill>
                  <a:srgbClr val="147D72"/>
                </a:solidFill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816684716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8">
            <a:extLst xmlns:a="http://schemas.openxmlformats.org/drawingml/2006/main">
              <a:ext uri="{FF2B5EF4-FFF2-40B4-BE49-F238E27FC236}">
                <a16:creationId xmlns:a16="http://schemas.microsoft.com/office/drawing/2014/main" id="{4CD1A8F7-94E4-4BBC-8B70-4DA5555B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7373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Proxy · ≤ 4 modules · property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76C48-BBA2-43DD-AA32-D81E1EAF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47434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1.87 fiscal modules · GTA direct supplier · 121 slaughter cattle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548CC-494B-42D1-8691-CC1FA29B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F6B"/>
          </a:solidFill>
          <a:ln xmlns:a="http://schemas.openxmlformats.org/drawingml/2006/main" w="0">
            <a:solidFill>
              <a:srgbClr val="EC3F6B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ee6befa5284fb6"/>
          <a:stretch xmlns:a="http://schemas.openxmlformats.org/drawingml/2006/main"/>
        </p:blipFill>
        <p:spPr>
          <a:xfrm xmlns:a="http://schemas.openxmlformats.org/drawingml/2006/main">
            <a:off x="2049934" y="1304925"/>
            <a:ext cx="9142739" cy="78771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7DD53-FCE7-4ED1-9290-4A65AC2E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180975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Property area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C34CD9-7CE4-4309-9CA2-BF8C584F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180975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C94C"/>
                </a:solidFill>
              </a:defRPr>
            </a:pPr>
            <a:r>
              <a:rPr sz="1650" b="1">
                <a:solidFill>
                  <a:srgbClr val="F2C94C"/>
                </a:solidFill>
              </a:rPr>
              <a:t>186.59 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83F6AE-D7DF-4D89-9C74-E38B63BA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312420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Forest formation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E6B39D-7F84-469A-AA46-415776AA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312420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C94C"/>
                </a:solidFill>
              </a:defRPr>
            </a:pPr>
            <a:r>
              <a:rPr sz="1650" b="1">
                <a:solidFill>
                  <a:srgbClr val="F2C94C"/>
                </a:solidFill>
              </a:rPr>
              <a:t>183.31 ha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D4379A-571A-4F26-8E8C-B8B11691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443865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Cerrado formation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04668F-D196-465F-9A29-CFBF288F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443865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C94C"/>
                </a:solidFill>
              </a:defRPr>
            </a:pPr>
            <a:r>
              <a:rPr sz="1650" b="1">
                <a:solidFill>
                  <a:srgbClr val="F2C94C"/>
                </a:solidFill>
              </a:rPr>
              <a:t>3.28 ha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022FF1-67F6-4CB0-AE56-494B337E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575310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Current native vegetation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279B3E-BA77-44FE-BC48-7D52C56C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575310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C94C"/>
                </a:solidFill>
              </a:defRPr>
            </a:pPr>
            <a:r>
              <a:rPr sz="1650" b="1">
                <a:solidFill>
                  <a:srgbClr val="F2C94C"/>
                </a:solidFill>
              </a:rPr>
              <a:t>43.83 ha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50F2CB-C83C-4A10-8561-50FECA78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706755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Baseline liability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90FCE0-7DC0-48BC-9B08-26FAECBA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706755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C94C"/>
                </a:solidFill>
              </a:defRPr>
            </a:pPr>
            <a:r>
              <a:rPr sz="1650" b="1">
                <a:solidFill>
                  <a:srgbClr val="F2C94C"/>
                </a:solidFill>
              </a:rPr>
              <a:t>122.69 ha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4E2021-9422-440D-A232-CC1B95F2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838200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With secondary vegetation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F5B12A-5478-4553-8C36-BF3B7577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838200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C94C"/>
                </a:solidFill>
              </a:defRPr>
            </a:pPr>
            <a:r>
              <a:rPr sz="1650" b="1">
                <a:solidFill>
                  <a:srgbClr val="F2C94C"/>
                </a:solidFill>
              </a:rPr>
              <a:t>107.60 ha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9C2BEF-0341-40F1-94F5-52DAB7E3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277350"/>
            <a:ext cx="17373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CAR: MT-5103304-CDD5B177BF43405FA86B66729E82F424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C8BDA6-EFEA-4441-85CC-B79348BF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9645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Source: final GTA compliance mega table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4836AB-6733-44EA-B81D-6DB20520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4050" y="9696450"/>
            <a:ext cx="66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72"/>
                </a:solidFill>
              </a:defRPr>
            </a:pPr>
            <a:r>
              <a:rPr sz="1500" b="1">
                <a:solidFill>
                  <a:srgbClr val="147D72"/>
                </a:solidFill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2016796681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9">
            <a:extLst xmlns:a="http://schemas.openxmlformats.org/drawingml/2006/main">
              <a:ext uri="{FF2B5EF4-FFF2-40B4-BE49-F238E27FC236}">
                <a16:creationId xmlns:a16="http://schemas.microsoft.com/office/drawing/2014/main" id="{5910C01A-69B7-457A-A791-1B2BFFC2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17640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Proxy · ≤ 4 modules · Legal Reserve vector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4A5F55-5174-4E7D-81C8-DC454CD8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04850"/>
            <a:ext cx="4762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RADAM, current native vegetation, and secondary vegetation.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90989F-6080-4943-8576-2F436D95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B5"/>
          </a:solidFill>
          <a:ln xmlns:a="http://schemas.openxmlformats.org/drawingml/2006/main" w="0">
            <a:solidFill>
              <a:srgbClr val="11B8B5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e9e6e368d44931"/>
          <a:stretch xmlns:a="http://schemas.openxmlformats.org/drawingml/2006/main"/>
        </p:blipFill>
        <p:spPr>
          <a:xfrm xmlns:a="http://schemas.openxmlformats.org/drawingml/2006/main">
            <a:off x="323850" y="3216230"/>
            <a:ext cx="17640300" cy="444509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DF0643-4932-4CB6-96E8-680F8329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753600"/>
            <a:ext cx="3543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Class totals close exactly to mapped APP area.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A6D458-509F-4805-920B-5EEB017E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7726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72"/>
                </a:solidFill>
              </a:defRPr>
            </a:pPr>
            <a:r>
              <a:rPr sz="1500" b="1">
                <a:solidFill>
                  <a:srgbClr val="147D72"/>
                </a:solidFill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441207461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5D6CB039-6F87-4429-B50B-84B31AC6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17640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Proxy · ≤ 4 modules · Temporal vector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57DF47-87E5-4FF8-B996-1143513A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04850"/>
            <a:ext cx="48768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The 2000 and 2008 cut-offs and post-2008 alternative land use.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E2CD7-7D9C-4AFE-B716-5F2E051A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F6B"/>
          </a:solidFill>
          <a:ln xmlns:a="http://schemas.openxmlformats.org/drawingml/2006/main" w="0">
            <a:solidFill>
              <a:srgbClr val="EC3F6B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6873ee706a4af8"/>
          <a:stretch xmlns:a="http://schemas.openxmlformats.org/drawingml/2006/main"/>
        </p:blipFill>
        <p:spPr>
          <a:xfrm xmlns:a="http://schemas.openxmlformats.org/drawingml/2006/main">
            <a:off x="323850" y="3216230"/>
            <a:ext cx="17640300" cy="444509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4BE124-1C0E-4A92-A554-1A255511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753600"/>
            <a:ext cx="3543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Class totals close exactly to mapped APP area.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B32FE8-0D4B-4DC7-B992-A6326CA9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7726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72"/>
                </a:solidFill>
              </a:defRPr>
            </a:pPr>
            <a:r>
              <a:rPr sz="1500" b="1">
                <a:solidFill>
                  <a:srgbClr val="147D72"/>
                </a:solidFill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185441097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1">
            <a:extLst xmlns:a="http://schemas.openxmlformats.org/drawingml/2006/main">
              <a:ext uri="{FF2B5EF4-FFF2-40B4-BE49-F238E27FC236}">
                <a16:creationId xmlns:a16="http://schemas.microsoft.com/office/drawing/2014/main" id="{002B9473-EAA0-4CB6-86E0-5D6DCECC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17640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Proxy · ≤ 4 modules · APP vector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BD53D7-2291-4A0A-AAC3-13F06890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04850"/>
            <a:ext cx="58864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APP extent partitioned into mutually exclusive current and temporal classes.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28538-BF2E-47A8-B6E6-FCF822B2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B5"/>
          </a:solidFill>
          <a:ln xmlns:a="http://schemas.openxmlformats.org/drawingml/2006/main" w="0">
            <a:solidFill>
              <a:srgbClr val="11B8B5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4d8ce469f340e5"/>
          <a:stretch xmlns:a="http://schemas.openxmlformats.org/drawingml/2006/main"/>
        </p:blipFill>
        <p:spPr>
          <a:xfrm xmlns:a="http://schemas.openxmlformats.org/drawingml/2006/main">
            <a:off x="323850" y="3281252"/>
            <a:ext cx="17640300" cy="431504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42BF0-77F8-4A6C-88FC-12935720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753600"/>
            <a:ext cx="3543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Class totals close exactly to mapped APP area.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34116B-FA39-4645-86B5-477B384F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7726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72"/>
                </a:solidFill>
              </a:defRPr>
            </a:pPr>
            <a:r>
              <a:rPr sz="1500" b="1">
                <a:solidFill>
                  <a:srgbClr val="147D72"/>
                </a:solidFill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2112995393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2">
            <a:extLst xmlns:a="http://schemas.openxmlformats.org/drawingml/2006/main">
              <a:ext uri="{FF2B5EF4-FFF2-40B4-BE49-F238E27FC236}">
                <a16:creationId xmlns:a16="http://schemas.microsoft.com/office/drawing/2014/main" id="{3F41C998-7439-47FA-A77B-E82AEB26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16725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Proxy · ≤ 4 modules · calculation chain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2AC074-C5A4-4C0E-8AF6-F5743FDE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90600"/>
            <a:ext cx="66294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Article 67 selects the LR requirement; APP and secondary vegetation remain separate.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C4570D-4B65-4937-8325-A58B8F3C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F6B"/>
          </a:solidFill>
          <a:ln xmlns:a="http://schemas.openxmlformats.org/drawingml/2006/main" w="0">
            <a:solidFill>
              <a:srgbClr val="EC3F6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02D297-23B4-401D-9DA4-01D81858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165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2C94C"/>
                </a:solidFill>
              </a:defRPr>
            </a:pPr>
            <a:r>
              <a:rPr sz="1500" b="1">
                <a:solidFill>
                  <a:srgbClr val="F2C94C"/>
                </a:solidFill>
              </a:rPr>
              <a:t>Article 67 requirement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7F5A0-CB4F-4D3D-B4A7-FBE5A709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3360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D2A87"/>
                </a:solidFill>
              </a:defRPr>
            </a:pPr>
            <a:r>
              <a:rPr sz="1500">
                <a:solidFill>
                  <a:srgbClr val="3D2A87"/>
                </a:solidFill>
              </a:rPr>
              <a:t>MIN(Article 12 ceiling, vegetation in 2008)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5B800-204A-4BD7-93B4-84302F4B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C94C"/>
                </a:solidFill>
              </a:defRPr>
            </a:pPr>
            <a:r>
              <a:rPr sz="1800" b="1">
                <a:solidFill>
                  <a:srgbClr val="F2C94C"/>
                </a:solidFill>
              </a:rPr>
              <a:t>= 147.79 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37593-FB22-44AE-85D7-1A26538D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77165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2C94C"/>
                </a:solidFill>
              </a:defRPr>
            </a:pPr>
            <a:r>
              <a:rPr sz="1500" b="1">
                <a:solidFill>
                  <a:srgbClr val="F2C94C"/>
                </a:solidFill>
              </a:rPr>
              <a:t>Legal Reserve deficit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8EAD27-0E69-4506-82BA-EACDA84E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3360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D2A87"/>
                </a:solidFill>
              </a:defRPr>
            </a:pPr>
            <a:r>
              <a:rPr sz="1500">
                <a:solidFill>
                  <a:srgbClr val="3D2A87"/>
                </a:solidFill>
              </a:rPr>
              <a:t>147.79 ha − 43.83 ha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28C0C8-B2CF-422A-8C1A-B2785A46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2415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C94C"/>
                </a:solidFill>
              </a:defRPr>
            </a:pPr>
            <a:r>
              <a:rPr sz="1800" b="1">
                <a:solidFill>
                  <a:srgbClr val="F2C94C"/>
                </a:solidFill>
              </a:rPr>
              <a:t>= 103.96 ha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EEB0E4-AEFA-4C33-A07A-68680033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6730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2C94C"/>
                </a:solidFill>
              </a:defRPr>
            </a:pPr>
            <a:r>
              <a:rPr sz="1500" b="1">
                <a:solidFill>
                  <a:srgbClr val="F2C94C"/>
                </a:solidFill>
              </a:rPr>
              <a:t>LR pathway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D52318-AFC4-4E82-A526-C2EC0A34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2925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D2A87"/>
                </a:solidFill>
              </a:defRPr>
            </a:pPr>
            <a:r>
              <a:rPr sz="1500">
                <a:solidFill>
                  <a:srgbClr val="3D2A87"/>
                </a:solidFill>
              </a:rPr>
              <a:t>Restore = MIN(post-2008 clearing, LR deficit)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DC5C74-5C3B-42E1-A519-05E7DC23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01980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C94C"/>
                </a:solidFill>
              </a:defRPr>
            </a:pPr>
            <a:r>
              <a:rPr sz="1800" b="1">
                <a:solidFill>
                  <a:srgbClr val="F2C94C"/>
                </a:solidFill>
              </a:rPr>
              <a:t>= 103.96 ha restore · 0.00 ha compensate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BBF2AC-AE34-45C8-9EC7-FD97CB0E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6730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2C94C"/>
                </a:solidFill>
              </a:defRPr>
            </a:pPr>
            <a:r>
              <a:rPr sz="1500" b="1">
                <a:solidFill>
                  <a:srgbClr val="F2C94C"/>
                </a:solidFill>
              </a:rPr>
              <a:t>APP restoration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F41FA2-D12E-4DD7-B41A-6DF99BEB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42925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D2A87"/>
                </a:solidFill>
              </a:defRPr>
            </a:pPr>
            <a:r>
              <a:rPr sz="1500">
                <a:solidFill>
                  <a:srgbClr val="3D2A87"/>
                </a:solidFill>
              </a:rPr>
              <a:t>Pre-2008 component after cap + post-2008 APP clearing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C9823E-2F3C-400A-AB8E-C1AFCF1C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01980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C94C"/>
                </a:solidFill>
              </a:defRPr>
            </a:pPr>
            <a:r>
              <a:rPr sz="1800" b="1">
                <a:solidFill>
                  <a:srgbClr val="F2C94C"/>
                </a:solidFill>
              </a:rPr>
              <a:t>= 18.73 ha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FA54ED-6166-4A9E-9D0F-9EA795EB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248650"/>
            <a:ext cx="68770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EC3F6B"/>
                </a:solidFill>
              </a:defRPr>
            </a:pPr>
            <a:r>
              <a:rPr sz="2625" b="1">
                <a:solidFill>
                  <a:srgbClr val="EC3F6B"/>
                </a:solidFill>
              </a:rPr>
              <a:t>BASELINE  122.69 ha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3BD519-3A28-4EBA-A5D8-1AFA4340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8248650"/>
            <a:ext cx="96202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7D72"/>
                </a:solidFill>
              </a:defRPr>
            </a:pPr>
            <a:r>
              <a:rPr sz="2400" b="1">
                <a:solidFill>
                  <a:srgbClr val="147D72"/>
                </a:solidFill>
              </a:rPr>
              <a:t>WITH SECONDARY  107.60 ha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C41A5D-0DD9-4882-809E-09E95D46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6785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Source: final GTA compliance mega table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AAB973-79E1-4835-8411-0EEF0181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0" y="9467850"/>
            <a:ext cx="66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72"/>
                </a:solidFill>
              </a:defRPr>
            </a:pPr>
            <a:r>
              <a:rPr sz="1500" b="1">
                <a:solidFill>
                  <a:srgbClr val="147D72"/>
                </a:solidFill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869631911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3">
            <a:extLst xmlns:a="http://schemas.openxmlformats.org/drawingml/2006/main">
              <a:ext uri="{FF2B5EF4-FFF2-40B4-BE49-F238E27FC236}">
                <a16:creationId xmlns:a16="http://schemas.microsoft.com/office/drawing/2014/main" id="{1937C883-A390-42CF-B437-4419DB98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6916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What the six examples make visible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460E0B-4DF0-4530-A340-87F580A0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64389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The same calculation structure turns source-specific inputs into comparable results.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72174-AE83-4B80-BB00-7D8F6B65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B5"/>
          </a:solidFill>
          <a:ln xmlns:a="http://schemas.openxmlformats.org/drawingml/2006/main" w="0">
            <a:solidFill>
              <a:srgbClr val="11B8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E2D3E6-C221-4BB5-BB50-D8AD5DF8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38300"/>
            <a:ext cx="2552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2A87"/>
                </a:solidFill>
              </a:defRPr>
            </a:pPr>
            <a:r>
              <a:rPr sz="1500" b="1">
                <a:solidFill>
                  <a:srgbClr val="3D2A87"/>
                </a:solidFill>
              </a:rPr>
              <a:t>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CD5092-8AB6-483D-AA76-148B3659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38300"/>
            <a:ext cx="1943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2A87"/>
                </a:solidFill>
              </a:defRPr>
            </a:pPr>
            <a:r>
              <a:rPr sz="1500" b="1">
                <a:solidFill>
                  <a:srgbClr val="3D2A87"/>
                </a:solidFill>
              </a:rPr>
              <a:t>Size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7BB40-A327-4F04-9E05-F3E16843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38300"/>
            <a:ext cx="5391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2A87"/>
                </a:solidFill>
              </a:defRPr>
            </a:pPr>
            <a:r>
              <a:rPr sz="1500" b="1">
                <a:solidFill>
                  <a:srgbClr val="3D2A87"/>
                </a:solidFill>
              </a:rPr>
              <a:t>CAR record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2845BA-8A1C-4250-81B1-1D2ED400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638300"/>
            <a:ext cx="2705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2A87"/>
                </a:solidFill>
              </a:defRPr>
            </a:pPr>
            <a:r>
              <a:rPr sz="1500" b="1">
                <a:solidFill>
                  <a:srgbClr val="3D2A87"/>
                </a:solidFill>
              </a:rPr>
              <a:t>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979499-DD37-4FB8-B416-A8221AEA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1638300"/>
            <a:ext cx="3448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2A87"/>
                </a:solidFill>
              </a:defRPr>
            </a:pPr>
            <a:r>
              <a:rPr sz="1500" b="1">
                <a:solidFill>
                  <a:srgbClr val="3D2A87"/>
                </a:solidFill>
              </a:rPr>
              <a:t>With secondary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78C7C6-EC3C-4109-9D42-A4B0D590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2552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2A87"/>
                </a:solidFill>
              </a:defRPr>
            </a:pPr>
            <a:r>
              <a:rPr sz="1500" b="1">
                <a:solidFill>
                  <a:srgbClr val="3D2A87"/>
                </a:solidFill>
              </a:rPr>
              <a:t>SIMCAR Validated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DD026C-D120-41A3-ABD7-15B56D74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19350"/>
            <a:ext cx="1943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&gt; 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DE9CB2-8A43-4962-A7B0-6B570EA1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19350"/>
            <a:ext cx="5391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MT-5107602-4838366C339B4</a:t>
            </a:r>
          </a:p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9D69077F3DC87A8074C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E64A0C-6CD9-43D3-8EC4-3C496F0D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19350"/>
            <a:ext cx="2705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435.06 ha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07F2F4-0C97-4E3C-AC77-C30AB3A2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2419350"/>
            <a:ext cx="3448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7D72"/>
                </a:solidFill>
              </a:defRPr>
            </a:pPr>
            <a:r>
              <a:rPr sz="1500" b="0">
                <a:solidFill>
                  <a:srgbClr val="147D72"/>
                </a:solidFill>
              </a:rPr>
              <a:t>340.83 ha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7BD2E8-D5D0-4A9B-9C11-46D6A580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2552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2A87"/>
                </a:solidFill>
              </a:defRPr>
            </a:pPr>
            <a:r>
              <a:rPr sz="1500" b="1">
                <a:solidFill>
                  <a:srgbClr val="3D2A87"/>
                </a:solidFill>
              </a:rPr>
              <a:t>SIMCAR Validated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08B456-3183-4803-A982-A08EB09A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38550"/>
            <a:ext cx="1943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≤ 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2A323A-6565-4298-928B-153ECE9F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38550"/>
            <a:ext cx="5391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MT-5106257-60F736EB772F4</a:t>
            </a:r>
          </a:p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CF6A460A8D0BE0ADCBB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E844CC-6215-4BE5-9217-A7353547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38550"/>
            <a:ext cx="2705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79.54 ha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AE0D25-9479-485E-AD85-CC53CD4E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3638550"/>
            <a:ext cx="3448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7D72"/>
                </a:solidFill>
              </a:defRPr>
            </a:pPr>
            <a:r>
              <a:rPr sz="1500" b="0">
                <a:solidFill>
                  <a:srgbClr val="147D72"/>
                </a:solidFill>
              </a:rPr>
              <a:t>78.14 ha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A1AF84-C8BE-4185-AA38-EB32EA36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2552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2A87"/>
                </a:solidFill>
              </a:defRPr>
            </a:pPr>
            <a:r>
              <a:rPr sz="1500" b="1">
                <a:solidFill>
                  <a:srgbClr val="3D2A87"/>
                </a:solidFill>
              </a:rPr>
              <a:t>SIMCAR Digital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BC9C88-75D5-42F8-99BF-3D6C63F8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838700"/>
            <a:ext cx="1943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&gt; 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81FF36-7319-4D95-82A0-AB86FF1B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38700"/>
            <a:ext cx="5391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MT-5107750-3D69A53C7D644</a:t>
            </a:r>
          </a:p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B4098DE759BD0FE2AF1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B7936B-C445-41E6-8E42-56EDA919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838700"/>
            <a:ext cx="2705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1,146.59 ha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AC7ACB-6EF6-40EB-BE77-B066E92A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4838700"/>
            <a:ext cx="3448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7D72"/>
                </a:solidFill>
              </a:defRPr>
            </a:pPr>
            <a:r>
              <a:rPr sz="1500" b="0">
                <a:solidFill>
                  <a:srgbClr val="147D72"/>
                </a:solidFill>
              </a:rPr>
              <a:t>999.45 ha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50C728-0EA9-4D7C-8796-1E7BDDBA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57900"/>
            <a:ext cx="2552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2A87"/>
                </a:solidFill>
              </a:defRPr>
            </a:pPr>
            <a:r>
              <a:rPr sz="1500" b="1">
                <a:solidFill>
                  <a:srgbClr val="3D2A87"/>
                </a:solidFill>
              </a:rPr>
              <a:t>SIMCAR Digital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AF00B8-5D83-4988-960C-AF2A223C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057900"/>
            <a:ext cx="1943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≤ 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BEAE07-64FD-4662-B133-38B31434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057900"/>
            <a:ext cx="5391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MT-5102603-D132829CFF784</a:t>
            </a:r>
          </a:p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C919A4FA35C7A5F32A5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855735-DA4C-4D5C-A263-777EC9B6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057900"/>
            <a:ext cx="2705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107.44 ha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870ED3-1346-481B-A5BD-7441483E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6057900"/>
            <a:ext cx="3448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7D72"/>
                </a:solidFill>
              </a:defRPr>
            </a:pPr>
            <a:r>
              <a:rPr sz="1500" b="0">
                <a:solidFill>
                  <a:srgbClr val="147D72"/>
                </a:solidFill>
              </a:rPr>
              <a:t>79.58 ha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C8B664-48AA-44D6-AC00-608156D6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258050"/>
            <a:ext cx="2552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2A87"/>
                </a:solidFill>
              </a:defRPr>
            </a:pPr>
            <a:r>
              <a:rPr sz="1500" b="1">
                <a:solidFill>
                  <a:srgbClr val="3D2A87"/>
                </a:solidFill>
              </a:rPr>
              <a:t>SIMCAR Proxy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66F974-2940-4638-B836-8198F99D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7258050"/>
            <a:ext cx="1943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&gt; 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BBB36E-EFD7-4594-8DB4-46FC1821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258050"/>
            <a:ext cx="5391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MT-5106828-23ABB407C9334</a:t>
            </a:r>
          </a:p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E9F864BC6C07D00148C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D0353C-2611-4A08-ACD8-40E74982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258050"/>
            <a:ext cx="2705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137.41 ha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96FAD9-95F8-4580-BB7D-D3945A19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7258050"/>
            <a:ext cx="3448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7D72"/>
                </a:solidFill>
              </a:defRPr>
            </a:pPr>
            <a:r>
              <a:rPr sz="1500" b="0">
                <a:solidFill>
                  <a:srgbClr val="147D72"/>
                </a:solidFill>
              </a:rPr>
              <a:t>112.62 ha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1ACD9C-0145-4DB5-94DE-ACEA9B67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477250"/>
            <a:ext cx="2552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2A87"/>
                </a:solidFill>
              </a:defRPr>
            </a:pPr>
            <a:r>
              <a:rPr sz="1500" b="1">
                <a:solidFill>
                  <a:srgbClr val="3D2A87"/>
                </a:solidFill>
              </a:rPr>
              <a:t>SIMCAR Proxy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97482C-4C2A-4B31-96C2-FFFF50E0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8477250"/>
            <a:ext cx="1943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≤ 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7B42A4-0643-4D5F-9831-69874EE8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8477250"/>
            <a:ext cx="5391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MT-5103304-CDD5B177BF434</a:t>
            </a:r>
          </a:p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05FA86B66729E82F424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BC5C49-60C5-4CA7-9DD7-7671F97E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8477250"/>
            <a:ext cx="2705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122.69 ha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2177B1-AD8F-406D-84B1-0ABD50E3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8477250"/>
            <a:ext cx="3448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7D72"/>
                </a:solidFill>
              </a:defRPr>
            </a:pPr>
            <a:r>
              <a:rPr sz="1500" b="0">
                <a:solidFill>
                  <a:srgbClr val="147D72"/>
                </a:solidFill>
              </a:rPr>
              <a:t>107.60 ha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F921B8-C9FB-4D27-AC9D-91DA8A35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Source: final GTA compliance mega table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294B7B7-11DC-4103-9CAD-83B9E685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66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72"/>
                </a:solidFill>
              </a:defRPr>
            </a:pPr>
            <a:r>
              <a:rPr sz="1500" b="1">
                <a:solidFill>
                  <a:srgbClr val="147D72"/>
                </a:solidFill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323720707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4">
            <a:extLst xmlns:a="http://schemas.openxmlformats.org/drawingml/2006/main">
              <a:ext uri="{FF2B5EF4-FFF2-40B4-BE49-F238E27FC236}">
                <a16:creationId xmlns:a16="http://schemas.microsoft.com/office/drawing/2014/main" id="{D8DBCA44-F9A9-4EB1-B21B-1B853C4D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70307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External benchmarks differ materially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3FC151-9B04-4465-9185-33DBADB5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7343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Values are not directly equivalent; population, date, overlap treatment, and legal assumptions differ.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4B9A65-2F31-422C-8753-BB6FE5F6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F6B"/>
          </a:solidFill>
          <a:ln xmlns:a="http://schemas.openxmlformats.org/drawingml/2006/main" w="0">
            <a:solidFill>
              <a:srgbClr val="EC3F6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4228B9-26B5-4109-9481-153D65E5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2400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2A87"/>
                </a:solidFill>
              </a:defRPr>
            </a:pPr>
            <a:r>
              <a:rPr sz="1500" b="1">
                <a:solidFill>
                  <a:srgbClr val="3D2A87"/>
                </a:solidFill>
              </a:rPr>
              <a:t>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EC73F0-0D4F-4E24-816D-C9A8C556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57350"/>
            <a:ext cx="4495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2A87"/>
                </a:solidFill>
              </a:defRPr>
            </a:pPr>
            <a:r>
              <a:rPr sz="1500" b="1">
                <a:solidFill>
                  <a:srgbClr val="3D2A87"/>
                </a:solidFill>
              </a:rPr>
              <a:t>Population / area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1F7FF7-1780-4FDE-9884-9FF7879B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657350"/>
            <a:ext cx="2990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2A87"/>
                </a:solidFill>
              </a:defRPr>
            </a:pPr>
            <a:r>
              <a:rPr sz="1500" b="1">
                <a:solidFill>
                  <a:srgbClr val="3D2A87"/>
                </a:solidFill>
              </a:rPr>
              <a:t>RL deficit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293D1-7972-4C78-BE32-7B51A099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657350"/>
            <a:ext cx="3448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2A87"/>
                </a:solidFill>
              </a:defRPr>
            </a:pPr>
            <a:r>
              <a:rPr sz="1500" b="1">
                <a:solidFill>
                  <a:srgbClr val="3D2A87"/>
                </a:solidFill>
              </a:rPr>
              <a:t>APP metric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DA27AB-DC74-4497-9BCC-444C213B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1657350"/>
            <a:ext cx="2990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2A87"/>
                </a:solidFill>
              </a:defRPr>
            </a:pPr>
            <a:r>
              <a:rPr sz="1500" b="1">
                <a:solidFill>
                  <a:srgbClr val="3D2A87"/>
                </a:solidFill>
              </a:rPr>
              <a:t>Surplus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795635-C98B-48DF-A9A7-036ACEF1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24003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2A87"/>
                </a:solidFill>
              </a:defRPr>
            </a:pPr>
            <a:r>
              <a:rPr sz="1500" b="1">
                <a:solidFill>
                  <a:srgbClr val="3D2A87"/>
                </a:solidFill>
              </a:rPr>
              <a:t>Current project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42E75D-6DBB-46CF-BA57-2E33CDE2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514600"/>
            <a:ext cx="44958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155,547 properties · 69.55 Mha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F7324A-FA32-4DE6-B48E-51686F89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14600"/>
            <a:ext cx="29908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Modeled in total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D2F3A4-5713-4AD8-817D-850926BD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514600"/>
            <a:ext cx="34480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Included in 5.31 Mha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30B648-34A7-4A45-9D87-6B55FE81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2514600"/>
            <a:ext cx="29908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14.09 Mha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2E19F6-3CAF-4162-993E-CFF21C5A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24003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2A87"/>
                </a:solidFill>
              </a:defRPr>
            </a:pPr>
            <a:r>
              <a:rPr sz="1500" b="1">
                <a:solidFill>
                  <a:srgbClr val="3D2A87"/>
                </a:solidFill>
              </a:rPr>
              <a:t>OCF 2019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0E1623-9D9F-48D1-9542-92EB29C3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24300"/>
            <a:ext cx="44958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116,390 records · 64.50 Mha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B3E4AA-C8FE-4695-B8D7-04DE01CC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24300"/>
            <a:ext cx="29908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2.30 Mha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759CCB-6DD8-4710-8D23-07EB50C6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924300"/>
            <a:ext cx="34480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0.505 Mha deficit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7807B9-2FFA-4C49-AFCF-A62C75F7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3924300"/>
            <a:ext cx="29908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8.90 Mha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7083CB-22E6-4F74-9453-C0F7AF5A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53050"/>
            <a:ext cx="24003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2A87"/>
                </a:solidFill>
              </a:defRPr>
            </a:pPr>
            <a:r>
              <a:rPr sz="1500" b="1">
                <a:solidFill>
                  <a:srgbClr val="3D2A87"/>
                </a:solidFill>
              </a:rPr>
              <a:t>OCF 2024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7DE6BC-6A9E-4F56-864F-501B32C4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53050"/>
            <a:ext cx="44958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176,629 active/pending · 62.49 Mha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81AEE0-93B9-4F3F-992A-05AF077E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353050"/>
            <a:ext cx="29908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Included in 4.74 Mha total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6756E0-9874-40A3-BFA3-6ACA7C4F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5353050"/>
            <a:ext cx="34480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Included in 4.74 Mha total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02CD2A-E4C5-46FD-B395-2D70FDED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5353050"/>
            <a:ext cx="29908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D2A87"/>
                </a:solidFill>
              </a:defRPr>
            </a:pPr>
            <a:r>
              <a:rPr sz="1500" b="0">
                <a:solidFill>
                  <a:srgbClr val="3D2A87"/>
                </a:solidFill>
              </a:rPr>
              <a:t>5.54 Mha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EF7E7E-666C-490B-802D-CF283F63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70307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C3F6B"/>
                </a:solidFill>
              </a:defRPr>
            </a:pPr>
            <a:r>
              <a:rPr sz="1500" b="1">
                <a:solidFill>
                  <a:srgbClr val="EC3F6B"/>
                </a:solidFill>
              </a:rPr>
              <a:t>Project and OCF values use non-equivalent populations, dates, and legal denominators.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798BAE-1E68-437C-8E76-BFA7C390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Source: final GTA compliance mega table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DFAA91-1BF0-470D-8990-0E3E2EAE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2600" y="9525000"/>
            <a:ext cx="66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72"/>
                </a:solidFill>
              </a:defRPr>
            </a:pPr>
            <a:r>
              <a:rPr sz="1500" b="1">
                <a:solidFill>
                  <a:srgbClr val="147D72"/>
                </a:solidFill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225515113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5">
            <a:extLst xmlns:a="http://schemas.openxmlformats.org/drawingml/2006/main">
              <a:ext uri="{FF2B5EF4-FFF2-40B4-BE49-F238E27FC236}">
                <a16:creationId xmlns:a16="http://schemas.microsoft.com/office/drawing/2014/main" id="{EE1D9571-599F-434B-A775-3DD956B6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168021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Benchmark interpretation is conditional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37F316-3A31-4FEB-BD34-A7585483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71550"/>
            <a:ext cx="59436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External sources validate scale and distribution; they are not an equality test.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5513FB-B170-4AE3-8D20-9D102FBE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335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B5"/>
          </a:solidFill>
          <a:ln xmlns:a="http://schemas.openxmlformats.org/drawingml/2006/main" w="0">
            <a:solidFill>
              <a:srgbClr val="11B8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C188F4-BBF7-475E-8BD8-4DA71DDC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168021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D2A87"/>
                </a:solidFill>
              </a:defRPr>
            </a:pPr>
            <a:r>
              <a:rPr sz="1950" b="1">
                <a:solidFill>
                  <a:srgbClr val="3D2A87"/>
                </a:solidFill>
              </a:rPr>
              <a:t>1  Recompute APP partitions and the 2000–2008 chronology before publication.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BE756-5908-4BAD-BAE8-16FDAD73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168021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D72"/>
                </a:solidFill>
              </a:defRPr>
            </a:pPr>
            <a:r>
              <a:rPr sz="1950" b="1">
                <a:solidFill>
                  <a:srgbClr val="147D72"/>
                </a:solidFill>
              </a:rPr>
              <a:t>2  Harmonize CAR status, property type, overlap policy, and reference date.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43144E-1328-4F4D-A253-3236AC2A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168021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C3F6B"/>
                </a:solidFill>
              </a:defRPr>
            </a:pPr>
            <a:r>
              <a:rPr sz="1950" b="1">
                <a:solidFill>
                  <a:srgbClr val="EC3F6B"/>
                </a:solidFill>
              </a:rPr>
              <a:t>3  Compare RL deficit, APP gross deficit, required APP restoration, and surplus separately.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BE1F5A-41BE-438E-ADA7-BD49EF51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1680210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Sources: OCF Mato Grosso diagnostic (2019); OCF Forest Code Thermometer (2024); SFB/SICAR Rural Environmental Regularization Panel.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7046A1-21E6-4AF6-95F4-A97C9B99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16802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C3F6B"/>
                </a:solidFill>
              </a:defRPr>
            </a:pPr>
            <a:r>
              <a:rPr sz="1650" b="1">
                <a:solidFill>
                  <a:srgbClr val="EC3F6B"/>
                </a:solidFill>
              </a:rPr>
              <a:t>Status: final model run dated 06 October 2026; external benchmarks remain non-equivalent.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E46BAA-688A-409A-9A95-5324311D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48690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716C"/>
                </a:solidFill>
              </a:defRPr>
            </a:pPr>
            <a:r>
              <a:rPr sz="1500">
                <a:solidFill>
                  <a:srgbClr val="5D716C"/>
                </a:solidFill>
              </a:rPr>
              <a:t>Source: final GTA compliance mega table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85ADFA-B897-4F55-A64A-8DBDD5B2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8300" y="9486900"/>
            <a:ext cx="66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72"/>
                </a:solidFill>
              </a:defRPr>
            </a:pPr>
            <a:r>
              <a:rPr sz="1500" b="1">
                <a:solidFill>
                  <a:srgbClr val="147D72"/>
                </a:solidFill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9310307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2026-10-06T12:11:37.9540000Z</dcterms:created>
  <dcterms:modified xsi:type="dcterms:W3CDTF">2026-10-06T12:11:37.9540000Z</dcterms:modified>
</coreProperties>
</file>